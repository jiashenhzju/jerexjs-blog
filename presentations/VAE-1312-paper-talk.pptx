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7b5d6229264444" /><Relationship Type="http://schemas.openxmlformats.org/officeDocument/2006/relationships/extended-properties" Target="/docProps/app.xml" Id="Rdb07a9de1f034754" /><Relationship Type="http://schemas.openxmlformats.org/officeDocument/2006/relationships/officeDocument" Target="/ppt/presentation.xml" Id="R3def71f5a6504d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b8123bcc8d41d9"/>
  </p:sldMasterIdLst>
  <p:notesMasterIdLst>
    <p:notesMasterId xmlns:r="http://schemas.openxmlformats.org/officeDocument/2006/relationships" r:id="Rd3cdb0e27b81452e"/>
  </p:notesMasterIdLst>
  <p:sldIdLst>
    <p:sldId xmlns:r="http://schemas.openxmlformats.org/officeDocument/2006/relationships" id="256" r:id="Rd5b5759d9c2e4c10"/>
    <p:sldId xmlns:r="http://schemas.openxmlformats.org/officeDocument/2006/relationships" id="257" r:id="Rdb55d31f8c7f406d"/>
    <p:sldId xmlns:r="http://schemas.openxmlformats.org/officeDocument/2006/relationships" id="258" r:id="R06a6130d664a4df9"/>
    <p:sldId xmlns:r="http://schemas.openxmlformats.org/officeDocument/2006/relationships" id="259" r:id="Rf2b4f18e6e284a38"/>
    <p:sldId xmlns:r="http://schemas.openxmlformats.org/officeDocument/2006/relationships" id="260" r:id="Rd050d566894a4932"/>
    <p:sldId xmlns:r="http://schemas.openxmlformats.org/officeDocument/2006/relationships" id="261" r:id="Re77996aec6914f92"/>
    <p:sldId xmlns:r="http://schemas.openxmlformats.org/officeDocument/2006/relationships" id="262" r:id="R7b27526ec83049d2"/>
    <p:sldId xmlns:r="http://schemas.openxmlformats.org/officeDocument/2006/relationships" id="263" r:id="R1c5a82849bb54f31"/>
    <p:sldId xmlns:r="http://schemas.openxmlformats.org/officeDocument/2006/relationships" id="264" r:id="Rd2f03eac08db43e8"/>
    <p:sldId xmlns:r="http://schemas.openxmlformats.org/officeDocument/2006/relationships" id="265" r:id="R9bcf001e3237478c"/>
    <p:sldId xmlns:r="http://schemas.openxmlformats.org/officeDocument/2006/relationships" id="266" r:id="R7c14f43249f54ebc"/>
    <p:sldId xmlns:r="http://schemas.openxmlformats.org/officeDocument/2006/relationships" id="267" r:id="R3768bb2cb5854b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ecb88894654754" /><Relationship Type="http://schemas.openxmlformats.org/officeDocument/2006/relationships/slideMaster" Target="/ppt/slideMasters/slideMaster1.xml" Id="Ra1b8123bcc8d41d9" /><Relationship Type="http://schemas.openxmlformats.org/officeDocument/2006/relationships/notesMaster" Target="/ppt/notesMasters/notesMaster1.xml" Id="Rd3cdb0e27b81452e" /><Relationship Type="http://schemas.openxmlformats.org/officeDocument/2006/relationships/presProps" Target="/ppt/presProps.xml" Id="R3ed0c6e540924c02" /><Relationship Type="http://schemas.openxmlformats.org/officeDocument/2006/relationships/tableStyles" Target="/ppt/tableStyles.xml" Id="R02905caef0334f51" /><Relationship Type="http://schemas.openxmlformats.org/officeDocument/2006/relationships/slide" Target="/ppt/slides/slide1.xml" Id="Rd5b5759d9c2e4c10" /><Relationship Type="http://schemas.openxmlformats.org/officeDocument/2006/relationships/slide" Target="/ppt/slides/slide2.xml" Id="Rdb55d31f8c7f406d" /><Relationship Type="http://schemas.openxmlformats.org/officeDocument/2006/relationships/slide" Target="/ppt/slides/slide3.xml" Id="R06a6130d664a4df9" /><Relationship Type="http://schemas.openxmlformats.org/officeDocument/2006/relationships/slide" Target="/ppt/slides/slide4.xml" Id="Rf2b4f18e6e284a38" /><Relationship Type="http://schemas.openxmlformats.org/officeDocument/2006/relationships/slide" Target="/ppt/slides/slide5.xml" Id="Rd050d566894a4932" /><Relationship Type="http://schemas.openxmlformats.org/officeDocument/2006/relationships/slide" Target="/ppt/slides/slide6.xml" Id="Re77996aec6914f92" /><Relationship Type="http://schemas.openxmlformats.org/officeDocument/2006/relationships/slide" Target="/ppt/slides/slide7.xml" Id="R7b27526ec83049d2" /><Relationship Type="http://schemas.openxmlformats.org/officeDocument/2006/relationships/slide" Target="/ppt/slides/slide8.xml" Id="R1c5a82849bb54f31" /><Relationship Type="http://schemas.openxmlformats.org/officeDocument/2006/relationships/slide" Target="/ppt/slides/slide9.xml" Id="Rd2f03eac08db43e8" /><Relationship Type="http://schemas.openxmlformats.org/officeDocument/2006/relationships/slide" Target="/ppt/slides/slide10.xml" Id="R9bcf001e3237478c" /><Relationship Type="http://schemas.openxmlformats.org/officeDocument/2006/relationships/slide" Target="/ppt/slides/slide11.xml" Id="R7c14f43249f54ebc" /><Relationship Type="http://schemas.openxmlformats.org/officeDocument/2006/relationships/slide" Target="/ppt/slides/slide12.xml" Id="R3768bb2cb5854b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bbd6f095394b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169f9b4cd74ea5" /><Relationship Type="http://schemas.openxmlformats.org/officeDocument/2006/relationships/notesMaster" Target="/ppt/notesMasters/notesMaster1.xml" Id="R881b02cc04e24b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8b42618ed143d2" /><Relationship Type="http://schemas.openxmlformats.org/officeDocument/2006/relationships/notesMaster" Target="/ppt/notesMasters/notesMaster1.xml" Id="R73a4048c40344e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416a2829d84f43" /><Relationship Type="http://schemas.openxmlformats.org/officeDocument/2006/relationships/notesMaster" Target="/ppt/notesMasters/notesMaster1.xml" Id="R4d669c4369f04e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409320cdcd4ca8" /><Relationship Type="http://schemas.openxmlformats.org/officeDocument/2006/relationships/notesMaster" Target="/ppt/notesMasters/notesMaster1.xml" Id="R4590498565fd49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83229fb1424246" /><Relationship Type="http://schemas.openxmlformats.org/officeDocument/2006/relationships/notesMaster" Target="/ppt/notesMasters/notesMaster1.xml" Id="Rba7908ee6a774a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70835509da4b97" /><Relationship Type="http://schemas.openxmlformats.org/officeDocument/2006/relationships/notesMaster" Target="/ppt/notesMasters/notesMaster1.xml" Id="R20ef6738bc0b4e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876fc88e58419d" /><Relationship Type="http://schemas.openxmlformats.org/officeDocument/2006/relationships/notesMaster" Target="/ppt/notesMasters/notesMaster1.xml" Id="R4d04604e928847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a0d149e3aa4808" /><Relationship Type="http://schemas.openxmlformats.org/officeDocument/2006/relationships/notesMaster" Target="/ppt/notesMasters/notesMaster1.xml" Id="R7f7544db776c44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0dd53b56b54f3f" /><Relationship Type="http://schemas.openxmlformats.org/officeDocument/2006/relationships/notesMaster" Target="/ppt/notesMasters/notesMaster1.xml" Id="R8589475c3f4f45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ac887934004f75" /><Relationship Type="http://schemas.openxmlformats.org/officeDocument/2006/relationships/notesMaster" Target="/ppt/notesMasters/notesMaster1.xml" Id="Rf2d13fe49e3646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3ab3e3ca61444b" /><Relationship Type="http://schemas.openxmlformats.org/officeDocument/2006/relationships/notesMaster" Target="/ppt/notesMasters/notesMaster1.xml" Id="Rf8543373a2c341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086bba3baa4375" /><Relationship Type="http://schemas.openxmlformats.org/officeDocument/2006/relationships/notesMaster" Target="/ppt/notesMasters/notesMaster1.xml" Id="R115a18f10e36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separating the durable estimator and amortization contribution from the later architectural shorthand.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p. 1, title and abstract,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 regime combines intractable integrals, large datasets, and nonlinear likelihoods. A useful solution must support minibatches and avoid local iterative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p. 2, §2.1,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Eq. (1) is a diagnostic decomposition; Eq. (3) gives the familiar prior-match plus reconstruction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p. 3, Eq. (1)-(3),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Randomness is isolated in exogenous noise. Once epsilon is fixed, the sample path is differentiable in the variational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pp. 3-5, Eq. (4)-(5) and §2.4,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When the KL is analytic, only reconstruction is sampled. The experiments use one latent sample per datapoint and rely on minibatch averaging.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pp. 3-4, Eq. (6)-(8) and Algorithm 1,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dashed recognition edge is the amortization mechanism: local variational parameters become outputs of a shared network.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p. 2, Figure 1, accessed 2026-08-22</a:t>
            </a:r>
          </a:p>
          <a:p xmlns:a="http://schemas.openxmlformats.org/drawingml/2006/main">
            <a:r>
              <a:t>- /Users/xnnxax/projects/jerexjs-blog/local-papers/VAE-1312.pdf, p. 3, §2.2,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diagonal Gaussian posterior and simple MLPs are simplifying choices. They produce the canonical VAE objective but are not the full contribution.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p. 5, §3 and Eq. (9)-(10),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Across several latent dimensions, AEVB rises faster and finishes above Wake-Sleep. The evidence is consistent, small-scale, and lacks uncertainty bands.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p. 7, Figure 2 and §5,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AEVB converges fastest for both training-set sizes. Appendix D explicitly limits the estimator to low-dimensional sampled spaces.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p. 8, Figure 3, accessed 2026-08-22</a:t>
            </a:r>
          </a:p>
          <a:p xmlns:a="http://schemas.openxmlformats.org/drawingml/2006/main">
            <a:r>
              <a:t>- /Users/xnnxax/projects/jerexjs-blog/local-papers/VAE-1312.pdf, pp. 11-12, Appendix D-E,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appendix visualizations make interpolation tangible. They do not establish independent semantic factors or harder-data representation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p. 10, Figure 4 and Appendix A,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derivation is general within the reparameterizable continuous setting; the empirical evidence is deliberately narrow.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p. 8, §6-7, accessed 2026-08-22</a:t>
            </a:r>
          </a:p>
          <a:p xmlns:a="http://schemas.openxmlformats.org/drawingml/2006/main">
            <a:r>
              <a:t>- /Users/xnnxax/projects/jerexjs-blog/local-papers/VAE-1312.pdf, pp. 10-14, Appendices B-F,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Modern variants mostly change the posterior, likelihood, prior, or estimator while preserving this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/Users/xnnxax/projects/jerexjs-blog/local-papers/VAE-1312.pdf, p. 1, abstract, accessed 2026-08-22</a:t>
            </a:r>
          </a:p>
          <a:p xmlns:a="http://schemas.openxmlformats.org/drawingml/2006/main">
            <a:r>
              <a:t>- /Users/xnnxax/projects/jerexjs-blog/local-papers/VAE-1312.pdf, p. 3, Eq. (1)-(3), accessed 2026-08-22</a:t>
            </a:r>
          </a:p>
          <a:p xmlns:a="http://schemas.openxmlformats.org/drawingml/2006/main">
            <a:r>
              <a:t>- /Users/xnnxax/projects/jerexjs-blog/local-papers/VAE-1312.pdf, p. 8, §6,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a2067caf94a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acb863cf7345c2" /><Relationship Type="http://schemas.openxmlformats.org/officeDocument/2006/relationships/slideLayout" Target="/ppt/slideLayouts/slideLayout1.xml" Id="R711db6372deb44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db6372deb44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ec121fa4a4f41" /><Relationship Type="http://schemas.openxmlformats.org/officeDocument/2006/relationships/notesSlide" Target="/ppt/notesSlides/notesSlide1.xml" Id="Rb7ffd83896ef47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cf2b730cc4e11" /><Relationship Type="http://schemas.openxmlformats.org/officeDocument/2006/relationships/notesSlide" Target="/ppt/notesSlides/notesSlide2.xml" Id="Rf12c060c3cea46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35acf2dd14d52" /><Relationship Type="http://schemas.openxmlformats.org/officeDocument/2006/relationships/notesSlide" Target="/ppt/notesSlides/notesSlide3.xml" Id="R781c5f9120394f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cbbce0f014bc7" /><Relationship Type="http://schemas.openxmlformats.org/officeDocument/2006/relationships/notesSlide" Target="/ppt/notesSlides/notesSlide4.xml" Id="R2b7255fcb26b47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aeea02aec455d" /><Relationship Type="http://schemas.openxmlformats.org/officeDocument/2006/relationships/notesSlide" Target="/ppt/notesSlides/notesSlide5.xml" Id="Rb82f568f611844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6eae38abc4a88" /><Relationship Type="http://schemas.openxmlformats.org/officeDocument/2006/relationships/image" Target="/ppt/media/image.png" Id="Ra34456e6555f4e2d" /><Relationship Type="http://schemas.openxmlformats.org/officeDocument/2006/relationships/notesSlide" Target="/ppt/notesSlides/notesSlide6.xml" Id="Rba16b79e0de84a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2539eb3ca40f5" /><Relationship Type="http://schemas.openxmlformats.org/officeDocument/2006/relationships/notesSlide" Target="/ppt/notesSlides/notesSlide7.xml" Id="Rf3aafe682a884a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536ed05fd4ceb" /><Relationship Type="http://schemas.openxmlformats.org/officeDocument/2006/relationships/image" Target="/ppt/media/image2.png" Id="R699daa8477d8441a" /><Relationship Type="http://schemas.openxmlformats.org/officeDocument/2006/relationships/notesSlide" Target="/ppt/notesSlides/notesSlide8.xml" Id="R91d04c3a097142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2d3d77a604498" /><Relationship Type="http://schemas.openxmlformats.org/officeDocument/2006/relationships/image" Target="/ppt/media/image3.png" Id="R52c60e2730de45fa" /><Relationship Type="http://schemas.openxmlformats.org/officeDocument/2006/relationships/notesSlide" Target="/ppt/notesSlides/notesSlide9.xml" Id="R78856810f7e944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d536d264e4aeb" /><Relationship Type="http://schemas.openxmlformats.org/officeDocument/2006/relationships/image" Target="/ppt/media/image4.png" Id="R273cd0addfd3402f" /><Relationship Type="http://schemas.openxmlformats.org/officeDocument/2006/relationships/notesSlide" Target="/ppt/notesSlides/notesSlide10.xml" Id="Rf9b3ade639e745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dd56dded74d0a" /><Relationship Type="http://schemas.openxmlformats.org/officeDocument/2006/relationships/notesSlide" Target="/ppt/notesSlides/notesSlide11.xml" Id="R2fac8960b34549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c3d0d670848ef" /><Relationship Type="http://schemas.openxmlformats.org/officeDocument/2006/relationships/notesSlide" Target="/ppt/notesSlides/notesSlide12.xml" Id="Re482bb2930af41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CC96C92C-E17A-418E-9364-F89988E2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PAPER TALK · VARIATIONAL INFERENCE · 2013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6FDBB50-40F6-446E-BB0A-11BCA8B0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550" b="1" i="0">
                <a:solidFill>
                  <a:srgbClr val="171717"/>
                </a:solidFill>
              </a:defRPr>
            </a:pPr>
            <a:r>
              <a:rPr sz="5550" b="1" i="0">
                <a:solidFill>
                  <a:srgbClr val="171717"/>
                </a:solidFill>
              </a:rPr>
              <a:t>Auto-Encoding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B91C711-5AF5-4E71-B2BF-9B36138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550" b="1" i="0">
                <a:solidFill>
                  <a:srgbClr val="315EFB"/>
                </a:solidFill>
              </a:defRPr>
            </a:pPr>
            <a:r>
              <a:rPr sz="5550" b="1" i="0">
                <a:solidFill>
                  <a:srgbClr val="315EFB"/>
                </a:solidFill>
              </a:rPr>
              <a:t>Variational Bayes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9E340B82-4A37-45D6-845C-21E6A6C5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D547437-26BC-479D-9596-D4125B3A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962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7"/>
                </a:solidFill>
              </a:defRPr>
            </a:pPr>
            <a:r>
              <a:rPr sz="2400" b="1" i="0">
                <a:solidFill>
                  <a:srgbClr val="171717"/>
                </a:solidFill>
              </a:rPr>
              <a:t>VAE is an inference algorithm before it is an architecture.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564489C-4BF7-47D4-9180-09032A1D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6F716E"/>
                </a:solidFill>
              </a:defRPr>
            </a:pPr>
            <a:r>
              <a:rPr sz="1875" b="0" i="0">
                <a:solidFill>
                  <a:srgbClr val="6F716E"/>
                </a:solidFill>
              </a:rPr>
              <a:t>Reparameterized gradients make the ELBO trainable;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6F716E"/>
                </a:solidFill>
              </a:defRPr>
            </a:pPr>
            <a:r>
              <a:rPr sz="1875" b="0" i="0">
                <a:solidFill>
                  <a:srgbClr val="6F716E"/>
                </a:solidFill>
              </a:rPr>
              <a:t>amortization makes posterior inference scalable.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716F607B-099C-42AC-B19A-E88D84E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F716E"/>
                </a:solidFill>
              </a:defRPr>
            </a:pPr>
            <a:r>
              <a:rPr sz="1350" b="0" i="0">
                <a:solidFill>
                  <a:srgbClr val="6F716E"/>
                </a:solidFill>
              </a:rPr>
              <a:t>Diederik P. Kingma · Max Welling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6143CAEE-263E-47C1-9668-56DA2E06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arXiv:1312.6114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34DECE79-3A16-4A0A-9214-021B0AB9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15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6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0">
            <a:extLst xmlns:a="http://schemas.openxmlformats.org/drawingml/2006/main">
              <a:ext uri="{FF2B5EF4-FFF2-40B4-BE49-F238E27FC236}">
                <a16:creationId xmlns:a16="http://schemas.microsoft.com/office/drawing/2014/main" id="{F24F8201-B1AC-4061-BBE0-E7ED8CC7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PROBLEM</a:t>
            </a:r>
          </a:p>
        </p:txBody>
      </p:sp>
      <p:sp>
        <p:nvSpPr>
          <p:cNvPr id="2" name="shape-11">
            <a:extLst xmlns:a="http://schemas.openxmlformats.org/drawingml/2006/main">
              <a:ext uri="{FF2B5EF4-FFF2-40B4-BE49-F238E27FC236}">
                <a16:creationId xmlns:a16="http://schemas.microsoft.com/office/drawing/2014/main" id="{007F4611-AF65-4366-8A6D-2669652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2">
            <a:extLst xmlns:a="http://schemas.openxmlformats.org/drawingml/2006/main">
              <a:ext uri="{FF2B5EF4-FFF2-40B4-BE49-F238E27FC236}">
                <a16:creationId xmlns:a16="http://schemas.microsoft.com/office/drawing/2014/main" id="{D9099DEE-3CA9-48AB-9082-400590F1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§2.1 · p. 2</a:t>
            </a:r>
          </a:p>
        </p:txBody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6ECB9487-9ECE-46FE-9260-7F049D6C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02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69210019-28E9-4164-AE1A-64CF1195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Latent-variable learning breaks at the posterior</a:t>
            </a:r>
          </a:p>
        </p:txBody>
      </p:sp>
      <p:sp>
        <p:nvSpPr>
          <p:cNvPr id="6" name="text-15">
            <a:extLst xmlns:a="http://schemas.openxmlformats.org/drawingml/2006/main">
              <a:ext uri="{FF2B5EF4-FFF2-40B4-BE49-F238E27FC236}">
                <a16:creationId xmlns:a16="http://schemas.microsoft.com/office/drawing/2014/main" id="{7392555B-826D-48C0-A9D3-D1881E2C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MARGINAL LIKELIHOOD</a:t>
            </a:r>
          </a:p>
        </p:txBody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BB8758B1-A7E8-41B7-8348-CD109E96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pθ(x) = ∫ pθ(z)pθ(x|z) dz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BEECB6C9-D1DB-41CA-885B-A7BF0027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F716E"/>
                </a:solidFill>
              </a:defRPr>
            </a:pPr>
            <a:r>
              <a:rPr sz="1650" b="0" i="0">
                <a:solidFill>
                  <a:srgbClr val="6F716E"/>
                </a:solidFill>
              </a:rPr>
              <a:t>Often intractable to evaluate or differentiate.</a:t>
            </a:r>
          </a:p>
        </p:txBody>
      </p:sp>
      <p:sp>
        <p:nvSpPr>
          <p:cNvPr id="9" name="text-18">
            <a:extLst xmlns:a="http://schemas.openxmlformats.org/drawingml/2006/main">
              <a:ext uri="{FF2B5EF4-FFF2-40B4-BE49-F238E27FC236}">
                <a16:creationId xmlns:a16="http://schemas.microsoft.com/office/drawing/2014/main" id="{E43BB64E-97AB-4F34-A2ED-3E83D55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A1493F"/>
                </a:solidFill>
              </a:defRPr>
            </a:pPr>
            <a:r>
              <a:rPr sz="1200" b="1" i="0">
                <a:solidFill>
                  <a:srgbClr val="A1493F"/>
                </a:solidFill>
              </a:rPr>
              <a:t>TRUE POSTERIOR</a:t>
            </a:r>
          </a:p>
        </p:txBody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1BB53D50-6E50-48FF-AC0A-83A623A0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pθ(z|x) = pθ(x|z)pθ(z) / pθ(x)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34CFF62B-B9D5-42A3-BF78-DD4B89F2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F716E"/>
                </a:solidFill>
              </a:defRPr>
            </a:pPr>
            <a:r>
              <a:rPr sz="1650" b="0" i="0">
                <a:solidFill>
                  <a:srgbClr val="6F716E"/>
                </a:solidFill>
              </a:rPr>
              <a:t>Unavailable when the denominator is unavailable.</a:t>
            </a:r>
          </a:p>
        </p:txBody>
      </p:sp>
      <p:sp>
        <p:nvSpPr>
          <p:cNvPr id="12" name="shape-21">
            <a:extLst xmlns:a="http://schemas.openxmlformats.org/drawingml/2006/main">
              <a:ext uri="{FF2B5EF4-FFF2-40B4-BE49-F238E27FC236}">
                <a16:creationId xmlns:a16="http://schemas.microsoft.com/office/drawing/2014/main" id="{AB15C064-E3A9-4682-8745-AD2197F3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9CCB5DB3-5C5A-4D99-ACFD-D06AAAC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1" i="0">
                <a:solidFill>
                  <a:srgbClr val="315EFB"/>
                </a:solidFill>
              </a:defRPr>
            </a:pPr>
            <a:r>
              <a:rPr sz="3750" b="1" i="0">
                <a:solidFill>
                  <a:srgbClr val="315EFB"/>
                </a:solidFill>
              </a:rPr>
              <a:t>N ≫ 1</a:t>
            </a:r>
          </a:p>
        </p:txBody>
      </p:sp>
      <p:sp>
        <p:nvSpPr>
          <p:cNvPr id="14" name="text-23">
            <a:extLst xmlns:a="http://schemas.openxmlformats.org/drawingml/2006/main">
              <a:ext uri="{FF2B5EF4-FFF2-40B4-BE49-F238E27FC236}">
                <a16:creationId xmlns:a16="http://schemas.microsoft.com/office/drawing/2014/main" id="{14931457-3A44-4598-A6FA-757BB03E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batch optimization is too costly</a:t>
            </a:r>
          </a:p>
        </p:txBody>
      </p:sp>
      <p:sp>
        <p:nvSpPr>
          <p:cNvPr id="15" name="text-24">
            <a:extLst xmlns:a="http://schemas.openxmlformats.org/drawingml/2006/main">
              <a:ext uri="{FF2B5EF4-FFF2-40B4-BE49-F238E27FC236}">
                <a16:creationId xmlns:a16="http://schemas.microsoft.com/office/drawing/2014/main" id="{455668BA-C716-49A7-905E-B136A8E0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1" i="0">
                <a:solidFill>
                  <a:srgbClr val="A1493F"/>
                </a:solidFill>
              </a:defRPr>
            </a:pPr>
            <a:r>
              <a:rPr sz="3750" b="1" i="0">
                <a:solidFill>
                  <a:srgbClr val="A1493F"/>
                </a:solidFill>
              </a:rPr>
              <a:t>per x</a:t>
            </a:r>
          </a:p>
        </p:txBody>
      </p:sp>
      <p:sp>
        <p:nvSpPr>
          <p:cNvPr id="16" name="text-25">
            <a:extLst xmlns:a="http://schemas.openxmlformats.org/drawingml/2006/main">
              <a:ext uri="{FF2B5EF4-FFF2-40B4-BE49-F238E27FC236}">
                <a16:creationId xmlns:a16="http://schemas.microsoft.com/office/drawing/2014/main" id="{4962F0B7-9588-421E-A84D-1F7CBD2F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MCMC / iterative VI is too slow</a:t>
            </a:r>
          </a:p>
        </p:txBody>
      </p:sp>
      <p:sp>
        <p:nvSpPr>
          <p:cNvPr id="17" name="text-26">
            <a:extLst xmlns:a="http://schemas.openxmlformats.org/drawingml/2006/main">
              <a:ext uri="{FF2B5EF4-FFF2-40B4-BE49-F238E27FC236}">
                <a16:creationId xmlns:a16="http://schemas.microsoft.com/office/drawing/2014/main" id="{AC98A293-AE5E-4562-90BB-E7574325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005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9A642A"/>
                </a:solidFill>
              </a:defRPr>
            </a:pPr>
            <a:r>
              <a:rPr sz="3150" b="1" i="0">
                <a:solidFill>
                  <a:srgbClr val="9A642A"/>
                </a:solidFill>
              </a:rPr>
              <a:t>nonlinear</a:t>
            </a:r>
          </a:p>
        </p:txBody>
      </p:sp>
      <p:sp>
        <p:nvSpPr>
          <p:cNvPr id="18" name="text-27">
            <a:extLst xmlns:a="http://schemas.openxmlformats.org/drawingml/2006/main">
              <a:ext uri="{FF2B5EF4-FFF2-40B4-BE49-F238E27FC236}">
                <a16:creationId xmlns:a16="http://schemas.microsoft.com/office/drawing/2014/main" id="{45B6558B-C4AF-49BA-A960-F4C36342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054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mean-field expectations may also be intractable</a:t>
            </a:r>
          </a:p>
        </p:txBody>
      </p:sp>
    </p:spTree>
    <p:extLst>
      <p:ext uri="{BB962C8B-B14F-4D97-AF65-F5344CB8AC3E}">
        <p14:creationId xmlns:p14="http://schemas.microsoft.com/office/powerpoint/2010/main" val="288648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28">
            <a:extLst xmlns:a="http://schemas.openxmlformats.org/drawingml/2006/main">
              <a:ext uri="{FF2B5EF4-FFF2-40B4-BE49-F238E27FC236}">
                <a16:creationId xmlns:a16="http://schemas.microsoft.com/office/drawing/2014/main" id="{752B1B69-4116-47B7-B0E9-15C86AAE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OBJECTIVE</a:t>
            </a:r>
          </a:p>
        </p:txBody>
      </p:sp>
      <p:sp>
        <p:nvSpPr>
          <p:cNvPr id="2" name="shape-29">
            <a:extLst xmlns:a="http://schemas.openxmlformats.org/drawingml/2006/main">
              <a:ext uri="{FF2B5EF4-FFF2-40B4-BE49-F238E27FC236}">
                <a16:creationId xmlns:a16="http://schemas.microsoft.com/office/drawing/2014/main" id="{3C137BFD-DF4B-49C5-8459-054AB141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0">
            <a:extLst xmlns:a="http://schemas.openxmlformats.org/drawingml/2006/main">
              <a:ext uri="{FF2B5EF4-FFF2-40B4-BE49-F238E27FC236}">
                <a16:creationId xmlns:a16="http://schemas.microsoft.com/office/drawing/2014/main" id="{D30D8432-A20B-49EA-8133-417E5750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Eq. (1)-(3) · p. 3</a:t>
            </a:r>
          </a:p>
        </p:txBody>
      </p:sp>
      <p:sp>
        <p:nvSpPr>
          <p:cNvPr id="4" name="text-31">
            <a:extLst xmlns:a="http://schemas.openxmlformats.org/drawingml/2006/main">
              <a:ext uri="{FF2B5EF4-FFF2-40B4-BE49-F238E27FC236}">
                <a16:creationId xmlns:a16="http://schemas.microsoft.com/office/drawing/2014/main" id="{955A3395-06C5-4C7F-BD50-DE2C3A83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03</a:t>
            </a:r>
          </a:p>
        </p:txBody>
      </p:sp>
      <p:sp>
        <p:nvSpPr>
          <p:cNvPr id="5" name="text-32">
            <a:extLst xmlns:a="http://schemas.openxmlformats.org/drawingml/2006/main">
              <a:ext uri="{FF2B5EF4-FFF2-40B4-BE49-F238E27FC236}">
                <a16:creationId xmlns:a16="http://schemas.microsoft.com/office/drawing/2014/main" id="{0ADA8925-B39B-4ED2-A043-58A42373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The ELBO separates fit from posterior mismatch</a:t>
            </a:r>
          </a:p>
        </p:txBody>
      </p:sp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DBA783D8-A43E-496F-853A-B80A690B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00" b="1" i="0">
                <a:solidFill>
                  <a:srgbClr val="171717"/>
                </a:solidFill>
              </a:defRPr>
            </a:pPr>
            <a:r>
              <a:rPr sz="3900" b="1" i="0">
                <a:solidFill>
                  <a:srgbClr val="171717"/>
                </a:solidFill>
              </a:rPr>
              <a:t>log pθ(x)</a:t>
            </a:r>
          </a:p>
        </p:txBody>
      </p:sp>
      <p:sp>
        <p:nvSpPr>
          <p:cNvPr id="7" name="text-34">
            <a:extLst xmlns:a="http://schemas.openxmlformats.org/drawingml/2006/main">
              <a:ext uri="{FF2B5EF4-FFF2-40B4-BE49-F238E27FC236}">
                <a16:creationId xmlns:a16="http://schemas.microsoft.com/office/drawing/2014/main" id="{4D5BC7E6-9802-40E9-B550-8A59EC55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00" b="1" i="0">
                <a:solidFill>
                  <a:srgbClr val="6F716E"/>
                </a:solidFill>
              </a:defRPr>
            </a:pPr>
            <a:r>
              <a:rPr sz="3300" b="1" i="0">
                <a:solidFill>
                  <a:srgbClr val="6F716E"/>
                </a:solidFill>
              </a:rPr>
              <a:t>=</a:t>
            </a:r>
          </a:p>
        </p:txBody>
      </p:sp>
      <p:sp>
        <p:nvSpPr>
          <p:cNvPr id="8" name="shape-35">
            <a:extLst xmlns:a="http://schemas.openxmlformats.org/drawingml/2006/main">
              <a:ext uri="{FF2B5EF4-FFF2-40B4-BE49-F238E27FC236}">
                <a16:creationId xmlns:a16="http://schemas.microsoft.com/office/drawing/2014/main" id="{C5CA33DB-36ED-4471-A498-C5CA023E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238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36">
            <a:extLst xmlns:a="http://schemas.openxmlformats.org/drawingml/2006/main">
              <a:ext uri="{FF2B5EF4-FFF2-40B4-BE49-F238E27FC236}">
                <a16:creationId xmlns:a16="http://schemas.microsoft.com/office/drawing/2014/main" id="{AC3AA97F-C26F-40E6-B497-25B6D2B5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315EFB"/>
                </a:solidFill>
              </a:defRPr>
            </a:pPr>
            <a:r>
              <a:rPr sz="2325" b="1" i="0">
                <a:solidFill>
                  <a:srgbClr val="315EFB"/>
                </a:solidFill>
              </a:rPr>
              <a:t>ELBO  𝓛(θ, φ; x)</a:t>
            </a:r>
          </a:p>
        </p:txBody>
      </p:sp>
      <p:sp>
        <p:nvSpPr>
          <p:cNvPr id="10" name="text-37">
            <a:extLst xmlns:a="http://schemas.openxmlformats.org/drawingml/2006/main">
              <a:ext uri="{FF2B5EF4-FFF2-40B4-BE49-F238E27FC236}">
                <a16:creationId xmlns:a16="http://schemas.microsoft.com/office/drawing/2014/main" id="{62EE6C88-02FB-4025-987F-37386549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315EFB"/>
                </a:solidFill>
              </a:defRPr>
            </a:pPr>
            <a:r>
              <a:rPr sz="1275" b="0" i="0">
                <a:solidFill>
                  <a:srgbClr val="315EFB"/>
                </a:solidFill>
              </a:rPr>
              <a:t>what we can optimize</a:t>
            </a:r>
          </a:p>
        </p:txBody>
      </p:sp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C03CA8E8-3EA6-4D79-A767-2673AB6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00" b="1" i="0">
                <a:solidFill>
                  <a:srgbClr val="6F716E"/>
                </a:solidFill>
              </a:defRPr>
            </a:pPr>
            <a:r>
              <a:rPr sz="3300" b="1" i="0">
                <a:solidFill>
                  <a:srgbClr val="6F716E"/>
                </a:solidFill>
              </a:rPr>
              <a:t>+</a:t>
            </a:r>
          </a:p>
        </p:txBody>
      </p:sp>
      <p:sp>
        <p:nvSpPr>
          <p:cNvPr id="12" name="shape-39">
            <a:extLst xmlns:a="http://schemas.openxmlformats.org/drawingml/2006/main">
              <a:ext uri="{FF2B5EF4-FFF2-40B4-BE49-F238E27FC236}">
                <a16:creationId xmlns:a16="http://schemas.microsoft.com/office/drawing/2014/main" id="{976704C8-2323-44B5-AB21-73A689BF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3048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0">
            <a:extLst xmlns:a="http://schemas.openxmlformats.org/drawingml/2006/main">
              <a:ext uri="{FF2B5EF4-FFF2-40B4-BE49-F238E27FC236}">
                <a16:creationId xmlns:a16="http://schemas.microsoft.com/office/drawing/2014/main" id="{C740A973-02FE-4342-BA42-C32F852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52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A1493F"/>
                </a:solidFill>
              </a:defRPr>
            </a:pPr>
            <a:r>
              <a:rPr sz="2325" b="1" i="0">
                <a:solidFill>
                  <a:srgbClr val="A1493F"/>
                </a:solidFill>
              </a:rPr>
              <a:t>KL(qφ || pθ)</a:t>
            </a:r>
          </a:p>
        </p:txBody>
      </p:sp>
      <p:sp>
        <p:nvSpPr>
          <p:cNvPr id="14" name="text-41">
            <a:extLst xmlns:a="http://schemas.openxmlformats.org/drawingml/2006/main">
              <a:ext uri="{FF2B5EF4-FFF2-40B4-BE49-F238E27FC236}">
                <a16:creationId xmlns:a16="http://schemas.microsoft.com/office/drawing/2014/main" id="{23D5E8B7-8EF0-4418-9416-7AB6DBBB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A1493F"/>
                </a:solidFill>
              </a:defRPr>
            </a:pPr>
            <a:r>
              <a:rPr sz="1275" b="0" i="0">
                <a:solidFill>
                  <a:srgbClr val="A1493F"/>
                </a:solidFill>
              </a:rPr>
              <a:t>posterior approximation gap</a:t>
            </a:r>
          </a:p>
        </p:txBody>
      </p:sp>
      <p:sp>
        <p:nvSpPr>
          <p:cNvPr id="15" name="text-42">
            <a:extLst xmlns:a="http://schemas.openxmlformats.org/drawingml/2006/main">
              <a:ext uri="{FF2B5EF4-FFF2-40B4-BE49-F238E27FC236}">
                <a16:creationId xmlns:a16="http://schemas.microsoft.com/office/drawing/2014/main" id="{CC6C2BEA-A05C-4EAB-94ED-E63C1CCA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7B69"/>
                </a:solidFill>
              </a:defRPr>
            </a:pPr>
            <a:r>
              <a:rPr sz="1200" b="1" i="0">
                <a:solidFill>
                  <a:srgbClr val="257B69"/>
                </a:solidFill>
              </a:rPr>
              <a:t>TRAINING VIEW</a:t>
            </a:r>
          </a:p>
        </p:txBody>
      </p:sp>
      <p:sp>
        <p:nvSpPr>
          <p:cNvPr id="16" name="shape-43">
            <a:extLst xmlns:a="http://schemas.openxmlformats.org/drawingml/2006/main">
              <a:ext uri="{FF2B5EF4-FFF2-40B4-BE49-F238E27FC236}">
                <a16:creationId xmlns:a16="http://schemas.microsoft.com/office/drawing/2014/main" id="{CED1B1A9-6537-4FF1-AA18-25C700FB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44">
            <a:extLst xmlns:a="http://schemas.openxmlformats.org/drawingml/2006/main">
              <a:ext uri="{FF2B5EF4-FFF2-40B4-BE49-F238E27FC236}">
                <a16:creationId xmlns:a16="http://schemas.microsoft.com/office/drawing/2014/main" id="{1FEDA2AF-75B7-432A-8E48-97FB1C03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4248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171717"/>
                </a:solidFill>
              </a:defRPr>
            </a:pPr>
            <a:r>
              <a:rPr sz="2175" b="1" i="0">
                <a:solidFill>
                  <a:srgbClr val="171717"/>
                </a:solidFill>
              </a:rPr>
              <a:t>− KL(qφ(z|x) || p(z))</a:t>
            </a:r>
          </a:p>
        </p:txBody>
      </p:sp>
      <p:sp>
        <p:nvSpPr>
          <p:cNvPr id="18" name="text-45">
            <a:extLst xmlns:a="http://schemas.openxmlformats.org/drawingml/2006/main">
              <a:ext uri="{FF2B5EF4-FFF2-40B4-BE49-F238E27FC236}">
                <a16:creationId xmlns:a16="http://schemas.microsoft.com/office/drawing/2014/main" id="{DF5979E1-46D5-4D6C-8D04-6AECE09E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regularize the approximate posterior</a:t>
            </a:r>
          </a:p>
        </p:txBody>
      </p:sp>
      <p:sp>
        <p:nvSpPr>
          <p:cNvPr id="19" name="text-46">
            <a:extLst xmlns:a="http://schemas.openxmlformats.org/drawingml/2006/main">
              <a:ext uri="{FF2B5EF4-FFF2-40B4-BE49-F238E27FC236}">
                <a16:creationId xmlns:a16="http://schemas.microsoft.com/office/drawing/2014/main" id="{D9AB58A3-663D-4CD8-8241-406D9E7C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6F716E"/>
                </a:solidFill>
              </a:defRPr>
            </a:pPr>
            <a:r>
              <a:rPr sz="3150" b="1" i="0">
                <a:solidFill>
                  <a:srgbClr val="6F716E"/>
                </a:solidFill>
              </a:rPr>
              <a:t>+</a:t>
            </a:r>
          </a:p>
        </p:txBody>
      </p:sp>
      <p:sp>
        <p:nvSpPr>
          <p:cNvPr id="20" name="shape-47">
            <a:extLst xmlns:a="http://schemas.openxmlformats.org/drawingml/2006/main">
              <a:ext uri="{FF2B5EF4-FFF2-40B4-BE49-F238E27FC236}">
                <a16:creationId xmlns:a16="http://schemas.microsoft.com/office/drawing/2014/main" id="{20786A3B-3749-4786-8EF0-BB182A07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48">
            <a:extLst xmlns:a="http://schemas.openxmlformats.org/drawingml/2006/main">
              <a:ext uri="{FF2B5EF4-FFF2-40B4-BE49-F238E27FC236}">
                <a16:creationId xmlns:a16="http://schemas.microsoft.com/office/drawing/2014/main" id="{2F188C92-2B51-4FC4-B1C8-5EF9512A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248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171717"/>
                </a:solidFill>
              </a:defRPr>
            </a:pPr>
            <a:r>
              <a:rPr sz="2175" b="1" i="0">
                <a:solidFill>
                  <a:srgbClr val="171717"/>
                </a:solidFill>
              </a:rPr>
              <a:t>Eqφ [ log pθ(x|z) ]</a:t>
            </a:r>
          </a:p>
        </p:txBody>
      </p:sp>
      <p:sp>
        <p:nvSpPr>
          <p:cNvPr id="22" name="text-49">
            <a:extLst xmlns:a="http://schemas.openxmlformats.org/drawingml/2006/main">
              <a:ext uri="{FF2B5EF4-FFF2-40B4-BE49-F238E27FC236}">
                <a16:creationId xmlns:a16="http://schemas.microsoft.com/office/drawing/2014/main" id="{4F6A07FA-C4C8-413F-A255-C451FC6A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expected reconstruction log-likelihood</a:t>
            </a:r>
          </a:p>
        </p:txBody>
      </p:sp>
      <p:sp>
        <p:nvSpPr>
          <p:cNvPr id="23" name="text-50">
            <a:extLst xmlns:a="http://schemas.openxmlformats.org/drawingml/2006/main">
              <a:ext uri="{FF2B5EF4-FFF2-40B4-BE49-F238E27FC236}">
                <a16:creationId xmlns:a16="http://schemas.microsoft.com/office/drawing/2014/main" id="{CB7B6DC7-BCAF-4089-BD95-5558D0FA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95950"/>
            <a:ext cx="891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The objective is clear. Its gradient with respect to φ is still the hard part.</a:t>
            </a:r>
          </a:p>
        </p:txBody>
      </p:sp>
    </p:spTree>
    <p:extLst>
      <p:ext uri="{BB962C8B-B14F-4D97-AF65-F5344CB8AC3E}">
        <p14:creationId xmlns:p14="http://schemas.microsoft.com/office/powerpoint/2010/main" val="1835006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51">
            <a:extLst xmlns:a="http://schemas.openxmlformats.org/drawingml/2006/main">
              <a:ext uri="{FF2B5EF4-FFF2-40B4-BE49-F238E27FC236}">
                <a16:creationId xmlns:a16="http://schemas.microsoft.com/office/drawing/2014/main" id="{D635F4E0-6B88-41F4-81D0-3DF86145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CORE INSIGHT</a:t>
            </a:r>
          </a:p>
        </p:txBody>
      </p:sp>
      <p:sp>
        <p:nvSpPr>
          <p:cNvPr id="2" name="shape-52">
            <a:extLst xmlns:a="http://schemas.openxmlformats.org/drawingml/2006/main">
              <a:ext uri="{FF2B5EF4-FFF2-40B4-BE49-F238E27FC236}">
                <a16:creationId xmlns:a16="http://schemas.microsoft.com/office/drawing/2014/main" id="{2DD38172-D170-47F5-9353-2E216A47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B3A41C2D-87F4-4C91-B099-05FB9913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Eq. (4)-(5) · pp. 3-5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9C741F59-0471-46B4-B0BF-60D4AEEA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04</a:t>
            </a:r>
          </a:p>
        </p:txBody>
      </p:sp>
      <p:sp>
        <p:nvSpPr>
          <p:cNvPr id="5" name="text-55">
            <a:extLst xmlns:a="http://schemas.openxmlformats.org/drawingml/2006/main">
              <a:ext uri="{FF2B5EF4-FFF2-40B4-BE49-F238E27FC236}">
                <a16:creationId xmlns:a16="http://schemas.microsoft.com/office/drawing/2014/main" id="{F3D0A75B-BA90-4D00-BE60-D2FB14E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Reparameterization exposes a differentiable path</a:t>
            </a:r>
          </a:p>
        </p:txBody>
      </p:sp>
      <p:sp>
        <p:nvSpPr>
          <p:cNvPr id="6" name="shape-56">
            <a:extLst xmlns:a="http://schemas.openxmlformats.org/drawingml/2006/main">
              <a:ext uri="{FF2B5EF4-FFF2-40B4-BE49-F238E27FC236}">
                <a16:creationId xmlns:a16="http://schemas.microsoft.com/office/drawing/2014/main" id="{9D365D13-6B62-4345-9738-E81AF236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670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8E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098770F5-2DEB-432B-A129-E99FDB82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1717"/>
                </a:solidFill>
              </a:defRPr>
            </a:pPr>
            <a:r>
              <a:rPr sz="1200" b="1" i="0">
                <a:solidFill>
                  <a:srgbClr val="171717"/>
                </a:solidFill>
              </a:rPr>
              <a:t>FIXED NOISE</a:t>
            </a:r>
          </a:p>
        </p:txBody>
      </p:sp>
      <p:sp>
        <p:nvSpPr>
          <p:cNvPr id="8" name="text-58">
            <a:extLst xmlns:a="http://schemas.openxmlformats.org/drawingml/2006/main">
              <a:ext uri="{FF2B5EF4-FFF2-40B4-BE49-F238E27FC236}">
                <a16:creationId xmlns:a16="http://schemas.microsoft.com/office/drawing/2014/main" id="{A3A9D806-3262-40A4-9149-8390AA74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ε ~ p(ε)</a:t>
            </a:r>
          </a:p>
        </p:txBody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F246E031-3687-4F0B-929E-61734060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 i="0">
                <a:solidFill>
                  <a:srgbClr val="6F716E"/>
                </a:solidFill>
              </a:defRPr>
            </a:pPr>
            <a:r>
              <a:rPr sz="2850" b="1" i="0">
                <a:solidFill>
                  <a:srgbClr val="6F716E"/>
                </a:solidFill>
              </a:rPr>
              <a:t>→</a:t>
            </a:r>
          </a:p>
        </p:txBody>
      </p:sp>
      <p:sp>
        <p:nvSpPr>
          <p:cNvPr id="10" name="shape-60">
            <a:extLst xmlns:a="http://schemas.openxmlformats.org/drawingml/2006/main">
              <a:ext uri="{FF2B5EF4-FFF2-40B4-BE49-F238E27FC236}">
                <a16:creationId xmlns:a16="http://schemas.microsoft.com/office/drawing/2014/main" id="{F3AE6612-D38E-49D7-84B1-AEA4F74D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26670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DD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1">
            <a:extLst xmlns:a="http://schemas.openxmlformats.org/drawingml/2006/main">
              <a:ext uri="{FF2B5EF4-FFF2-40B4-BE49-F238E27FC236}">
                <a16:creationId xmlns:a16="http://schemas.microsoft.com/office/drawing/2014/main" id="{AB48A82A-3747-416B-A8A3-46859B47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DIFFERENTIABLE MAP</a:t>
            </a:r>
          </a:p>
        </p:txBody>
      </p:sp>
      <p:sp>
        <p:nvSpPr>
          <p:cNvPr id="12" name="text-62">
            <a:extLst xmlns:a="http://schemas.openxmlformats.org/drawingml/2006/main">
              <a:ext uri="{FF2B5EF4-FFF2-40B4-BE49-F238E27FC236}">
                <a16:creationId xmlns:a16="http://schemas.microsoft.com/office/drawing/2014/main" id="{8EBB806F-1F6C-45C7-8706-8681DF57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9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315EFB"/>
                </a:solidFill>
              </a:defRPr>
            </a:pPr>
            <a:r>
              <a:rPr sz="2325" b="1" i="0">
                <a:solidFill>
                  <a:srgbClr val="315EFB"/>
                </a:solidFill>
              </a:rPr>
              <a:t>z = gφ(ε, x)</a:t>
            </a:r>
          </a:p>
        </p:txBody>
      </p:sp>
      <p:sp>
        <p:nvSpPr>
          <p:cNvPr id="13" name="text-63">
            <a:extLst xmlns:a="http://schemas.openxmlformats.org/drawingml/2006/main">
              <a:ext uri="{FF2B5EF4-FFF2-40B4-BE49-F238E27FC236}">
                <a16:creationId xmlns:a16="http://schemas.microsoft.com/office/drawing/2014/main" id="{E2E1F3BE-66F4-4890-9F82-3BCC9856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 i="0">
                <a:solidFill>
                  <a:srgbClr val="6F716E"/>
                </a:solidFill>
              </a:defRPr>
            </a:pPr>
            <a:r>
              <a:rPr sz="2850" b="1" i="0">
                <a:solidFill>
                  <a:srgbClr val="6F716E"/>
                </a:solidFill>
              </a:rPr>
              <a:t>→</a:t>
            </a:r>
          </a:p>
        </p:txBody>
      </p:sp>
      <p:sp>
        <p:nvSpPr>
          <p:cNvPr id="14" name="shape-64">
            <a:extLst xmlns:a="http://schemas.openxmlformats.org/drawingml/2006/main">
              <a:ext uri="{FF2B5EF4-FFF2-40B4-BE49-F238E27FC236}">
                <a16:creationId xmlns:a16="http://schemas.microsoft.com/office/drawing/2014/main" id="{C3141CE6-1580-4B1A-A318-28CBC069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6670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DCEB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">
            <a:extLst xmlns:a="http://schemas.openxmlformats.org/drawingml/2006/main">
              <a:ext uri="{FF2B5EF4-FFF2-40B4-BE49-F238E27FC236}">
                <a16:creationId xmlns:a16="http://schemas.microsoft.com/office/drawing/2014/main" id="{BF34E86F-FB61-44ED-AB12-CCD2F2E8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7B69"/>
                </a:solidFill>
              </a:defRPr>
            </a:pPr>
            <a:r>
              <a:rPr sz="1200" b="1" i="0">
                <a:solidFill>
                  <a:srgbClr val="257B69"/>
                </a:solidFill>
              </a:rPr>
              <a:t>MODEL OBJECTIVE</a:t>
            </a:r>
          </a:p>
        </p:txBody>
      </p:sp>
      <p:sp>
        <p:nvSpPr>
          <p:cNvPr id="16" name="text-66">
            <a:extLst xmlns:a="http://schemas.openxmlformats.org/drawingml/2006/main">
              <a:ext uri="{FF2B5EF4-FFF2-40B4-BE49-F238E27FC236}">
                <a16:creationId xmlns:a16="http://schemas.microsoft.com/office/drawing/2014/main" id="{86D3FF27-ADB3-4FE8-913C-17A95EE6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257B69"/>
                </a:solidFill>
              </a:defRPr>
            </a:pPr>
            <a:r>
              <a:rPr sz="2325" b="1" i="0">
                <a:solidFill>
                  <a:srgbClr val="257B69"/>
                </a:solidFill>
              </a:rPr>
              <a:t>f(z)</a:t>
            </a:r>
          </a:p>
        </p:txBody>
      </p:sp>
      <p:sp>
        <p:nvSpPr>
          <p:cNvPr id="17" name="shape-67">
            <a:extLst xmlns:a="http://schemas.openxmlformats.org/drawingml/2006/main">
              <a:ext uri="{FF2B5EF4-FFF2-40B4-BE49-F238E27FC236}">
                <a16:creationId xmlns:a16="http://schemas.microsoft.com/office/drawing/2014/main" id="{5A7FAFF0-B078-406C-ADAB-DE6A936A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910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8">
            <a:extLst xmlns:a="http://schemas.openxmlformats.org/drawingml/2006/main">
              <a:ext uri="{FF2B5EF4-FFF2-40B4-BE49-F238E27FC236}">
                <a16:creationId xmlns:a16="http://schemas.microsoft.com/office/drawing/2014/main" id="{CFF5F870-8ED6-4851-854D-0DB11091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52900"/>
            <a:ext cx="7677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Gaussian case:  z = μ(x) + σ(x) ⊙ ε,   ε ~ 𝒩(0, I)</a:t>
            </a:r>
          </a:p>
        </p:txBody>
      </p:sp>
      <p:sp>
        <p:nvSpPr>
          <p:cNvPr id="19" name="text-69">
            <a:extLst xmlns:a="http://schemas.openxmlformats.org/drawingml/2006/main">
              <a:ext uri="{FF2B5EF4-FFF2-40B4-BE49-F238E27FC236}">
                <a16:creationId xmlns:a16="http://schemas.microsoft.com/office/drawing/2014/main" id="{7852E67E-3F76-4085-984A-7A25CF6C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Sampling remains stochastic. The sampled computation becomes differentiable in φ.</a:t>
            </a:r>
          </a:p>
        </p:txBody>
      </p:sp>
    </p:spTree>
    <p:extLst>
      <p:ext uri="{BB962C8B-B14F-4D97-AF65-F5344CB8AC3E}">
        <p14:creationId xmlns:p14="http://schemas.microsoft.com/office/powerpoint/2010/main" val="1250260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70">
            <a:extLst xmlns:a="http://schemas.openxmlformats.org/drawingml/2006/main">
              <a:ext uri="{FF2B5EF4-FFF2-40B4-BE49-F238E27FC236}">
                <a16:creationId xmlns:a16="http://schemas.microsoft.com/office/drawing/2014/main" id="{0CEB7467-30D6-4F76-AB9F-F3B93D1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ESTIMATOR</a:t>
            </a:r>
          </a:p>
        </p:txBody>
      </p:sp>
      <p:sp>
        <p:nvSpPr>
          <p:cNvPr id="2" name="shape-71">
            <a:extLst xmlns:a="http://schemas.openxmlformats.org/drawingml/2006/main">
              <a:ext uri="{FF2B5EF4-FFF2-40B4-BE49-F238E27FC236}">
                <a16:creationId xmlns:a16="http://schemas.microsoft.com/office/drawing/2014/main" id="{4A9D628B-BFA1-40C1-BB14-C63BAA4A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72">
            <a:extLst xmlns:a="http://schemas.openxmlformats.org/drawingml/2006/main">
              <a:ext uri="{FF2B5EF4-FFF2-40B4-BE49-F238E27FC236}">
                <a16:creationId xmlns:a16="http://schemas.microsoft.com/office/drawing/2014/main" id="{31748587-ABD4-4B63-A435-BAEECDCC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Eq. (6)-(8), Algorithm 1 · pp. 3-4</a:t>
            </a:r>
          </a:p>
        </p:txBody>
      </p:sp>
      <p:sp>
        <p:nvSpPr>
          <p:cNvPr id="4" name="text-73">
            <a:extLst xmlns:a="http://schemas.openxmlformats.org/drawingml/2006/main">
              <a:ext uri="{FF2B5EF4-FFF2-40B4-BE49-F238E27FC236}">
                <a16:creationId xmlns:a16="http://schemas.microsoft.com/office/drawing/2014/main" id="{4C6EEF92-4EC2-4D37-9C13-632A1579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05</a:t>
            </a:r>
          </a:p>
        </p:txBody>
      </p:sp>
      <p:sp>
        <p:nvSpPr>
          <p:cNvPr id="5" name="text-74">
            <a:extLst xmlns:a="http://schemas.openxmlformats.org/drawingml/2006/main">
              <a:ext uri="{FF2B5EF4-FFF2-40B4-BE49-F238E27FC236}">
                <a16:creationId xmlns:a16="http://schemas.microsoft.com/office/drawing/2014/main" id="{3C4CC1DF-D319-4E1A-A95F-C6595F96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SGVB makes the bound minibatch-trainable</a:t>
            </a:r>
          </a:p>
        </p:txBody>
      </p:sp>
      <p:sp>
        <p:nvSpPr>
          <p:cNvPr id="6" name="text-75">
            <a:extLst xmlns:a="http://schemas.openxmlformats.org/drawingml/2006/main">
              <a:ext uri="{FF2B5EF4-FFF2-40B4-BE49-F238E27FC236}">
                <a16:creationId xmlns:a16="http://schemas.microsoft.com/office/drawing/2014/main" id="{39B393E4-B6EF-41F0-961D-80802B9B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GENERIC ESTIMATOR</a:t>
            </a:r>
          </a:p>
        </p:txBody>
      </p:sp>
      <p:sp>
        <p:nvSpPr>
          <p:cNvPr id="7" name="text-76">
            <a:extLst xmlns:a="http://schemas.openxmlformats.org/drawingml/2006/main">
              <a:ext uri="{FF2B5EF4-FFF2-40B4-BE49-F238E27FC236}">
                <a16:creationId xmlns:a16="http://schemas.microsoft.com/office/drawing/2014/main" id="{BADB1FC2-44B4-4BAD-99C6-38C7E6FA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171717"/>
                </a:solidFill>
              </a:defRPr>
            </a:pPr>
            <a:r>
              <a:rPr sz="2175" b="1" i="0">
                <a:solidFill>
                  <a:srgbClr val="171717"/>
                </a:solidFill>
              </a:rPr>
              <a:t>L̃A(x) = 1/L Σₗ [ log pθ(x, zₗ) − log qφ(zₗ|x) ]</a:t>
            </a:r>
          </a:p>
        </p:txBody>
      </p:sp>
      <p:sp>
        <p:nvSpPr>
          <p:cNvPr id="8" name="shape-77">
            <a:extLst xmlns:a="http://schemas.openxmlformats.org/drawingml/2006/main">
              <a:ext uri="{FF2B5EF4-FFF2-40B4-BE49-F238E27FC236}">
                <a16:creationId xmlns:a16="http://schemas.microsoft.com/office/drawing/2014/main" id="{9AB536F7-5083-46DD-9097-DC2FBE99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78">
            <a:extLst xmlns:a="http://schemas.openxmlformats.org/drawingml/2006/main">
              <a:ext uri="{FF2B5EF4-FFF2-40B4-BE49-F238E27FC236}">
                <a16:creationId xmlns:a16="http://schemas.microsoft.com/office/drawing/2014/main" id="{607CD8B3-5819-4866-8A65-60C5E396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7B69"/>
                </a:solidFill>
              </a:defRPr>
            </a:pPr>
            <a:r>
              <a:rPr sz="1200" b="1" i="0">
                <a:solidFill>
                  <a:srgbClr val="257B69"/>
                </a:solidFill>
              </a:rPr>
              <a:t>LOWER-VARIANCE FORM</a:t>
            </a:r>
          </a:p>
        </p:txBody>
      </p:sp>
      <p:sp>
        <p:nvSpPr>
          <p:cNvPr id="10" name="text-79">
            <a:extLst xmlns:a="http://schemas.openxmlformats.org/drawingml/2006/main">
              <a:ext uri="{FF2B5EF4-FFF2-40B4-BE49-F238E27FC236}">
                <a16:creationId xmlns:a16="http://schemas.microsoft.com/office/drawing/2014/main" id="{FFDF0417-20CA-40DA-80C2-6D98FFB2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171717"/>
                </a:solidFill>
              </a:defRPr>
            </a:pPr>
            <a:r>
              <a:rPr sz="2175" b="1" i="0">
                <a:solidFill>
                  <a:srgbClr val="171717"/>
                </a:solidFill>
              </a:rPr>
              <a:t>L̃B(x) = − KL(qφ(z|x)||p(z)) + 1/L Σₗ log pθ(x|zₗ)</a:t>
            </a:r>
          </a:p>
        </p:txBody>
      </p:sp>
      <p:sp>
        <p:nvSpPr>
          <p:cNvPr id="11" name="text-80">
            <a:extLst xmlns:a="http://schemas.openxmlformats.org/drawingml/2006/main">
              <a:ext uri="{FF2B5EF4-FFF2-40B4-BE49-F238E27FC236}">
                <a16:creationId xmlns:a16="http://schemas.microsoft.com/office/drawing/2014/main" id="{BF48DDBF-9E8A-4AEB-B153-5B7E7B09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315EFB"/>
                </a:solidFill>
              </a:defRPr>
            </a:pPr>
            <a:r>
              <a:rPr sz="3450" b="1" i="0">
                <a:solidFill>
                  <a:srgbClr val="315EFB"/>
                </a:solidFill>
              </a:rPr>
              <a:t>L = 1</a:t>
            </a:r>
          </a:p>
        </p:txBody>
      </p:sp>
      <p:sp>
        <p:nvSpPr>
          <p:cNvPr id="12" name="text-81">
            <a:extLst xmlns:a="http://schemas.openxmlformats.org/drawingml/2006/main">
              <a:ext uri="{FF2B5EF4-FFF2-40B4-BE49-F238E27FC236}">
                <a16:creationId xmlns:a16="http://schemas.microsoft.com/office/drawing/2014/main" id="{D0EBB4C1-DE2E-40C4-88F1-2DE1D47F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sample per datapoint in the experiments</a:t>
            </a:r>
          </a:p>
        </p:txBody>
      </p:sp>
      <p:sp>
        <p:nvSpPr>
          <p:cNvPr id="13" name="text-82">
            <a:extLst xmlns:a="http://schemas.openxmlformats.org/drawingml/2006/main">
              <a:ext uri="{FF2B5EF4-FFF2-40B4-BE49-F238E27FC236}">
                <a16:creationId xmlns:a16="http://schemas.microsoft.com/office/drawing/2014/main" id="{05730664-B88E-4317-B101-7DEDA9FD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292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257B69"/>
                </a:solidFill>
              </a:defRPr>
            </a:pPr>
            <a:r>
              <a:rPr sz="3450" b="1" i="0">
                <a:solidFill>
                  <a:srgbClr val="257B69"/>
                </a:solidFill>
              </a:rPr>
              <a:t>M = 100</a:t>
            </a:r>
          </a:p>
        </p:txBody>
      </p:sp>
      <p:sp>
        <p:nvSpPr>
          <p:cNvPr id="14" name="text-83">
            <a:extLst xmlns:a="http://schemas.openxmlformats.org/drawingml/2006/main">
              <a:ext uri="{FF2B5EF4-FFF2-40B4-BE49-F238E27FC236}">
                <a16:creationId xmlns:a16="http://schemas.microsoft.com/office/drawing/2014/main" id="{953BD4FD-02C5-4993-B3C0-85283C14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340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minibatch size</a:t>
            </a:r>
          </a:p>
        </p:txBody>
      </p:sp>
      <p:sp>
        <p:nvSpPr>
          <p:cNvPr id="15" name="text-84">
            <a:extLst xmlns:a="http://schemas.openxmlformats.org/drawingml/2006/main">
              <a:ext uri="{FF2B5EF4-FFF2-40B4-BE49-F238E27FC236}">
                <a16:creationId xmlns:a16="http://schemas.microsoft.com/office/drawing/2014/main" id="{57B063DD-D527-49B8-B527-3E609211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9A642A"/>
                </a:solidFill>
              </a:defRPr>
            </a:pPr>
            <a:r>
              <a:rPr sz="3450" b="1" i="0">
                <a:solidFill>
                  <a:srgbClr val="9A642A"/>
                </a:solidFill>
              </a:rPr>
              <a:t>N / M</a:t>
            </a:r>
          </a:p>
        </p:txBody>
      </p:sp>
      <p:sp>
        <p:nvSpPr>
          <p:cNvPr id="16" name="text-85">
            <a:extLst xmlns:a="http://schemas.openxmlformats.org/drawingml/2006/main">
              <a:ext uri="{FF2B5EF4-FFF2-40B4-BE49-F238E27FC236}">
                <a16:creationId xmlns:a16="http://schemas.microsoft.com/office/drawing/2014/main" id="{C606C563-EA7A-4621-8F6C-63F7D46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340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rescales the minibatch bound</a:t>
            </a:r>
          </a:p>
        </p:txBody>
      </p:sp>
    </p:spTree>
    <p:extLst>
      <p:ext uri="{BB962C8B-B14F-4D97-AF65-F5344CB8AC3E}">
        <p14:creationId xmlns:p14="http://schemas.microsoft.com/office/powerpoint/2010/main" val="1650369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86">
            <a:extLst xmlns:a="http://schemas.openxmlformats.org/drawingml/2006/main">
              <a:ext uri="{FF2B5EF4-FFF2-40B4-BE49-F238E27FC236}">
                <a16:creationId xmlns:a16="http://schemas.microsoft.com/office/drawing/2014/main" id="{348CD373-7F94-4E53-8ACB-68B1FC57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AMORTIZATION</a:t>
            </a:r>
          </a:p>
        </p:txBody>
      </p:sp>
      <p:sp>
        <p:nvSpPr>
          <p:cNvPr id="2" name="shape-87">
            <a:extLst xmlns:a="http://schemas.openxmlformats.org/drawingml/2006/main">
              <a:ext uri="{FF2B5EF4-FFF2-40B4-BE49-F238E27FC236}">
                <a16:creationId xmlns:a16="http://schemas.microsoft.com/office/drawing/2014/main" id="{B95F101D-EAF1-462F-B6C2-B2C42395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480FFFF6-7360-4AE6-A547-1F27A336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Fig. 1, §2.2 · pp. 2-3</a:t>
            </a:r>
          </a:p>
        </p:txBody>
      </p:sp>
      <p:sp>
        <p:nvSpPr>
          <p:cNvPr id="4" name="text-89">
            <a:extLst xmlns:a="http://schemas.openxmlformats.org/drawingml/2006/main">
              <a:ext uri="{FF2B5EF4-FFF2-40B4-BE49-F238E27FC236}">
                <a16:creationId xmlns:a16="http://schemas.microsoft.com/office/drawing/2014/main" id="{4E9130E3-5352-4C34-BB56-29F6FDE5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06</a:t>
            </a:r>
          </a:p>
        </p:txBody>
      </p:sp>
      <p:sp>
        <p:nvSpPr>
          <p:cNvPr id="5" name="text-90">
            <a:extLst xmlns:a="http://schemas.openxmlformats.org/drawingml/2006/main">
              <a:ext uri="{FF2B5EF4-FFF2-40B4-BE49-F238E27FC236}">
                <a16:creationId xmlns:a16="http://schemas.microsoft.com/office/drawing/2014/main" id="{E8537DF7-A941-4454-84E4-30363810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Amortization replaces per-example inference</a:t>
            </a:r>
          </a:p>
        </p:txBody>
      </p:sp>
      <p:sp>
        <p:nvSpPr>
          <p:cNvPr id="6" name="shape-91">
            <a:extLst xmlns:a="http://schemas.openxmlformats.org/drawingml/2006/main">
              <a:ext uri="{FF2B5EF4-FFF2-40B4-BE49-F238E27FC236}">
                <a16:creationId xmlns:a16="http://schemas.microsoft.com/office/drawing/2014/main" id="{6EE33A66-1E31-4288-845F-1FCB7F4B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0099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456e6555f4e2d"/>
          <a:stretch xmlns:a="http://schemas.openxmlformats.org/drawingml/2006/main"/>
        </p:blipFill>
        <p:spPr>
          <a:xfrm xmlns:a="http://schemas.openxmlformats.org/drawingml/2006/main">
            <a:off x="857250" y="209550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text-92">
            <a:extLst xmlns:a="http://schemas.openxmlformats.org/drawingml/2006/main">
              <a:ext uri="{FF2B5EF4-FFF2-40B4-BE49-F238E27FC236}">
                <a16:creationId xmlns:a16="http://schemas.microsoft.com/office/drawing/2014/main" id="{BD1D8820-AF91-4ABF-81C2-9DD3E8C7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A1493F"/>
                </a:solidFill>
              </a:defRPr>
            </a:pPr>
            <a:r>
              <a:rPr sz="1200" b="1" i="0">
                <a:solidFill>
                  <a:srgbClr val="A1493F"/>
                </a:solidFill>
              </a:rPr>
              <a:t>PER-DATAPOINT VI</a:t>
            </a:r>
          </a:p>
        </p:txBody>
      </p:sp>
      <p:sp>
        <p:nvSpPr>
          <p:cNvPr id="9" name="text-93">
            <a:extLst xmlns:a="http://schemas.openxmlformats.org/drawingml/2006/main">
              <a:ext uri="{FF2B5EF4-FFF2-40B4-BE49-F238E27FC236}">
                <a16:creationId xmlns:a16="http://schemas.microsoft.com/office/drawing/2014/main" id="{DCE7607A-B08B-4B71-90FB-9D7E96C4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xᵢ → optimize local parameters → qᵢ(z)</a:t>
            </a:r>
          </a:p>
        </p:txBody>
      </p:sp>
      <p:sp>
        <p:nvSpPr>
          <p:cNvPr id="10" name="text-94">
            <a:extLst xmlns:a="http://schemas.openxmlformats.org/drawingml/2006/main">
              <a:ext uri="{FF2B5EF4-FFF2-40B4-BE49-F238E27FC236}">
                <a16:creationId xmlns:a16="http://schemas.microsoft.com/office/drawing/2014/main" id="{6E84A689-2117-49E8-9F12-99983707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6F716E"/>
                </a:solidFill>
              </a:defRPr>
            </a:pPr>
            <a:r>
              <a:rPr sz="1575" b="0" i="0">
                <a:solidFill>
                  <a:srgbClr val="6F716E"/>
                </a:solidFill>
              </a:rPr>
              <a:t>Repeat an iterative inference procedure for every new observation.</a:t>
            </a:r>
          </a:p>
        </p:txBody>
      </p:sp>
      <p:sp>
        <p:nvSpPr>
          <p:cNvPr id="11" name="shape-95">
            <a:extLst xmlns:a="http://schemas.openxmlformats.org/drawingml/2006/main">
              <a:ext uri="{FF2B5EF4-FFF2-40B4-BE49-F238E27FC236}">
                <a16:creationId xmlns:a16="http://schemas.microsoft.com/office/drawing/2014/main" id="{DF631C94-4946-4A53-BAEF-EA51B2E4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96">
            <a:extLst xmlns:a="http://schemas.openxmlformats.org/drawingml/2006/main">
              <a:ext uri="{FF2B5EF4-FFF2-40B4-BE49-F238E27FC236}">
                <a16:creationId xmlns:a16="http://schemas.microsoft.com/office/drawing/2014/main" id="{65E7EACF-102A-453C-AB46-6AF70AFD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AMORTIZED VI</a:t>
            </a:r>
          </a:p>
        </p:txBody>
      </p:sp>
      <p:sp>
        <p:nvSpPr>
          <p:cNvPr id="13" name="text-97">
            <a:extLst xmlns:a="http://schemas.openxmlformats.org/drawingml/2006/main">
              <a:ext uri="{FF2B5EF4-FFF2-40B4-BE49-F238E27FC236}">
                <a16:creationId xmlns:a16="http://schemas.microsoft.com/office/drawing/2014/main" id="{A3F3B396-9BEE-4E6C-9535-D19074EB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910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315EFB"/>
                </a:solidFill>
              </a:defRPr>
            </a:pPr>
            <a:r>
              <a:rPr sz="2175" b="1" i="0">
                <a:solidFill>
                  <a:srgbClr val="315EFB"/>
                </a:solidFill>
              </a:rPr>
              <a:t>xᵢ → encoderφ(xᵢ) → (μᵢ, σᵢ)</a:t>
            </a:r>
          </a:p>
        </p:txBody>
      </p:sp>
      <p:sp>
        <p:nvSpPr>
          <p:cNvPr id="14" name="text-98">
            <a:extLst xmlns:a="http://schemas.openxmlformats.org/drawingml/2006/main">
              <a:ext uri="{FF2B5EF4-FFF2-40B4-BE49-F238E27FC236}">
                <a16:creationId xmlns:a16="http://schemas.microsoft.com/office/drawing/2014/main" id="{E81F398C-821F-4BB7-9EDC-B9CFC1D0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197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F716E"/>
                </a:solidFill>
              </a:defRPr>
            </a:pPr>
            <a:r>
              <a:rPr sz="1650" b="0" i="0">
                <a:solidFill>
                  <a:srgbClr val="6F716E"/>
                </a:solidFill>
              </a:rPr>
              <a:t>Shared parameters learn how to infer across the entire dataset.</a:t>
            </a:r>
          </a:p>
        </p:txBody>
      </p:sp>
      <p:sp>
        <p:nvSpPr>
          <p:cNvPr id="15" name="shape-99">
            <a:extLst xmlns:a="http://schemas.openxmlformats.org/drawingml/2006/main">
              <a:ext uri="{FF2B5EF4-FFF2-40B4-BE49-F238E27FC236}">
                <a16:creationId xmlns:a16="http://schemas.microsoft.com/office/drawing/2014/main" id="{8896A818-9E89-4B46-A7B5-B1C631C3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483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00">
            <a:extLst xmlns:a="http://schemas.openxmlformats.org/drawingml/2006/main">
              <a:ext uri="{FF2B5EF4-FFF2-40B4-BE49-F238E27FC236}">
                <a16:creationId xmlns:a16="http://schemas.microsoft.com/office/drawing/2014/main" id="{82B6ADAA-E3B3-4783-AD96-5C673B8B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81025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1717"/>
                </a:solidFill>
              </a:defRPr>
            </a:pPr>
            <a:r>
              <a:rPr sz="1875" b="1" i="0">
                <a:solidFill>
                  <a:srgbClr val="171717"/>
                </a:solidFill>
              </a:rPr>
              <a:t>Inference becomes a forward pass.</a:t>
            </a:r>
          </a:p>
        </p:txBody>
      </p:sp>
    </p:spTree>
    <p:extLst>
      <p:ext uri="{BB962C8B-B14F-4D97-AF65-F5344CB8AC3E}">
        <p14:creationId xmlns:p14="http://schemas.microsoft.com/office/powerpoint/2010/main" val="22999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01">
            <a:extLst xmlns:a="http://schemas.openxmlformats.org/drawingml/2006/main">
              <a:ext uri="{FF2B5EF4-FFF2-40B4-BE49-F238E27FC236}">
                <a16:creationId xmlns:a16="http://schemas.microsoft.com/office/drawing/2014/main" id="{3D148969-37B3-470F-B925-02FAC38D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VAE SPECIAL CASE</a:t>
            </a:r>
          </a:p>
        </p:txBody>
      </p:sp>
      <p:sp>
        <p:nvSpPr>
          <p:cNvPr id="2" name="shape-102">
            <a:extLst xmlns:a="http://schemas.openxmlformats.org/drawingml/2006/main">
              <a:ext uri="{FF2B5EF4-FFF2-40B4-BE49-F238E27FC236}">
                <a16:creationId xmlns:a16="http://schemas.microsoft.com/office/drawing/2014/main" id="{B1E57417-DD4F-4DC9-BB4A-D02817EC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03">
            <a:extLst xmlns:a="http://schemas.openxmlformats.org/drawingml/2006/main">
              <a:ext uri="{FF2B5EF4-FFF2-40B4-BE49-F238E27FC236}">
                <a16:creationId xmlns:a16="http://schemas.microsoft.com/office/drawing/2014/main" id="{279968F0-0BF3-4C7E-8AF2-DC685497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§3, Eq. (9)-(10) · p. 5</a:t>
            </a:r>
          </a:p>
        </p:txBody>
      </p:sp>
      <p:sp>
        <p:nvSpPr>
          <p:cNvPr id="4" name="text-104">
            <a:extLst xmlns:a="http://schemas.openxmlformats.org/drawingml/2006/main">
              <a:ext uri="{FF2B5EF4-FFF2-40B4-BE49-F238E27FC236}">
                <a16:creationId xmlns:a16="http://schemas.microsoft.com/office/drawing/2014/main" id="{ACAC4D8D-8A73-4BBB-A797-A1A4EB8F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07</a:t>
            </a:r>
          </a:p>
        </p:txBody>
      </p:sp>
      <p:sp>
        <p:nvSpPr>
          <p:cNvPr id="5" name="text-105">
            <a:extLst xmlns:a="http://schemas.openxmlformats.org/drawingml/2006/main">
              <a:ext uri="{FF2B5EF4-FFF2-40B4-BE49-F238E27FC236}">
                <a16:creationId xmlns:a16="http://schemas.microsoft.com/office/drawing/2014/main" id="{320DAF1B-F320-4565-9C5F-A29B861A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The canonical VAE is a Gaussian special case</a:t>
            </a:r>
          </a:p>
        </p:txBody>
      </p:sp>
      <p:sp>
        <p:nvSpPr>
          <p:cNvPr id="6" name="text-106">
            <a:extLst xmlns:a="http://schemas.openxmlformats.org/drawingml/2006/main">
              <a:ext uri="{FF2B5EF4-FFF2-40B4-BE49-F238E27FC236}">
                <a16:creationId xmlns:a16="http://schemas.microsoft.com/office/drawing/2014/main" id="{9BB2CD8F-89D1-4BFA-9B76-7F1D5855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ENCODER</a:t>
            </a:r>
          </a:p>
        </p:txBody>
      </p:sp>
      <p:sp>
        <p:nvSpPr>
          <p:cNvPr id="7" name="text-107">
            <a:extLst xmlns:a="http://schemas.openxmlformats.org/drawingml/2006/main">
              <a:ext uri="{FF2B5EF4-FFF2-40B4-BE49-F238E27FC236}">
                <a16:creationId xmlns:a16="http://schemas.microsoft.com/office/drawing/2014/main" id="{5074DFB0-0287-4800-A5C5-B995F84F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171717"/>
                </a:solidFill>
              </a:defRPr>
            </a:pPr>
            <a:r>
              <a:rPr sz="2175" b="1" i="0">
                <a:solidFill>
                  <a:srgbClr val="171717"/>
                </a:solidFill>
              </a:rPr>
              <a:t>qφ(z|x) = 𝒩( μ(x), diag σ²(x) )</a:t>
            </a:r>
          </a:p>
        </p:txBody>
      </p:sp>
      <p:sp>
        <p:nvSpPr>
          <p:cNvPr id="8" name="text-108">
            <a:extLst xmlns:a="http://schemas.openxmlformats.org/drawingml/2006/main">
              <a:ext uri="{FF2B5EF4-FFF2-40B4-BE49-F238E27FC236}">
                <a16:creationId xmlns:a16="http://schemas.microsoft.com/office/drawing/2014/main" id="{428CA667-4B2F-4E45-B5B0-4AF911CB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7B69"/>
                </a:solidFill>
              </a:defRPr>
            </a:pPr>
            <a:r>
              <a:rPr sz="1200" b="1" i="0">
                <a:solidFill>
                  <a:srgbClr val="257B69"/>
                </a:solidFill>
              </a:rPr>
              <a:t>PRIOR</a:t>
            </a:r>
          </a:p>
        </p:txBody>
      </p:sp>
      <p:sp>
        <p:nvSpPr>
          <p:cNvPr id="9" name="text-109">
            <a:extLst xmlns:a="http://schemas.openxmlformats.org/drawingml/2006/main">
              <a:ext uri="{FF2B5EF4-FFF2-40B4-BE49-F238E27FC236}">
                <a16:creationId xmlns:a16="http://schemas.microsoft.com/office/drawing/2014/main" id="{40860028-9109-47EC-B3FD-25803D66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171717"/>
                </a:solidFill>
              </a:defRPr>
            </a:pPr>
            <a:r>
              <a:rPr sz="2175" b="1" i="0">
                <a:solidFill>
                  <a:srgbClr val="171717"/>
                </a:solidFill>
              </a:rPr>
              <a:t>p(z) = 𝒩(0, I)</a:t>
            </a:r>
          </a:p>
        </p:txBody>
      </p:sp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445830AC-C129-45F9-93DE-50BE4A27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7656A3"/>
                </a:solidFill>
              </a:defRPr>
            </a:pPr>
            <a:r>
              <a:rPr sz="1200" b="1" i="0">
                <a:solidFill>
                  <a:srgbClr val="7656A3"/>
                </a:solidFill>
              </a:rPr>
              <a:t>DECODER</a:t>
            </a:r>
          </a:p>
        </p:txBody>
      </p:sp>
      <p:sp>
        <p:nvSpPr>
          <p:cNvPr id="11" name="text-111">
            <a:extLst xmlns:a="http://schemas.openxmlformats.org/drawingml/2006/main">
              <a:ext uri="{FF2B5EF4-FFF2-40B4-BE49-F238E27FC236}">
                <a16:creationId xmlns:a16="http://schemas.microsoft.com/office/drawing/2014/main" id="{46D7B5AA-0980-4612-BFEB-060DA11B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pθ(x|z): Bernoulli or Gaussian MLP</a:t>
            </a:r>
          </a:p>
        </p:txBody>
      </p:sp>
      <p:sp>
        <p:nvSpPr>
          <p:cNvPr id="12" name="shape-112">
            <a:extLst xmlns:a="http://schemas.openxmlformats.org/drawingml/2006/main">
              <a:ext uri="{FF2B5EF4-FFF2-40B4-BE49-F238E27FC236}">
                <a16:creationId xmlns:a16="http://schemas.microsoft.com/office/drawing/2014/main" id="{8016E886-CCC7-4C85-9AC6-A4142E4E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13">
            <a:extLst xmlns:a="http://schemas.openxmlformats.org/drawingml/2006/main">
              <a:ext uri="{FF2B5EF4-FFF2-40B4-BE49-F238E27FC236}">
                <a16:creationId xmlns:a16="http://schemas.microsoft.com/office/drawing/2014/main" id="{91C242BB-D0CC-4902-AC1A-1D07F05C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F716E"/>
                </a:solidFill>
              </a:defRPr>
            </a:pPr>
            <a:r>
              <a:rPr sz="1350" b="1" i="0">
                <a:solidFill>
                  <a:srgbClr val="6F716E"/>
                </a:solidFill>
              </a:rPr>
              <a:t>maximize</a:t>
            </a:r>
          </a:p>
        </p:txBody>
      </p:sp>
      <p:sp>
        <p:nvSpPr>
          <p:cNvPr id="14" name="text-114">
            <a:extLst xmlns:a="http://schemas.openxmlformats.org/drawingml/2006/main">
              <a:ext uri="{FF2B5EF4-FFF2-40B4-BE49-F238E27FC236}">
                <a16:creationId xmlns:a16="http://schemas.microsoft.com/office/drawing/2014/main" id="{02A8BB98-2F98-4C8F-9BA9-460BA027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257B69"/>
                </a:solidFill>
              </a:defRPr>
            </a:pPr>
            <a:r>
              <a:rPr sz="4050" b="1" i="0">
                <a:solidFill>
                  <a:srgbClr val="257B69"/>
                </a:solidFill>
              </a:rPr>
              <a:t>− KL</a:t>
            </a:r>
          </a:p>
        </p:txBody>
      </p:sp>
      <p:sp>
        <p:nvSpPr>
          <p:cNvPr id="15" name="text-115">
            <a:extLst xmlns:a="http://schemas.openxmlformats.org/drawingml/2006/main">
              <a:ext uri="{FF2B5EF4-FFF2-40B4-BE49-F238E27FC236}">
                <a16:creationId xmlns:a16="http://schemas.microsoft.com/office/drawing/2014/main" id="{94F7CCB3-9617-43EC-9F26-A348FC84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76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6F716E"/>
                </a:solidFill>
              </a:defRPr>
            </a:pPr>
            <a:r>
              <a:rPr sz="1575" b="0" i="0">
                <a:solidFill>
                  <a:srgbClr val="6F716E"/>
                </a:solidFill>
              </a:rPr>
              <a:t>prior match</a:t>
            </a:r>
          </a:p>
        </p:txBody>
      </p:sp>
      <p:sp>
        <p:nvSpPr>
          <p:cNvPr id="16" name="text-116">
            <a:extLst xmlns:a="http://schemas.openxmlformats.org/drawingml/2006/main">
              <a:ext uri="{FF2B5EF4-FFF2-40B4-BE49-F238E27FC236}">
                <a16:creationId xmlns:a16="http://schemas.microsoft.com/office/drawing/2014/main" id="{F5041192-449E-41E8-B0F7-9BEC8FD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6F716E"/>
                </a:solidFill>
              </a:defRPr>
            </a:pPr>
            <a:r>
              <a:rPr sz="3600" b="1" i="0">
                <a:solidFill>
                  <a:srgbClr val="6F716E"/>
                </a:solidFill>
              </a:rPr>
              <a:t>+</a:t>
            </a:r>
          </a:p>
        </p:txBody>
      </p:sp>
      <p:sp>
        <p:nvSpPr>
          <p:cNvPr id="17" name="text-117">
            <a:extLst xmlns:a="http://schemas.openxmlformats.org/drawingml/2006/main">
              <a:ext uri="{FF2B5EF4-FFF2-40B4-BE49-F238E27FC236}">
                <a16:creationId xmlns:a16="http://schemas.microsoft.com/office/drawing/2014/main" id="{5183ECFB-3F46-4FE7-9929-409F8038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315EFB"/>
                </a:solidFill>
              </a:defRPr>
            </a:pPr>
            <a:r>
              <a:rPr sz="3150" b="1" i="0">
                <a:solidFill>
                  <a:srgbClr val="315EFB"/>
                </a:solidFill>
              </a:rPr>
              <a:t>E log pθ(x|z)</a:t>
            </a:r>
          </a:p>
        </p:txBody>
      </p:sp>
      <p:sp>
        <p:nvSpPr>
          <p:cNvPr id="18" name="text-118">
            <a:extLst xmlns:a="http://schemas.openxmlformats.org/drawingml/2006/main">
              <a:ext uri="{FF2B5EF4-FFF2-40B4-BE49-F238E27FC236}">
                <a16:creationId xmlns:a16="http://schemas.microsoft.com/office/drawing/2014/main" id="{01A18375-6B91-4D61-8824-56947D6A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6F716E"/>
                </a:solidFill>
              </a:defRPr>
            </a:pPr>
            <a:r>
              <a:rPr sz="1575" b="0" i="0">
                <a:solidFill>
                  <a:srgbClr val="6F716E"/>
                </a:solidFill>
              </a:rPr>
              <a:t>reconstruction likelihood</a:t>
            </a:r>
          </a:p>
        </p:txBody>
      </p:sp>
      <p:sp>
        <p:nvSpPr>
          <p:cNvPr id="19" name="shape-119">
            <a:extLst xmlns:a="http://schemas.openxmlformats.org/drawingml/2006/main">
              <a:ext uri="{FF2B5EF4-FFF2-40B4-BE49-F238E27FC236}">
                <a16:creationId xmlns:a16="http://schemas.microsoft.com/office/drawing/2014/main" id="{FDA09845-4C3B-4100-B94E-37F4C37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673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20">
            <a:extLst xmlns:a="http://schemas.openxmlformats.org/drawingml/2006/main">
              <a:ext uri="{FF2B5EF4-FFF2-40B4-BE49-F238E27FC236}">
                <a16:creationId xmlns:a16="http://schemas.microsoft.com/office/drawing/2014/main" id="{8D66300C-9134-4B39-8A84-A89CA135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29200"/>
            <a:ext cx="4057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Architecture is replaceable; the inference recipe is the invariant.</a:t>
            </a:r>
          </a:p>
        </p:txBody>
      </p:sp>
    </p:spTree>
    <p:extLst>
      <p:ext uri="{BB962C8B-B14F-4D97-AF65-F5344CB8AC3E}">
        <p14:creationId xmlns:p14="http://schemas.microsoft.com/office/powerpoint/2010/main" val="1445684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21">
            <a:extLst xmlns:a="http://schemas.openxmlformats.org/drawingml/2006/main">
              <a:ext uri="{FF2B5EF4-FFF2-40B4-BE49-F238E27FC236}">
                <a16:creationId xmlns:a16="http://schemas.microsoft.com/office/drawing/2014/main" id="{DC943A25-2B50-4B9D-B841-8450D06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OPTIMIZATION EVIDENCE</a:t>
            </a:r>
          </a:p>
        </p:txBody>
      </p:sp>
      <p:sp>
        <p:nvSpPr>
          <p:cNvPr id="2" name="shape-122">
            <a:extLst xmlns:a="http://schemas.openxmlformats.org/drawingml/2006/main">
              <a:ext uri="{FF2B5EF4-FFF2-40B4-BE49-F238E27FC236}">
                <a16:creationId xmlns:a16="http://schemas.microsoft.com/office/drawing/2014/main" id="{60FF13B3-F006-4ADE-8305-E383766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23">
            <a:extLst xmlns:a="http://schemas.openxmlformats.org/drawingml/2006/main">
              <a:ext uri="{FF2B5EF4-FFF2-40B4-BE49-F238E27FC236}">
                <a16:creationId xmlns:a16="http://schemas.microsoft.com/office/drawing/2014/main" id="{262DECC9-882F-440C-97D7-F56EBAAF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Fig. 2 · p. 7</a:t>
            </a:r>
          </a:p>
        </p:txBody>
      </p:sp>
      <p:sp>
        <p:nvSpPr>
          <p:cNvPr id="4" name="text-124">
            <a:extLst xmlns:a="http://schemas.openxmlformats.org/drawingml/2006/main">
              <a:ext uri="{FF2B5EF4-FFF2-40B4-BE49-F238E27FC236}">
                <a16:creationId xmlns:a16="http://schemas.microsoft.com/office/drawing/2014/main" id="{BFCE94D9-EF30-4021-AC17-F9B4B336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08</a:t>
            </a:r>
          </a:p>
        </p:txBody>
      </p:sp>
      <p:sp>
        <p:nvSpPr>
          <p:cNvPr id="5" name="text-125">
            <a:extLst xmlns:a="http://schemas.openxmlformats.org/drawingml/2006/main">
              <a:ext uri="{FF2B5EF4-FFF2-40B4-BE49-F238E27FC236}">
                <a16:creationId xmlns:a16="http://schemas.microsoft.com/office/drawing/2014/main" id="{B54F293E-1C9D-412A-A10D-B837CACD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1717"/>
                </a:solidFill>
              </a:defRPr>
            </a:pPr>
            <a:r>
              <a:rPr sz="3300" b="1" i="0">
                <a:solidFill>
                  <a:srgbClr val="171717"/>
                </a:solidFill>
              </a:rPr>
              <a:t>AEVB outpaces Wake-Sleep in these MLP tests</a:t>
            </a:r>
          </a:p>
        </p:txBody>
      </p:sp>
      <p:sp>
        <p:nvSpPr>
          <p:cNvPr id="6" name="shape-126">
            <a:extLst xmlns:a="http://schemas.openxmlformats.org/drawingml/2006/main">
              <a:ext uri="{FF2B5EF4-FFF2-40B4-BE49-F238E27FC236}">
                <a16:creationId xmlns:a16="http://schemas.microsoft.com/office/drawing/2014/main" id="{1DF57D6E-D599-4FF7-B931-5D036BF4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966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daa8477d8441a"/>
          <a:stretch xmlns:a="http://schemas.openxmlformats.org/drawingml/2006/main"/>
        </p:blipFill>
        <p:spPr>
          <a:xfrm xmlns:a="http://schemas.openxmlformats.org/drawingml/2006/main">
            <a:off x="812259" y="1828800"/>
            <a:ext cx="10567483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text-127">
            <a:extLst xmlns:a="http://schemas.openxmlformats.org/drawingml/2006/main">
              <a:ext uri="{FF2B5EF4-FFF2-40B4-BE49-F238E27FC236}">
                <a16:creationId xmlns:a16="http://schemas.microsoft.com/office/drawing/2014/main" id="{C2163388-D1FE-4001-9D3E-BE7B7DE5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341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MNIST: 500 hidden units · Frey Face: 200 · M=100 · L=1 · no error bands</a:t>
            </a:r>
          </a:p>
        </p:txBody>
      </p:sp>
    </p:spTree>
    <p:extLst>
      <p:ext uri="{BB962C8B-B14F-4D97-AF65-F5344CB8AC3E}">
        <p14:creationId xmlns:p14="http://schemas.microsoft.com/office/powerpoint/2010/main" val="1117184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28">
            <a:extLst xmlns:a="http://schemas.openxmlformats.org/drawingml/2006/main">
              <a:ext uri="{FF2B5EF4-FFF2-40B4-BE49-F238E27FC236}">
                <a16:creationId xmlns:a16="http://schemas.microsoft.com/office/drawing/2014/main" id="{859CF157-D53A-4185-9747-01A4D91E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LIKELIHOOD EVIDENCE</a:t>
            </a:r>
          </a:p>
        </p:txBody>
      </p:sp>
      <p:sp>
        <p:nvSpPr>
          <p:cNvPr id="2" name="shape-129">
            <a:extLst xmlns:a="http://schemas.openxmlformats.org/drawingml/2006/main">
              <a:ext uri="{FF2B5EF4-FFF2-40B4-BE49-F238E27FC236}">
                <a16:creationId xmlns:a16="http://schemas.microsoft.com/office/drawing/2014/main" id="{C666C7E3-EB6A-40A5-8D3B-3BD04E05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7B91E52F-AA94-45EC-85FC-C5F6C65E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Fig. 3, Appendix D-E · pp. 8, 11-12</a:t>
            </a:r>
          </a:p>
        </p:txBody>
      </p: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3603C477-2544-42F2-96A7-6CAEEB8D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09</a:t>
            </a:r>
          </a:p>
        </p:txBody>
      </p:sp>
      <p:sp>
        <p:nvSpPr>
          <p:cNvPr id="5" name="text-132">
            <a:extLst xmlns:a="http://schemas.openxmlformats.org/drawingml/2006/main">
              <a:ext uri="{FF2B5EF4-FFF2-40B4-BE49-F238E27FC236}">
                <a16:creationId xmlns:a16="http://schemas.microsoft.com/office/drawing/2014/main" id="{CCA8BCE1-3CE9-4BB2-A5F0-00D87E4C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171717"/>
                </a:solidFill>
              </a:defRPr>
            </a:pPr>
            <a:r>
              <a:rPr sz="3225" b="1" i="0">
                <a:solidFill>
                  <a:srgbClr val="171717"/>
                </a:solidFill>
              </a:rPr>
              <a:t>Likelihood favors AEVB in a low-dimensional test</a:t>
            </a:r>
          </a:p>
        </p:txBody>
      </p:sp>
      <p:sp>
        <p:nvSpPr>
          <p:cNvPr id="6" name="shape-133">
            <a:extLst xmlns:a="http://schemas.openxmlformats.org/drawingml/2006/main">
              <a:ext uri="{FF2B5EF4-FFF2-40B4-BE49-F238E27FC236}">
                <a16:creationId xmlns:a16="http://schemas.microsoft.com/office/drawing/2014/main" id="{2B73B0A3-2323-4468-A532-12AD2712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79629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60e2730de45fa"/>
          <a:stretch xmlns:a="http://schemas.openxmlformats.org/drawingml/2006/main"/>
        </p:blipFill>
        <p:spPr>
          <a:xfrm xmlns:a="http://schemas.openxmlformats.org/drawingml/2006/main">
            <a:off x="723900" y="2330557"/>
            <a:ext cx="7810500" cy="3092235"/>
          </a:xfrm>
          <a:prstGeom xmlns:a="http://schemas.openxmlformats.org/drawingml/2006/main" prst="rect">
            <a:avLst/>
          </a:prstGeom>
        </p:spPr>
      </p:pic>
      <p:sp>
        <p:nvSpPr>
          <p:cNvPr id="8" name="text-134">
            <a:extLst xmlns:a="http://schemas.openxmlformats.org/drawingml/2006/main">
              <a:ext uri="{FF2B5EF4-FFF2-40B4-BE49-F238E27FC236}">
                <a16:creationId xmlns:a16="http://schemas.microsoft.com/office/drawing/2014/main" id="{D987581B-1FAC-4B29-AC24-6644FA01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764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315EFB"/>
                </a:solidFill>
              </a:defRPr>
            </a:pPr>
            <a:r>
              <a:rPr sz="3600" b="1" i="0">
                <a:solidFill>
                  <a:srgbClr val="315EFB"/>
                </a:solidFill>
              </a:rPr>
              <a:t>z = 3</a:t>
            </a:r>
          </a:p>
        </p:txBody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4F4308A4-DBEE-4561-8E40-8FBC59B9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latent dimensions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23E91E8D-7A56-4C84-B813-6E98D84C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052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257B69"/>
                </a:solidFill>
              </a:defRPr>
            </a:pPr>
            <a:r>
              <a:rPr sz="3600" b="1" i="0">
                <a:solidFill>
                  <a:srgbClr val="257B69"/>
                </a:solidFill>
              </a:rPr>
              <a:t>50</a:t>
            </a:r>
          </a:p>
        </p:txBody>
      </p:sp>
      <p:sp>
        <p:nvSpPr>
          <p:cNvPr id="11" name="text-137">
            <a:extLst xmlns:a="http://schemas.openxmlformats.org/drawingml/2006/main">
              <a:ext uri="{FF2B5EF4-FFF2-40B4-BE49-F238E27FC236}">
                <a16:creationId xmlns:a16="http://schemas.microsoft.com/office/drawing/2014/main" id="{B55AAD54-865F-43CD-9737-14960BDA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00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HMC posterior samples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per datapoint</a:t>
            </a:r>
          </a:p>
        </p:txBody>
      </p:sp>
      <p:sp>
        <p:nvSpPr>
          <p:cNvPr id="12" name="text-138">
            <a:extLst xmlns:a="http://schemas.openxmlformats.org/drawingml/2006/main">
              <a:ext uri="{FF2B5EF4-FFF2-40B4-BE49-F238E27FC236}">
                <a16:creationId xmlns:a16="http://schemas.microsoft.com/office/drawing/2014/main" id="{722D188A-042F-4602-B00D-3A811F6C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101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9A642A"/>
                </a:solidFill>
              </a:defRPr>
            </a:pPr>
            <a:r>
              <a:rPr sz="3600" b="1" i="0">
                <a:solidFill>
                  <a:srgbClr val="9A642A"/>
                </a:solidFill>
              </a:rPr>
              <a:t>1,000</a:t>
            </a:r>
          </a:p>
        </p:txBody>
      </p:sp>
      <p:sp>
        <p:nvSpPr>
          <p:cNvPr id="13" name="text-139">
            <a:extLst xmlns:a="http://schemas.openxmlformats.org/drawingml/2006/main">
              <a:ext uri="{FF2B5EF4-FFF2-40B4-BE49-F238E27FC236}">
                <a16:creationId xmlns:a16="http://schemas.microsoft.com/office/drawing/2014/main" id="{82EC2600-9FB7-46F3-A3F3-A37B3ADF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150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train/test points used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for estimation</a:t>
            </a:r>
          </a:p>
        </p:txBody>
      </p:sp>
      <p:sp>
        <p:nvSpPr>
          <p:cNvPr id="14" name="text-140">
            <a:extLst xmlns:a="http://schemas.openxmlformats.org/drawingml/2006/main">
              <a:ext uri="{FF2B5EF4-FFF2-40B4-BE49-F238E27FC236}">
                <a16:creationId xmlns:a16="http://schemas.microsoft.com/office/drawing/2014/main" id="{488B6EC3-79DD-4380-875D-5FC3293B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19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6F716E"/>
                </a:solidFill>
              </a:defRPr>
            </a:pPr>
            <a:r>
              <a:rPr sz="1350" b="0" i="0">
                <a:solidFill>
                  <a:srgbClr val="6F716E"/>
                </a:solidFill>
              </a:rPr>
              <a:t>The paper reports that estimates become unreliable in higher dimensions.</a:t>
            </a:r>
          </a:p>
        </p:txBody>
      </p:sp>
    </p:spTree>
    <p:extLst>
      <p:ext uri="{BB962C8B-B14F-4D97-AF65-F5344CB8AC3E}">
        <p14:creationId xmlns:p14="http://schemas.microsoft.com/office/powerpoint/2010/main" val="9473749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41">
            <a:extLst xmlns:a="http://schemas.openxmlformats.org/drawingml/2006/main">
              <a:ext uri="{FF2B5EF4-FFF2-40B4-BE49-F238E27FC236}">
                <a16:creationId xmlns:a16="http://schemas.microsoft.com/office/drawing/2014/main" id="{35D89E3A-74A3-48B7-A768-05238C30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REPRESENTATION</a:t>
            </a:r>
          </a:p>
        </p:txBody>
      </p:sp>
      <p:sp>
        <p:nvSpPr>
          <p:cNvPr id="2" name="shape-142">
            <a:extLst xmlns:a="http://schemas.openxmlformats.org/drawingml/2006/main">
              <a:ext uri="{FF2B5EF4-FFF2-40B4-BE49-F238E27FC236}">
                <a16:creationId xmlns:a16="http://schemas.microsoft.com/office/drawing/2014/main" id="{EA85DAB6-DE5F-4CF3-9A78-0D99C1F0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43">
            <a:extLst xmlns:a="http://schemas.openxmlformats.org/drawingml/2006/main">
              <a:ext uri="{FF2B5EF4-FFF2-40B4-BE49-F238E27FC236}">
                <a16:creationId xmlns:a16="http://schemas.microsoft.com/office/drawing/2014/main" id="{366455A4-9305-4B52-9720-0129B61B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Fig. 4 · p. 10</a:t>
            </a:r>
          </a:p>
        </p:txBody>
      </p:sp>
      <p:sp>
        <p:nvSpPr>
          <p:cNvPr id="4" name="text-144">
            <a:extLst xmlns:a="http://schemas.openxmlformats.org/drawingml/2006/main">
              <a:ext uri="{FF2B5EF4-FFF2-40B4-BE49-F238E27FC236}">
                <a16:creationId xmlns:a16="http://schemas.microsoft.com/office/drawing/2014/main" id="{B81CEFF8-1A39-4247-ADDB-6713510C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10</a:t>
            </a:r>
          </a:p>
        </p:txBody>
      </p:sp>
      <p:sp>
        <p:nvSpPr>
          <p:cNvPr id="5" name="text-145">
            <a:extLst xmlns:a="http://schemas.openxmlformats.org/drawingml/2006/main">
              <a:ext uri="{FF2B5EF4-FFF2-40B4-BE49-F238E27FC236}">
                <a16:creationId xmlns:a16="http://schemas.microsoft.com/office/drawing/2014/main" id="{09727064-7629-4F97-8EE5-A2101791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1717"/>
                </a:solidFill>
              </a:defRPr>
            </a:pPr>
            <a:r>
              <a:rPr sz="3300" b="1" i="0">
                <a:solidFill>
                  <a:srgbClr val="171717"/>
                </a:solidFill>
              </a:rPr>
              <a:t>Smooth manifolds are not disentanglement proof</a:t>
            </a:r>
          </a:p>
        </p:txBody>
      </p:sp>
      <p:sp>
        <p:nvSpPr>
          <p:cNvPr id="6" name="shape-146">
            <a:extLst xmlns:a="http://schemas.openxmlformats.org/drawingml/2006/main">
              <a:ext uri="{FF2B5EF4-FFF2-40B4-BE49-F238E27FC236}">
                <a16:creationId xmlns:a16="http://schemas.microsoft.com/office/drawing/2014/main" id="{33CD0648-A3D4-4473-8F10-7C17FB2A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8966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cd0addfd3402f"/>
          <a:stretch xmlns:a="http://schemas.openxmlformats.org/drawingml/2006/main"/>
        </p:blipFill>
        <p:spPr>
          <a:xfrm xmlns:a="http://schemas.openxmlformats.org/drawingml/2006/main">
            <a:off x="2969478" y="1809750"/>
            <a:ext cx="6253045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text-147">
            <a:extLst xmlns:a="http://schemas.openxmlformats.org/drawingml/2006/main">
              <a:ext uri="{FF2B5EF4-FFF2-40B4-BE49-F238E27FC236}">
                <a16:creationId xmlns:a16="http://schemas.microsoft.com/office/drawing/2014/main" id="{19AA86EE-E114-4111-B3BF-58DB8FFA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62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A 2-D latent grid produces smooth changes in identity, pose, and digit shape.</a:t>
            </a:r>
          </a:p>
        </p:txBody>
      </p:sp>
      <p:sp>
        <p:nvSpPr>
          <p:cNvPr id="9" name="text-148">
            <a:extLst xmlns:a="http://schemas.openxmlformats.org/drawingml/2006/main">
              <a:ext uri="{FF2B5EF4-FFF2-40B4-BE49-F238E27FC236}">
                <a16:creationId xmlns:a16="http://schemas.microsoft.com/office/drawing/2014/main" id="{005362BB-1E3D-4BCB-9698-538C5866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962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 i="0">
                <a:solidFill>
                  <a:srgbClr val="9A642A"/>
                </a:solidFill>
              </a:defRPr>
            </a:pPr>
            <a:r>
              <a:rPr sz="1350" b="1" i="0">
                <a:solidFill>
                  <a:srgbClr val="9A642A"/>
                </a:solidFill>
              </a:rPr>
              <a:t>QUALITATIVE</a:t>
            </a:r>
          </a:p>
        </p:txBody>
      </p:sp>
    </p:spTree>
    <p:extLst>
      <p:ext uri="{BB962C8B-B14F-4D97-AF65-F5344CB8AC3E}">
        <p14:creationId xmlns:p14="http://schemas.microsoft.com/office/powerpoint/2010/main" val="6086143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49">
            <a:extLst xmlns:a="http://schemas.openxmlformats.org/drawingml/2006/main">
              <a:ext uri="{FF2B5EF4-FFF2-40B4-BE49-F238E27FC236}">
                <a16:creationId xmlns:a16="http://schemas.microsoft.com/office/drawing/2014/main" id="{098F20B3-A788-4E71-B5F7-AFB0260D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EVIDENCE BOUNDARY</a:t>
            </a:r>
          </a:p>
        </p:txBody>
      </p:sp>
      <p:sp>
        <p:nvSpPr>
          <p:cNvPr id="2" name="shape-150">
            <a:extLst xmlns:a="http://schemas.openxmlformats.org/drawingml/2006/main">
              <a:ext uri="{FF2B5EF4-FFF2-40B4-BE49-F238E27FC236}">
                <a16:creationId xmlns:a16="http://schemas.microsoft.com/office/drawing/2014/main" id="{9B14802E-4086-4C9F-A20E-0589FF3F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51">
            <a:extLst xmlns:a="http://schemas.openxmlformats.org/drawingml/2006/main">
              <a:ext uri="{FF2B5EF4-FFF2-40B4-BE49-F238E27FC236}">
                <a16:creationId xmlns:a16="http://schemas.microsoft.com/office/drawing/2014/main" id="{69BEA9A5-C599-4306-884E-389C9F5E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§6-7, Appendices · pp. 8-14</a:t>
            </a:r>
          </a:p>
        </p:txBody>
      </p:sp>
      <p:sp>
        <p:nvSpPr>
          <p:cNvPr id="4" name="text-152">
            <a:extLst xmlns:a="http://schemas.openxmlformats.org/drawingml/2006/main">
              <a:ext uri="{FF2B5EF4-FFF2-40B4-BE49-F238E27FC236}">
                <a16:creationId xmlns:a16="http://schemas.microsoft.com/office/drawing/2014/main" id="{4083EC7F-6238-44C4-8C5D-F5D902C6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11</a:t>
            </a:r>
          </a:p>
        </p:txBody>
      </p:sp>
      <p:sp>
        <p:nvSpPr>
          <p:cNvPr id="5" name="text-153">
            <a:extLst xmlns:a="http://schemas.openxmlformats.org/drawingml/2006/main">
              <a:ext uri="{FF2B5EF4-FFF2-40B4-BE49-F238E27FC236}">
                <a16:creationId xmlns:a16="http://schemas.microsoft.com/office/drawing/2014/main" id="{29B47D86-5D98-4F06-8097-E0BB096E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A gradient recipe—not a universal model</a:t>
            </a:r>
          </a:p>
        </p:txBody>
      </p:sp>
      <p:sp>
        <p:nvSpPr>
          <p:cNvPr id="6" name="text-154">
            <a:extLst xmlns:a="http://schemas.openxmlformats.org/drawingml/2006/main">
              <a:ext uri="{FF2B5EF4-FFF2-40B4-BE49-F238E27FC236}">
                <a16:creationId xmlns:a16="http://schemas.microsoft.com/office/drawing/2014/main" id="{9CE42462-CFCE-4159-9178-30957E3C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57B69"/>
                </a:solidFill>
              </a:defRPr>
            </a:pPr>
            <a:r>
              <a:rPr sz="1275" b="1" i="0">
                <a:solidFill>
                  <a:srgbClr val="257B69"/>
                </a:solidFill>
              </a:rPr>
              <a:t>ESTABLISHED</a:t>
            </a:r>
          </a:p>
        </p:txBody>
      </p:sp>
      <p:sp>
        <p:nvSpPr>
          <p:cNvPr id="7" name="text-155">
            <a:extLst xmlns:a="http://schemas.openxmlformats.org/drawingml/2006/main">
              <a:ext uri="{FF2B5EF4-FFF2-40B4-BE49-F238E27FC236}">
                <a16:creationId xmlns:a16="http://schemas.microsoft.com/office/drawing/2014/main" id="{B4C5CAD3-6133-420D-9D6F-6CFB4BE9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Pathwise gradients make a reparameterizable ELBO differentiable.</a:t>
            </a:r>
          </a:p>
        </p:txBody>
      </p:sp>
      <p:sp>
        <p:nvSpPr>
          <p:cNvPr id="8" name="shape-156">
            <a:extLst xmlns:a="http://schemas.openxmlformats.org/drawingml/2006/main">
              <a:ext uri="{FF2B5EF4-FFF2-40B4-BE49-F238E27FC236}">
                <a16:creationId xmlns:a16="http://schemas.microsoft.com/office/drawing/2014/main" id="{8A3F2B29-B303-4063-8D21-1275ED3A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57">
            <a:extLst xmlns:a="http://schemas.openxmlformats.org/drawingml/2006/main">
              <a:ext uri="{FF2B5EF4-FFF2-40B4-BE49-F238E27FC236}">
                <a16:creationId xmlns:a16="http://schemas.microsoft.com/office/drawing/2014/main" id="{2E2A5692-A87E-45FD-A36D-EDBC41A1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15EFB"/>
                </a:solidFill>
              </a:defRPr>
            </a:pPr>
            <a:r>
              <a:rPr sz="1275" b="1" i="0">
                <a:solidFill>
                  <a:srgbClr val="315EFB"/>
                </a:solidFill>
              </a:rPr>
              <a:t>SUPPORTED</a:t>
            </a:r>
          </a:p>
        </p:txBody>
      </p:sp>
      <p:sp>
        <p:nvSpPr>
          <p:cNvPr id="10" name="text-158">
            <a:extLst xmlns:a="http://schemas.openxmlformats.org/drawingml/2006/main">
              <a:ext uri="{FF2B5EF4-FFF2-40B4-BE49-F238E27FC236}">
                <a16:creationId xmlns:a16="http://schemas.microsoft.com/office/drawing/2014/main" id="{4B225505-BF1B-4940-9D8A-B5C34A4B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337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Amortized inference trains efficiently on the reported MLP models.</a:t>
            </a:r>
          </a:p>
        </p:txBody>
      </p:sp>
      <p:sp>
        <p:nvSpPr>
          <p:cNvPr id="11" name="shape-159">
            <a:extLst xmlns:a="http://schemas.openxmlformats.org/drawingml/2006/main">
              <a:ext uri="{FF2B5EF4-FFF2-40B4-BE49-F238E27FC236}">
                <a16:creationId xmlns:a16="http://schemas.microsoft.com/office/drawing/2014/main" id="{CA683338-E683-412D-817D-04A8D049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60">
            <a:extLst xmlns:a="http://schemas.openxmlformats.org/drawingml/2006/main">
              <a:ext uri="{FF2B5EF4-FFF2-40B4-BE49-F238E27FC236}">
                <a16:creationId xmlns:a16="http://schemas.microsoft.com/office/drawing/2014/main" id="{5DA7C262-44F7-42C1-BB82-0CC53174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9A642A"/>
                </a:solidFill>
              </a:defRPr>
            </a:pPr>
            <a:r>
              <a:rPr sz="1275" b="1" i="0">
                <a:solidFill>
                  <a:srgbClr val="9A642A"/>
                </a:solidFill>
              </a:rPr>
              <a:t>SUGGESTIVE</a:t>
            </a:r>
          </a:p>
        </p:txBody>
      </p:sp>
      <p:sp>
        <p:nvSpPr>
          <p:cNvPr id="13" name="text-161">
            <a:extLst xmlns:a="http://schemas.openxmlformats.org/drawingml/2006/main">
              <a:ext uri="{FF2B5EF4-FFF2-40B4-BE49-F238E27FC236}">
                <a16:creationId xmlns:a16="http://schemas.microsoft.com/office/drawing/2014/main" id="{B2EEC3F0-455D-427C-8A0C-B90F3C51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Smooth latent manifolds indicate useful local structure.</a:t>
            </a:r>
          </a:p>
        </p:txBody>
      </p:sp>
      <p:sp>
        <p:nvSpPr>
          <p:cNvPr id="14" name="shape-162">
            <a:extLst xmlns:a="http://schemas.openxmlformats.org/drawingml/2006/main">
              <a:ext uri="{FF2B5EF4-FFF2-40B4-BE49-F238E27FC236}">
                <a16:creationId xmlns:a16="http://schemas.microsoft.com/office/drawing/2014/main" id="{01A43159-2064-4A15-B5D4-599872B5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63">
            <a:extLst xmlns:a="http://schemas.openxmlformats.org/drawingml/2006/main">
              <a:ext uri="{FF2B5EF4-FFF2-40B4-BE49-F238E27FC236}">
                <a16:creationId xmlns:a16="http://schemas.microsoft.com/office/drawing/2014/main" id="{400AE53A-ED7F-436B-8B54-4EB4DA2A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A1493F"/>
                </a:solidFill>
              </a:defRPr>
            </a:pPr>
            <a:r>
              <a:rPr sz="1275" b="1" i="0">
                <a:solidFill>
                  <a:srgbClr val="A1493F"/>
                </a:solidFill>
              </a:rPr>
              <a:t>UNTESTED</a:t>
            </a:r>
          </a:p>
        </p:txBody>
      </p:sp>
      <p:sp>
        <p:nvSpPr>
          <p:cNvPr id="16" name="text-164">
            <a:extLst xmlns:a="http://schemas.openxmlformats.org/drawingml/2006/main">
              <a:ext uri="{FF2B5EF4-FFF2-40B4-BE49-F238E27FC236}">
                <a16:creationId xmlns:a16="http://schemas.microsoft.com/office/drawing/2014/main" id="{6C2F2133-6E3F-42BF-A311-694F68C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387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Modern sample quality, multimodal posteriors, and high-dimensional exact likelihood.</a:t>
            </a:r>
          </a:p>
        </p:txBody>
      </p:sp>
      <p:sp>
        <p:nvSpPr>
          <p:cNvPr id="17" name="shape-165">
            <a:extLst xmlns:a="http://schemas.openxmlformats.org/drawingml/2006/main">
              <a:ext uri="{FF2B5EF4-FFF2-40B4-BE49-F238E27FC236}">
                <a16:creationId xmlns:a16="http://schemas.microsoft.com/office/drawing/2014/main" id="{C5383612-A84E-47EE-94FB-B1E80C27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864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66">
            <a:extLst xmlns:a="http://schemas.openxmlformats.org/drawingml/2006/main">
              <a:ext uri="{FF2B5EF4-FFF2-40B4-BE49-F238E27FC236}">
                <a16:creationId xmlns:a16="http://schemas.microsoft.com/office/drawing/2014/main" id="{D67F9579-3575-435C-BF6E-09B8ED77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48350"/>
            <a:ext cx="834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A loose ELBO can reflect model error, posterior-family error, or amortization error.</a:t>
            </a:r>
          </a:p>
        </p:txBody>
      </p:sp>
    </p:spTree>
    <p:extLst>
      <p:ext uri="{BB962C8B-B14F-4D97-AF65-F5344CB8AC3E}">
        <p14:creationId xmlns:p14="http://schemas.microsoft.com/office/powerpoint/2010/main" val="1086939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67">
            <a:extLst xmlns:a="http://schemas.openxmlformats.org/drawingml/2006/main">
              <a:ext uri="{FF2B5EF4-FFF2-40B4-BE49-F238E27FC236}">
                <a16:creationId xmlns:a16="http://schemas.microsoft.com/office/drawing/2014/main" id="{DF77A456-0537-42EA-A8ED-BAAB960E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TAKEAWAYS</a:t>
            </a:r>
          </a:p>
        </p:txBody>
      </p:sp>
      <p:sp>
        <p:nvSpPr>
          <p:cNvPr id="2" name="shape-168">
            <a:extLst xmlns:a="http://schemas.openxmlformats.org/drawingml/2006/main">
              <a:ext uri="{FF2B5EF4-FFF2-40B4-BE49-F238E27FC236}">
                <a16:creationId xmlns:a16="http://schemas.microsoft.com/office/drawing/2014/main" id="{2365B193-4D35-4A8A-8493-923FCA92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69">
            <a:extLst xmlns:a="http://schemas.openxmlformats.org/drawingml/2006/main">
              <a:ext uri="{FF2B5EF4-FFF2-40B4-BE49-F238E27FC236}">
                <a16:creationId xmlns:a16="http://schemas.microsoft.com/office/drawing/2014/main" id="{12A4CC79-B34F-4DCE-9EE6-D9C6E15A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Auto-Encoding Variational Bayes · synthesis</a:t>
            </a:r>
          </a:p>
        </p:txBody>
      </p:sp>
      <p:sp>
        <p:nvSpPr>
          <p:cNvPr id="4" name="text-170">
            <a:extLst xmlns:a="http://schemas.openxmlformats.org/drawingml/2006/main">
              <a:ext uri="{FF2B5EF4-FFF2-40B4-BE49-F238E27FC236}">
                <a16:creationId xmlns:a16="http://schemas.microsoft.com/office/drawing/2014/main" id="{7C02644E-C886-43A4-B15A-A27E9B4A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12</a:t>
            </a:r>
          </a:p>
        </p:txBody>
      </p:sp>
      <p:sp>
        <p:nvSpPr>
          <p:cNvPr id="5" name="text-171">
            <a:extLst xmlns:a="http://schemas.openxmlformats.org/drawingml/2006/main">
              <a:ext uri="{FF2B5EF4-FFF2-40B4-BE49-F238E27FC236}">
                <a16:creationId xmlns:a16="http://schemas.microsoft.com/office/drawing/2014/main" id="{F78CDECB-76A1-45A3-806F-B8BCE036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Three ideas survived the original architecture</a:t>
            </a:r>
          </a:p>
        </p:txBody>
      </p:sp>
      <p:sp>
        <p:nvSpPr>
          <p:cNvPr id="6" name="text-172">
            <a:extLst xmlns:a="http://schemas.openxmlformats.org/drawingml/2006/main">
              <a:ext uri="{FF2B5EF4-FFF2-40B4-BE49-F238E27FC236}">
                <a16:creationId xmlns:a16="http://schemas.microsoft.com/office/drawing/2014/main" id="{0EEC562A-C683-4F7D-8231-B129A0F9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15EFB"/>
                </a:solidFill>
              </a:defRPr>
            </a:pPr>
            <a:r>
              <a:rPr sz="2250" b="1" i="0">
                <a:solidFill>
                  <a:srgbClr val="315EFB"/>
                </a:solidFill>
              </a:rPr>
              <a:t>01</a:t>
            </a:r>
          </a:p>
        </p:txBody>
      </p:sp>
      <p:sp>
        <p:nvSpPr>
          <p:cNvPr id="7" name="text-173">
            <a:extLst xmlns:a="http://schemas.openxmlformats.org/drawingml/2006/main">
              <a:ext uri="{FF2B5EF4-FFF2-40B4-BE49-F238E27FC236}">
                <a16:creationId xmlns:a16="http://schemas.microsoft.com/office/drawing/2014/main" id="{6DCAF36E-4333-4886-997B-4BB5FC5E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193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Pathwise gradients</a:t>
            </a:r>
          </a:p>
        </p:txBody>
      </p:sp>
      <p:sp>
        <p:nvSpPr>
          <p:cNvPr id="8" name="text-174">
            <a:extLst xmlns:a="http://schemas.openxmlformats.org/drawingml/2006/main">
              <a:ext uri="{FF2B5EF4-FFF2-40B4-BE49-F238E27FC236}">
                <a16:creationId xmlns:a16="http://schemas.microsoft.com/office/drawing/2014/main" id="{B72D728C-F866-41C0-9995-4751E297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384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Write randomness as fixed noise plus a differentiable transform, then backpropagate through the sampled path.</a:t>
            </a:r>
          </a:p>
        </p:txBody>
      </p:sp>
      <p:sp>
        <p:nvSpPr>
          <p:cNvPr id="9" name="shape-175">
            <a:extLst xmlns:a="http://schemas.openxmlformats.org/drawingml/2006/main">
              <a:ext uri="{FF2B5EF4-FFF2-40B4-BE49-F238E27FC236}">
                <a16:creationId xmlns:a16="http://schemas.microsoft.com/office/drawing/2014/main" id="{CFC59D22-81B8-4E2B-BF15-0B487E7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33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76">
            <a:extLst xmlns:a="http://schemas.openxmlformats.org/drawingml/2006/main">
              <a:ext uri="{FF2B5EF4-FFF2-40B4-BE49-F238E27FC236}">
                <a16:creationId xmlns:a16="http://schemas.microsoft.com/office/drawing/2014/main" id="{7785C4A9-1088-4AD2-A4BD-E71E29D0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15EFB"/>
                </a:solidFill>
              </a:defRPr>
            </a:pPr>
            <a:r>
              <a:rPr sz="2250" b="1" i="0">
                <a:solidFill>
                  <a:srgbClr val="315EFB"/>
                </a:solidFill>
              </a:rPr>
              <a:t>02</a:t>
            </a:r>
          </a:p>
        </p:txBody>
      </p:sp>
      <p:sp>
        <p:nvSpPr>
          <p:cNvPr id="11" name="text-177">
            <a:extLst xmlns:a="http://schemas.openxmlformats.org/drawingml/2006/main">
              <a:ext uri="{FF2B5EF4-FFF2-40B4-BE49-F238E27FC236}">
                <a16:creationId xmlns:a16="http://schemas.microsoft.com/office/drawing/2014/main" id="{3995D35D-BF0F-492A-A2DF-A53DE80A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861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Amortized inference</a:t>
            </a:r>
          </a:p>
        </p:txBody>
      </p:sp>
      <p:sp>
        <p:nvSpPr>
          <p:cNvPr id="12" name="text-178">
            <a:extLst xmlns:a="http://schemas.openxmlformats.org/drawingml/2006/main">
              <a:ext uri="{FF2B5EF4-FFF2-40B4-BE49-F238E27FC236}">
                <a16:creationId xmlns:a16="http://schemas.microsoft.com/office/drawing/2014/main" id="{45440562-B189-4BE4-AEBA-C5E92290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052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Learn one qφ(z|x) across datapoints instead of optimizing every posterior from scratch.</a:t>
            </a:r>
          </a:p>
        </p:txBody>
      </p:sp>
      <p:sp>
        <p:nvSpPr>
          <p:cNvPr id="13" name="shape-179">
            <a:extLst xmlns:a="http://schemas.openxmlformats.org/drawingml/2006/main">
              <a:ext uri="{FF2B5EF4-FFF2-40B4-BE49-F238E27FC236}">
                <a16:creationId xmlns:a16="http://schemas.microsoft.com/office/drawing/2014/main" id="{F2AA0C55-1AB8-4613-B64B-918EF945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80">
            <a:extLst xmlns:a="http://schemas.openxmlformats.org/drawingml/2006/main">
              <a:ext uri="{FF2B5EF4-FFF2-40B4-BE49-F238E27FC236}">
                <a16:creationId xmlns:a16="http://schemas.microsoft.com/office/drawing/2014/main" id="{65C6A804-5118-4506-9EA9-B496118A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15EFB"/>
                </a:solidFill>
              </a:defRPr>
            </a:pPr>
            <a:r>
              <a:rPr sz="2250" b="1" i="0">
                <a:solidFill>
                  <a:srgbClr val="315EFB"/>
                </a:solidFill>
              </a:rPr>
              <a:t>03</a:t>
            </a:r>
          </a:p>
        </p:txBody>
      </p:sp>
      <p:sp>
        <p:nvSpPr>
          <p:cNvPr id="15" name="text-181">
            <a:extLst xmlns:a="http://schemas.openxmlformats.org/drawingml/2006/main">
              <a:ext uri="{FF2B5EF4-FFF2-40B4-BE49-F238E27FC236}">
                <a16:creationId xmlns:a16="http://schemas.microsoft.com/office/drawing/2014/main" id="{A558DC01-D79E-42F5-87CD-2B61F1EC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529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ELBO training</a:t>
            </a:r>
          </a:p>
        </p:txBody>
      </p:sp>
      <p:sp>
        <p:nvSpPr>
          <p:cNvPr id="16" name="text-182">
            <a:extLst xmlns:a="http://schemas.openxmlformats.org/drawingml/2006/main">
              <a:ext uri="{FF2B5EF4-FFF2-40B4-BE49-F238E27FC236}">
                <a16:creationId xmlns:a16="http://schemas.microsoft.com/office/drawing/2014/main" id="{F6A2419A-C3F9-4436-A720-06DE56E3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Jointly fit the generative and inference models while keeping posterior mismatch explicit.</a:t>
            </a:r>
          </a:p>
        </p:txBody>
      </p:sp>
      <p:sp>
        <p:nvSpPr>
          <p:cNvPr id="17" name="text-183">
            <a:extLst xmlns:a="http://schemas.openxmlformats.org/drawingml/2006/main">
              <a:ext uri="{FF2B5EF4-FFF2-40B4-BE49-F238E27FC236}">
                <a16:creationId xmlns:a16="http://schemas.microsoft.com/office/drawing/2014/main" id="{4BCDD1B0-FAE3-4AE1-B5AE-49EEA799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10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DISCUSSION</a:t>
            </a:r>
          </a:p>
        </p:txBody>
      </p:sp>
      <p:sp>
        <p:nvSpPr>
          <p:cNvPr id="18" name="text-184">
            <a:extLst xmlns:a="http://schemas.openxmlformats.org/drawingml/2006/main">
              <a:ext uri="{FF2B5EF4-FFF2-40B4-BE49-F238E27FC236}">
                <a16:creationId xmlns:a16="http://schemas.microsoft.com/office/drawing/2014/main" id="{BA6CF437-77B3-482A-91EE-8A5E4930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531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Which failure in a modern VAE comes from the decoder, the posterior family, or amortization?</a:t>
            </a:r>
          </a:p>
        </p:txBody>
      </p:sp>
    </p:spTree>
    <p:extLst>
      <p:ext uri="{BB962C8B-B14F-4D97-AF65-F5344CB8AC3E}">
        <p14:creationId xmlns:p14="http://schemas.microsoft.com/office/powerpoint/2010/main" val="606627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2026-08-22T02:35:17.8310000Z</dcterms:created>
  <dcterms:modified xsi:type="dcterms:W3CDTF">2026-08-22T02:35:17.8310000Z</dcterms:modified>
</coreProperties>
</file>