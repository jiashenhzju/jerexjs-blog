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cdf61f8891429b" /><Relationship Type="http://schemas.openxmlformats.org/officeDocument/2006/relationships/extended-properties" Target="/docProps/app.xml" Id="Rc5d5731780b042ac" /><Relationship Type="http://schemas.openxmlformats.org/officeDocument/2006/relationships/officeDocument" Target="/ppt/presentation.xml" Id="Rc14a4847ad0846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e6d7cc28d642d2"/>
  </p:sldMasterIdLst>
  <p:notesMasterIdLst>
    <p:notesMasterId xmlns:r="http://schemas.openxmlformats.org/officeDocument/2006/relationships" r:id="Ra9e191b21d7f4904"/>
  </p:notesMasterIdLst>
  <p:sldIdLst>
    <p:sldId xmlns:r="http://schemas.openxmlformats.org/officeDocument/2006/relationships" id="256" r:id="R742d43ee4a2a42e5"/>
    <p:sldId xmlns:r="http://schemas.openxmlformats.org/officeDocument/2006/relationships" id="257" r:id="R9c3df1c78484494e"/>
    <p:sldId xmlns:r="http://schemas.openxmlformats.org/officeDocument/2006/relationships" id="258" r:id="R960bfa5cde544da4"/>
    <p:sldId xmlns:r="http://schemas.openxmlformats.org/officeDocument/2006/relationships" id="259" r:id="R537efbb9598547ad"/>
    <p:sldId xmlns:r="http://schemas.openxmlformats.org/officeDocument/2006/relationships" id="260" r:id="R1e57e3db871d4050"/>
    <p:sldId xmlns:r="http://schemas.openxmlformats.org/officeDocument/2006/relationships" id="261" r:id="R2a850572595e4537"/>
    <p:sldId xmlns:r="http://schemas.openxmlformats.org/officeDocument/2006/relationships" id="262" r:id="R38babec400bd4ba4"/>
    <p:sldId xmlns:r="http://schemas.openxmlformats.org/officeDocument/2006/relationships" id="263" r:id="Rce8de69264554e79"/>
    <p:sldId xmlns:r="http://schemas.openxmlformats.org/officeDocument/2006/relationships" id="264" r:id="R36f5fdff2ba44cf5"/>
    <p:sldId xmlns:r="http://schemas.openxmlformats.org/officeDocument/2006/relationships" id="265" r:id="R9e3c6e0d6bd24455"/>
    <p:sldId xmlns:r="http://schemas.openxmlformats.org/officeDocument/2006/relationships" id="266" r:id="R8c936f4966b74acb"/>
    <p:sldId xmlns:r="http://schemas.openxmlformats.org/officeDocument/2006/relationships" id="267" r:id="R5b61e1afcf974e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044f47bdc14457" /><Relationship Type="http://schemas.openxmlformats.org/officeDocument/2006/relationships/slideMaster" Target="/ppt/slideMasters/slideMaster1.xml" Id="R0ce6d7cc28d642d2" /><Relationship Type="http://schemas.openxmlformats.org/officeDocument/2006/relationships/notesMaster" Target="/ppt/notesMasters/notesMaster1.xml" Id="Ra9e191b21d7f4904" /><Relationship Type="http://schemas.openxmlformats.org/officeDocument/2006/relationships/presProps" Target="/ppt/presProps.xml" Id="R8f133fc4aed14f2b" /><Relationship Type="http://schemas.openxmlformats.org/officeDocument/2006/relationships/tableStyles" Target="/ppt/tableStyles.xml" Id="R508f4619bfd84530" /><Relationship Type="http://schemas.openxmlformats.org/officeDocument/2006/relationships/slide" Target="/ppt/slides/slide1.xml" Id="R742d43ee4a2a42e5" /><Relationship Type="http://schemas.openxmlformats.org/officeDocument/2006/relationships/slide" Target="/ppt/slides/slide2.xml" Id="R9c3df1c78484494e" /><Relationship Type="http://schemas.openxmlformats.org/officeDocument/2006/relationships/slide" Target="/ppt/slides/slide3.xml" Id="R960bfa5cde544da4" /><Relationship Type="http://schemas.openxmlformats.org/officeDocument/2006/relationships/slide" Target="/ppt/slides/slide4.xml" Id="R537efbb9598547ad" /><Relationship Type="http://schemas.openxmlformats.org/officeDocument/2006/relationships/slide" Target="/ppt/slides/slide5.xml" Id="R1e57e3db871d4050" /><Relationship Type="http://schemas.openxmlformats.org/officeDocument/2006/relationships/slide" Target="/ppt/slides/slide6.xml" Id="R2a850572595e4537" /><Relationship Type="http://schemas.openxmlformats.org/officeDocument/2006/relationships/slide" Target="/ppt/slides/slide7.xml" Id="R38babec400bd4ba4" /><Relationship Type="http://schemas.openxmlformats.org/officeDocument/2006/relationships/slide" Target="/ppt/slides/slide8.xml" Id="Rce8de69264554e79" /><Relationship Type="http://schemas.openxmlformats.org/officeDocument/2006/relationships/slide" Target="/ppt/slides/slide9.xml" Id="R36f5fdff2ba44cf5" /><Relationship Type="http://schemas.openxmlformats.org/officeDocument/2006/relationships/slide" Target="/ppt/slides/slide10.xml" Id="R9e3c6e0d6bd24455" /><Relationship Type="http://schemas.openxmlformats.org/officeDocument/2006/relationships/slide" Target="/ppt/slides/slide11.xml" Id="R8c936f4966b74acb" /><Relationship Type="http://schemas.openxmlformats.org/officeDocument/2006/relationships/slide" Target="/ppt/slides/slide12.xml" Id="R5b61e1afcf974e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c3e5823bba40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04e06cc9ec4bb3" /><Relationship Type="http://schemas.openxmlformats.org/officeDocument/2006/relationships/notesMaster" Target="/ppt/notesMasters/notesMaster1.xml" Id="R479585ebd20e4c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b76f19b6b74fbf" /><Relationship Type="http://schemas.openxmlformats.org/officeDocument/2006/relationships/notesMaster" Target="/ppt/notesMasters/notesMaster1.xml" Id="R907108d88a6144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9497bc579f48ca" /><Relationship Type="http://schemas.openxmlformats.org/officeDocument/2006/relationships/notesMaster" Target="/ppt/notesMasters/notesMaster1.xml" Id="R43f54f5222cc45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6d95d35e634108" /><Relationship Type="http://schemas.openxmlformats.org/officeDocument/2006/relationships/notesMaster" Target="/ppt/notesMasters/notesMaster1.xml" Id="R4dbeede4a67140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f53e488ac94bdc" /><Relationship Type="http://schemas.openxmlformats.org/officeDocument/2006/relationships/notesMaster" Target="/ppt/notesMasters/notesMaster1.xml" Id="R5f0d788eefb742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a4a6d794a347b2" /><Relationship Type="http://schemas.openxmlformats.org/officeDocument/2006/relationships/notesMaster" Target="/ppt/notesMasters/notesMaster1.xml" Id="R8db7dc2f917d4c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9120a8f7fb4789" /><Relationship Type="http://schemas.openxmlformats.org/officeDocument/2006/relationships/notesMaster" Target="/ppt/notesMasters/notesMaster1.xml" Id="R87bb3121aa9746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8186fc65a74f73" /><Relationship Type="http://schemas.openxmlformats.org/officeDocument/2006/relationships/notesMaster" Target="/ppt/notesMasters/notesMaster1.xml" Id="R97b3d6e2b7f449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1363246bb04187" /><Relationship Type="http://schemas.openxmlformats.org/officeDocument/2006/relationships/notesMaster" Target="/ppt/notesMasters/notesMaster1.xml" Id="Rec13696c083644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92707a7f3a4629" /><Relationship Type="http://schemas.openxmlformats.org/officeDocument/2006/relationships/notesMaster" Target="/ppt/notesMasters/notesMaster1.xml" Id="R37dedc9dbee540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4c38f2d1174ddc" /><Relationship Type="http://schemas.openxmlformats.org/officeDocument/2006/relationships/notesMaster" Target="/ppt/notesMasters/notesMaster1.xml" Id="R62d6ae90925c4c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69b19a583024d45" /><Relationship Type="http://schemas.openxmlformats.org/officeDocument/2006/relationships/notesMaster" Target="/ppt/notesMasters/notesMaster1.xml" Id="R2aebf1972fc643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strict definition: real-time means perceiving during generation, not merely accepting streaming input between replies.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/Users/xnnxax/projects/jerexjs-blog/local-papers/MOSS-VL-2608.pdf, p. 1, title and abstract, accessed 2026-08-20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capability ladder to isolate the paper's object. The public benchmarks later quantify L2-L4; L5 is the higher bar.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/Users/xnnxax/projects/jerexjs-blog/local-papers/MOSS-VL-2608.pdf, pp. 1-3, §1 and Table 1, accessed 2026-08-20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paper as co-design. Architecture enables concurrency; data and loss install response timing; runtime preserves the same alternating contract.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/Users/xnnxax/projects/jerexjs-blog/local-papers/MOSS-VL-2608.pdf, pp. 1-3, §1, accessed 2026-08-20</a:t>
            </a:r>
          </a:p>
          <a:p xmlns:a="http://schemas.openxmlformats.org/drawingml/2006/main">
            <a:r>
              <a:t>- /Users/xnnxax/projects/jerexjs-blog/local-papers/MOSS-VL-2608.pdf, pp. 14-15, §7, accessed 2026-08-20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language decoder never self-attends over visual patch tokens. New frames append KV to 12 gated cross-attention layers, allowing vision to update without rebuilding the decoded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/Users/xnnxax/projects/jerexjs-blog/local-papers/MOSS-VL-2608.pdf, p. 4, Figure 2 and §2.1-§2.2, accessed 2026-08-20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logical sequence and physical time separate. XRoPE provides cross-modal order; timestamp tokens provide seconds, which positions alone cannot encode under variable frame rates.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/Users/xnnxax/projects/jerexjs-blog/local-papers/MOSS-VL-2608.pdf, p. 5, Figure 3 and §2.3-§2.4, accessed 2026-08-20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Realtime-SFT concentrates all interaction-specific choices in the final stage. It is only 2.49% of total tokens, but 34.8B tokens and 0.56M samples are still substantial.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/Users/xnnxax/projects/jerexjs-blog/local-papers/MOSS-VL-2608.pdf, p. 6, Table 4, accessed 2026-08-20</a:t>
            </a:r>
          </a:p>
          <a:p xmlns:a="http://schemas.openxmlformats.org/drawingml/2006/main">
            <a:r>
              <a:t>- /Users/xnnxax/projects/jerexjs-blog/local-papers/MOSS-VL-2608.pdf, pp. 8-9, §4.2-§4.3, accessed 2026-08-20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frame creates a decision slot. Realtime-SFT unfolds responses across slots and reweights rare speaking states, directly supervising timing and mid-response updates.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/Users/xnnxax/projects/jerexjs-blog/local-papers/MOSS-VL-2608.pdf, pp. 8-9, §4.2-§4.3 and Eq. (2), accessed 2026-08-20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controlled comparison shares the Qwen3-8B language backbone and serving stack. The widening gap is consistent with moving visual tokens outside the decoded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/Users/xnnxax/projects/jerexjs-blog/local-papers/MOSS-VL-2608.pdf, p. 13, Figure 4 and §6.3, accessed 2026-08-20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subset pattern matters more than a single average: proactive alerting, proactive output, and forward active responding all improve. Comparisons still inherit different model protocols and budgets.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/Users/xnnxax/projects/jerexjs-blog/local-papers/MOSS-VL-2608.pdf, p. 2, Figure 1, accessed 2026-08-20</a:t>
            </a:r>
          </a:p>
          <a:p xmlns:a="http://schemas.openxmlformats.org/drawingml/2006/main">
            <a:r>
              <a:t>- /Users/xnnxax/projects/jerexjs-blog/local-papers/MOSS-VL-2608.pdf, pp. 12-13, Table 6 and §6.2, accessed 2026-08-20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promote architecture capability into validated behavior. Existing public suites cover L2-L4. The paper explicitly treats L5 as qualitative because no benchmark measures perception during generation.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/Users/xnnxax/projects/jerexjs-blog/local-papers/MOSS-VL-2608.pdf, pp. 12-13, §6.2, accessed 2026-08-20</a:t>
            </a:r>
          </a:p>
          <a:p xmlns:a="http://schemas.openxmlformats.org/drawingml/2006/main">
            <a:r>
              <a:t>- /Users/xnnxax/projects/jerexjs-blog/local-papers/MOSS-VL-2608.pdf, pp. 14-15, §7, accessed 2026-08-20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two released sessions as evidence of intended behavior only. They do not estimate reliability, revision latency, or failure frequency.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/Users/xnnxax/projects/jerexjs-blog/local-papers/MOSS-VL-2608.pdf, p. 14, Figure 5 and §6.4, accessed 2026-08-20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decisive experiment: compare blind generation, buffered restart, and true concurrent visual KV under matched frame and language budgets.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/Users/xnnxax/projects/jerexjs-blog/local-papers/MOSS-VL-2608.pdf, p. 1, abstract, accessed 2026-08-20</a:t>
            </a:r>
          </a:p>
          <a:p xmlns:a="http://schemas.openxmlformats.org/drawingml/2006/main">
            <a:r>
              <a:t>- /Users/xnnxax/projects/jerexjs-blog/local-papers/MOSS-VL-2608.pdf, pp. 14-15, §7, accessed 2026-08-20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590c671be44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6dbdce04f042e5" /><Relationship Type="http://schemas.openxmlformats.org/officeDocument/2006/relationships/slideLayout" Target="/ppt/slideLayouts/slideLayout1.xml" Id="Ra6c5d1baad134c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c5d1baad134c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79437af4947f4" /><Relationship Type="http://schemas.openxmlformats.org/officeDocument/2006/relationships/notesSlide" Target="/ppt/notesSlides/notesSlide1.xml" Id="Rb63efc88780241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b9b7e97744926" /><Relationship Type="http://schemas.openxmlformats.org/officeDocument/2006/relationships/notesSlide" Target="/ppt/notesSlides/notesSlide2.xml" Id="Rf9bdc12af7e643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9b02320a84b67" /><Relationship Type="http://schemas.openxmlformats.org/officeDocument/2006/relationships/notesSlide" Target="/ppt/notesSlides/notesSlide3.xml" Id="R01b806e1366247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46378208045a8" /><Relationship Type="http://schemas.openxmlformats.org/officeDocument/2006/relationships/image" Target="/ppt/media/image.png" Id="Rcdd44fe72e1544de" /><Relationship Type="http://schemas.openxmlformats.org/officeDocument/2006/relationships/notesSlide" Target="/ppt/notesSlides/notesSlide4.xml" Id="R8e1326877f4146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6b10203854343" /><Relationship Type="http://schemas.openxmlformats.org/officeDocument/2006/relationships/image" Target="/ppt/media/image2.png" Id="R0b29fea60449483f" /><Relationship Type="http://schemas.openxmlformats.org/officeDocument/2006/relationships/notesSlide" Target="/ppt/notesSlides/notesSlide5.xml" Id="Rae2515d0ad4146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015af8ac04477" /><Relationship Type="http://schemas.openxmlformats.org/officeDocument/2006/relationships/image" Target="/ppt/media/image3.png" Id="Rae324a778f744d68" /><Relationship Type="http://schemas.openxmlformats.org/officeDocument/2006/relationships/notesSlide" Target="/ppt/notesSlides/notesSlide6.xml" Id="R02fc6d14b96846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50f93d15f4d53" /><Relationship Type="http://schemas.openxmlformats.org/officeDocument/2006/relationships/notesSlide" Target="/ppt/notesSlides/notesSlide7.xml" Id="Rdd8c1068f3eb46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59fa267cf4b88" /><Relationship Type="http://schemas.openxmlformats.org/officeDocument/2006/relationships/image" Target="/ppt/media/image4.png" Id="R3dc6ecf6a7f8402b" /><Relationship Type="http://schemas.openxmlformats.org/officeDocument/2006/relationships/notesSlide" Target="/ppt/notesSlides/notesSlide8.xml" Id="R2acd3309df3440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9cbf06e094f04" /><Relationship Type="http://schemas.openxmlformats.org/officeDocument/2006/relationships/image" Target="/ppt/media/image5.png" Id="Ra8b65b3b6e0d4cba" /><Relationship Type="http://schemas.openxmlformats.org/officeDocument/2006/relationships/notesSlide" Target="/ppt/notesSlides/notesSlide9.xml" Id="Rdb365be6274e42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8bb77eec249f7" /><Relationship Type="http://schemas.openxmlformats.org/officeDocument/2006/relationships/notesSlide" Target="/ppt/notesSlides/notesSlide10.xml" Id="Ra172663c676f4bf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eb9dc0ba54ebd" /><Relationship Type="http://schemas.openxmlformats.org/officeDocument/2006/relationships/image" Target="/ppt/media/image6.png" Id="R4b80240386d24c30" /><Relationship Type="http://schemas.openxmlformats.org/officeDocument/2006/relationships/notesSlide" Target="/ppt/notesSlides/notesSlide11.xml" Id="R5949eb4c07da41a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6bf0e97354298" /><Relationship Type="http://schemas.openxmlformats.org/officeDocument/2006/relationships/notesSlide" Target="/ppt/notesSlides/notesSlide12.xml" Id="R9e76c5facfca4d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04">
            <a:extLst xmlns:a="http://schemas.openxmlformats.org/drawingml/2006/main">
              <a:ext uri="{FF2B5EF4-FFF2-40B4-BE49-F238E27FC236}">
                <a16:creationId xmlns:a16="http://schemas.microsoft.com/office/drawing/2014/main" id="{62AE43B2-A498-4207-B460-233F6E35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PAPER TALK · REAL-TIME MULTIMODAL MODELS · 2026</a:t>
            </a:r>
          </a:p>
        </p:txBody>
      </p:sp>
      <p:sp>
        <p:nvSpPr>
          <p:cNvPr id="2" name="text-205">
            <a:extLst xmlns:a="http://schemas.openxmlformats.org/drawingml/2006/main">
              <a:ext uri="{FF2B5EF4-FFF2-40B4-BE49-F238E27FC236}">
                <a16:creationId xmlns:a16="http://schemas.microsoft.com/office/drawing/2014/main" id="{4CB37E85-DBDD-42FA-9A97-F1B8367B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09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 b="1" i="0">
                <a:solidFill>
                  <a:srgbClr val="171717"/>
                </a:solidFill>
              </a:defRPr>
            </a:pPr>
            <a:r>
              <a:rPr sz="6000" b="1" i="0">
                <a:solidFill>
                  <a:srgbClr val="171717"/>
                </a:solidFill>
              </a:rPr>
              <a:t>MOSS-VL</a:t>
            </a:r>
          </a:p>
        </p:txBody>
      </p:sp>
      <p:sp>
        <p:nvSpPr>
          <p:cNvPr id="3" name="text-206">
            <a:extLst xmlns:a="http://schemas.openxmlformats.org/drawingml/2006/main">
              <a:ext uri="{FF2B5EF4-FFF2-40B4-BE49-F238E27FC236}">
                <a16:creationId xmlns:a16="http://schemas.microsoft.com/office/drawing/2014/main" id="{83F2F921-A6B6-4DC7-9E82-E84B6403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704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6F716E"/>
                </a:solidFill>
              </a:defRPr>
            </a:pPr>
            <a:r>
              <a:rPr sz="2550" b="0" i="0">
                <a:solidFill>
                  <a:srgbClr val="6F716E"/>
                </a:solidFill>
              </a:rPr>
              <a:t>Technical Report</a:t>
            </a:r>
          </a:p>
        </p:txBody>
      </p:sp>
      <p:sp>
        <p:nvSpPr>
          <p:cNvPr id="4" name="shape-207">
            <a:extLst xmlns:a="http://schemas.openxmlformats.org/drawingml/2006/main">
              <a:ext uri="{FF2B5EF4-FFF2-40B4-BE49-F238E27FC236}">
                <a16:creationId xmlns:a16="http://schemas.microsoft.com/office/drawing/2014/main" id="{5DB9D49D-3167-45A3-AE40-87AE036A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208">
            <a:extLst xmlns:a="http://schemas.openxmlformats.org/drawingml/2006/main">
              <a:ext uri="{FF2B5EF4-FFF2-40B4-BE49-F238E27FC236}">
                <a16:creationId xmlns:a16="http://schemas.microsoft.com/office/drawing/2014/main" id="{5BDEE79D-CC4C-4323-BA55-C08198FF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9525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 i="0">
                <a:solidFill>
                  <a:srgbClr val="171717"/>
                </a:solidFill>
              </a:defRPr>
            </a:pPr>
            <a:r>
              <a:rPr sz="2250" b="1" i="0">
                <a:solidFill>
                  <a:srgbClr val="171717"/>
                </a:solidFill>
              </a:rPr>
              <a:t>An open VLM stack designed to keep perceiving while it speaks - from architecture and training to runtime.</a:t>
            </a:r>
          </a:p>
        </p:txBody>
      </p:sp>
      <p:sp>
        <p:nvSpPr>
          <p:cNvPr id="6" name="text-209">
            <a:extLst xmlns:a="http://schemas.openxmlformats.org/drawingml/2006/main">
              <a:ext uri="{FF2B5EF4-FFF2-40B4-BE49-F238E27FC236}">
                <a16:creationId xmlns:a16="http://schemas.microsoft.com/office/drawing/2014/main" id="{2DFE9AA1-52B6-489C-BC81-DA4C9261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95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6F716E"/>
                </a:solidFill>
              </a:defRPr>
            </a:pPr>
            <a:r>
              <a:rPr sz="1350" b="0" i="0">
                <a:solidFill>
                  <a:srgbClr val="6F716E"/>
                </a:solidFill>
              </a:rPr>
              <a:t>OpenMOSS Team</a:t>
            </a:r>
          </a:p>
        </p:txBody>
      </p:sp>
      <p:sp>
        <p:nvSpPr>
          <p:cNvPr id="7" name="text-210">
            <a:extLst xmlns:a="http://schemas.openxmlformats.org/drawingml/2006/main">
              <a:ext uri="{FF2B5EF4-FFF2-40B4-BE49-F238E27FC236}">
                <a16:creationId xmlns:a16="http://schemas.microsoft.com/office/drawing/2014/main" id="{C00353D5-1E2F-4879-9138-B2B11C31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198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F716E"/>
                </a:solidFill>
              </a:defRPr>
            </a:pPr>
            <a:r>
              <a:rPr sz="1200" b="0" i="0">
                <a:solidFill>
                  <a:srgbClr val="6F716E"/>
                </a:solidFill>
              </a:rPr>
              <a:t>Fudan University · Shanghai Innovation Institute · MOSI Intelligence</a:t>
            </a:r>
          </a:p>
        </p:txBody>
      </p:sp>
      <p:sp>
        <p:nvSpPr>
          <p:cNvPr id="8" name="text-211">
            <a:extLst xmlns:a="http://schemas.openxmlformats.org/drawingml/2006/main">
              <a:ext uri="{FF2B5EF4-FFF2-40B4-BE49-F238E27FC236}">
                <a16:creationId xmlns:a16="http://schemas.microsoft.com/office/drawing/2014/main" id="{3AB807BA-CEB9-45AA-9D18-EB1A776A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0198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05003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212">
            <a:extLst xmlns:a="http://schemas.openxmlformats.org/drawingml/2006/main">
              <a:ext uri="{FF2B5EF4-FFF2-40B4-BE49-F238E27FC236}">
                <a16:creationId xmlns:a16="http://schemas.microsoft.com/office/drawing/2014/main" id="{F7ECE0C7-0AA2-4E18-9A54-BD316BBF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PROBLEM</a:t>
            </a:r>
          </a:p>
        </p:txBody>
      </p:sp>
      <p:sp>
        <p:nvSpPr>
          <p:cNvPr id="2" name="shape-213">
            <a:extLst xmlns:a="http://schemas.openxmlformats.org/drawingml/2006/main">
              <a:ext uri="{FF2B5EF4-FFF2-40B4-BE49-F238E27FC236}">
                <a16:creationId xmlns:a16="http://schemas.microsoft.com/office/drawing/2014/main" id="{5F7F2FE8-1841-4612-8C56-C2A753B6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14">
            <a:extLst xmlns:a="http://schemas.openxmlformats.org/drawingml/2006/main">
              <a:ext uri="{FF2B5EF4-FFF2-40B4-BE49-F238E27FC236}">
                <a16:creationId xmlns:a16="http://schemas.microsoft.com/office/drawing/2014/main" id="{2DC50397-0B0F-46E2-8740-1E0E82C0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F716E"/>
                </a:solidFill>
              </a:defRPr>
            </a:pPr>
            <a:r>
              <a:rPr sz="1200" b="0" i="0">
                <a:solidFill>
                  <a:srgbClr val="6F716E"/>
                </a:solidFill>
              </a:rPr>
              <a:t>Paper Table 1, §1 · pp. 1-3</a:t>
            </a:r>
          </a:p>
        </p:txBody>
      </p:sp>
      <p:sp>
        <p:nvSpPr>
          <p:cNvPr id="4" name="text-215">
            <a:extLst xmlns:a="http://schemas.openxmlformats.org/drawingml/2006/main">
              <a:ext uri="{FF2B5EF4-FFF2-40B4-BE49-F238E27FC236}">
                <a16:creationId xmlns:a16="http://schemas.microsoft.com/office/drawing/2014/main" id="{F57DE00B-F0FB-4795-AB58-1867F8B7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77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02</a:t>
            </a:r>
          </a:p>
        </p:txBody>
      </p:sp>
      <p:sp>
        <p:nvSpPr>
          <p:cNvPr id="5" name="text-216">
            <a:extLst xmlns:a="http://schemas.openxmlformats.org/drawingml/2006/main">
              <a:ext uri="{FF2B5EF4-FFF2-40B4-BE49-F238E27FC236}">
                <a16:creationId xmlns:a16="http://schemas.microsoft.com/office/drawing/2014/main" id="{7E823456-6B8A-48E9-B221-8B24C33D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171717"/>
                </a:solidFill>
              </a:defRPr>
            </a:pPr>
            <a:r>
              <a:rPr sz="3600" b="1" i="0">
                <a:solidFill>
                  <a:srgbClr val="171717"/>
                </a:solidFill>
              </a:rPr>
              <a:t>Streaming input is not real-time interaction</a:t>
            </a:r>
          </a:p>
        </p:txBody>
      </p:sp>
      <p:sp>
        <p:nvSpPr>
          <p:cNvPr id="6" name="shape-217">
            <a:extLst xmlns:a="http://schemas.openxmlformats.org/drawingml/2006/main">
              <a:ext uri="{FF2B5EF4-FFF2-40B4-BE49-F238E27FC236}">
                <a16:creationId xmlns:a16="http://schemas.microsoft.com/office/drawing/2014/main" id="{D9A3E22D-0872-45E9-B911-F72848CE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19431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8E1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218">
            <a:extLst xmlns:a="http://schemas.openxmlformats.org/drawingml/2006/main">
              <a:ext uri="{FF2B5EF4-FFF2-40B4-BE49-F238E27FC236}">
                <a16:creationId xmlns:a16="http://schemas.microsoft.com/office/drawing/2014/main" id="{B2417F45-A394-4B39-AD9A-6CA56F57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71717"/>
                </a:solidFill>
              </a:defRPr>
            </a:pPr>
            <a:r>
              <a:rPr sz="2100" b="1" i="0">
                <a:solidFill>
                  <a:srgbClr val="171717"/>
                </a:solidFill>
              </a:rPr>
              <a:t>L1</a:t>
            </a:r>
          </a:p>
        </p:txBody>
      </p:sp>
      <p:sp>
        <p:nvSpPr>
          <p:cNvPr id="8" name="text-219">
            <a:extLst xmlns:a="http://schemas.openxmlformats.org/drawingml/2006/main">
              <a:ext uri="{FF2B5EF4-FFF2-40B4-BE49-F238E27FC236}">
                <a16:creationId xmlns:a16="http://schemas.microsoft.com/office/drawing/2014/main" id="{723E8ED1-4AB1-4493-BDB9-A314097A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171717"/>
                </a:solidFill>
              </a:defRPr>
            </a:pPr>
            <a:r>
              <a:rPr sz="1425" b="1" i="0">
                <a:solidFill>
                  <a:srgbClr val="171717"/>
                </a:solidFill>
              </a:rPr>
              <a:t>offline</a:t>
            </a:r>
          </a:p>
        </p:txBody>
      </p:sp>
      <p:sp>
        <p:nvSpPr>
          <p:cNvPr id="9" name="shape-220">
            <a:extLst xmlns:a="http://schemas.openxmlformats.org/drawingml/2006/main">
              <a:ext uri="{FF2B5EF4-FFF2-40B4-BE49-F238E27FC236}">
                <a16:creationId xmlns:a16="http://schemas.microsoft.com/office/drawing/2014/main" id="{3BD7B31A-C42D-4A32-82E7-69804507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09850"/>
            <a:ext cx="19431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221">
            <a:extLst xmlns:a="http://schemas.openxmlformats.org/drawingml/2006/main">
              <a:ext uri="{FF2B5EF4-FFF2-40B4-BE49-F238E27FC236}">
                <a16:creationId xmlns:a16="http://schemas.microsoft.com/office/drawing/2014/main" id="{D657B98C-2DB1-466D-8D9F-FE254AD6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003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315EFB"/>
                </a:solidFill>
              </a:defRPr>
            </a:pPr>
            <a:r>
              <a:rPr sz="2100" b="1" i="0">
                <a:solidFill>
                  <a:srgbClr val="315EFB"/>
                </a:solidFill>
              </a:rPr>
              <a:t>L2</a:t>
            </a:r>
          </a:p>
        </p:txBody>
      </p:sp>
      <p:sp>
        <p:nvSpPr>
          <p:cNvPr id="11" name="text-222">
            <a:extLst xmlns:a="http://schemas.openxmlformats.org/drawingml/2006/main">
              <a:ext uri="{FF2B5EF4-FFF2-40B4-BE49-F238E27FC236}">
                <a16:creationId xmlns:a16="http://schemas.microsoft.com/office/drawing/2014/main" id="{24C67526-7170-4C43-8652-C9924C60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3850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315EFB"/>
                </a:solidFill>
              </a:defRPr>
            </a:pPr>
            <a:r>
              <a:rPr sz="1425" b="1" i="0">
                <a:solidFill>
                  <a:srgbClr val="315EFB"/>
                </a:solidFill>
              </a:rPr>
              <a:t>streaming input</a:t>
            </a:r>
          </a:p>
        </p:txBody>
      </p:sp>
      <p:sp>
        <p:nvSpPr>
          <p:cNvPr id="12" name="shape-223">
            <a:extLst xmlns:a="http://schemas.openxmlformats.org/drawingml/2006/main">
              <a:ext uri="{FF2B5EF4-FFF2-40B4-BE49-F238E27FC236}">
                <a16:creationId xmlns:a16="http://schemas.microsoft.com/office/drawing/2014/main" id="{B2B81FCE-B5D6-441B-AF49-4F641C01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09850"/>
            <a:ext cx="19431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224">
            <a:extLst xmlns:a="http://schemas.openxmlformats.org/drawingml/2006/main">
              <a:ext uri="{FF2B5EF4-FFF2-40B4-BE49-F238E27FC236}">
                <a16:creationId xmlns:a16="http://schemas.microsoft.com/office/drawing/2014/main" id="{CB328BB8-E771-4C74-86C8-237362F6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003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315EFB"/>
                </a:solidFill>
              </a:defRPr>
            </a:pPr>
            <a:r>
              <a:rPr sz="2100" b="1" i="0">
                <a:solidFill>
                  <a:srgbClr val="315EFB"/>
                </a:solidFill>
              </a:rPr>
              <a:t>L3</a:t>
            </a:r>
          </a:p>
        </p:txBody>
      </p:sp>
      <p:sp>
        <p:nvSpPr>
          <p:cNvPr id="14" name="text-225">
            <a:extLst xmlns:a="http://schemas.openxmlformats.org/drawingml/2006/main">
              <a:ext uri="{FF2B5EF4-FFF2-40B4-BE49-F238E27FC236}">
                <a16:creationId xmlns:a16="http://schemas.microsoft.com/office/drawing/2014/main" id="{015A1059-C2A2-4F6C-B4EE-093442E3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3850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315EFB"/>
                </a:solidFill>
              </a:defRPr>
            </a:pPr>
            <a:r>
              <a:rPr sz="1425" b="1" i="0">
                <a:solidFill>
                  <a:srgbClr val="315EFB"/>
                </a:solidFill>
              </a:rPr>
              <a:t>deliberate silence</a:t>
            </a:r>
          </a:p>
        </p:txBody>
      </p:sp>
      <p:sp>
        <p:nvSpPr>
          <p:cNvPr id="15" name="shape-226">
            <a:extLst xmlns:a="http://schemas.openxmlformats.org/drawingml/2006/main">
              <a:ext uri="{FF2B5EF4-FFF2-40B4-BE49-F238E27FC236}">
                <a16:creationId xmlns:a16="http://schemas.microsoft.com/office/drawing/2014/main" id="{E0C29279-E6CA-41F2-A64A-9192BE6C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09850"/>
            <a:ext cx="19431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DDE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227">
            <a:extLst xmlns:a="http://schemas.openxmlformats.org/drawingml/2006/main">
              <a:ext uri="{FF2B5EF4-FFF2-40B4-BE49-F238E27FC236}">
                <a16:creationId xmlns:a16="http://schemas.microsoft.com/office/drawing/2014/main" id="{CAC984DA-E598-4093-BF3E-65A5B3FF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003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315EFB"/>
                </a:solidFill>
              </a:defRPr>
            </a:pPr>
            <a:r>
              <a:rPr sz="2100" b="1" i="0">
                <a:solidFill>
                  <a:srgbClr val="315EFB"/>
                </a:solidFill>
              </a:rPr>
              <a:t>L4</a:t>
            </a:r>
          </a:p>
        </p:txBody>
      </p:sp>
      <p:sp>
        <p:nvSpPr>
          <p:cNvPr id="17" name="text-228">
            <a:extLst xmlns:a="http://schemas.openxmlformats.org/drawingml/2006/main">
              <a:ext uri="{FF2B5EF4-FFF2-40B4-BE49-F238E27FC236}">
                <a16:creationId xmlns:a16="http://schemas.microsoft.com/office/drawing/2014/main" id="{7E3D3C4E-31E3-4888-9BEA-F16F689D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3850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315EFB"/>
                </a:solidFill>
              </a:defRPr>
            </a:pPr>
            <a:r>
              <a:rPr sz="1425" b="1" i="0">
                <a:solidFill>
                  <a:srgbClr val="315EFB"/>
                </a:solidFill>
              </a:rPr>
              <a:t>persistent query</a:t>
            </a:r>
          </a:p>
        </p:txBody>
      </p:sp>
      <p:sp>
        <p:nvSpPr>
          <p:cNvPr id="18" name="shape-229">
            <a:extLst xmlns:a="http://schemas.openxmlformats.org/drawingml/2006/main">
              <a:ext uri="{FF2B5EF4-FFF2-40B4-BE49-F238E27FC236}">
                <a16:creationId xmlns:a16="http://schemas.microsoft.com/office/drawing/2014/main" id="{001ECFD5-17B7-4D0A-871D-CCA2FF54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09850"/>
            <a:ext cx="19431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315E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230">
            <a:extLst xmlns:a="http://schemas.openxmlformats.org/drawingml/2006/main">
              <a:ext uri="{FF2B5EF4-FFF2-40B4-BE49-F238E27FC236}">
                <a16:creationId xmlns:a16="http://schemas.microsoft.com/office/drawing/2014/main" id="{77673624-2B72-4977-8700-5F1CC3D4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003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FFFEFA"/>
                </a:solidFill>
              </a:defRPr>
            </a:pPr>
            <a:r>
              <a:rPr sz="2100" b="1" i="0">
                <a:solidFill>
                  <a:srgbClr val="FFFEFA"/>
                </a:solidFill>
              </a:rPr>
              <a:t>L5</a:t>
            </a:r>
          </a:p>
        </p:txBody>
      </p:sp>
      <p:sp>
        <p:nvSpPr>
          <p:cNvPr id="20" name="text-231">
            <a:extLst xmlns:a="http://schemas.openxmlformats.org/drawingml/2006/main">
              <a:ext uri="{FF2B5EF4-FFF2-40B4-BE49-F238E27FC236}">
                <a16:creationId xmlns:a16="http://schemas.microsoft.com/office/drawing/2014/main" id="{1C4299EC-4779-4F89-881C-20F4A29A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3850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FFFEFA"/>
                </a:solidFill>
              </a:defRPr>
            </a:pPr>
            <a:r>
              <a:rPr sz="1425" b="1" i="0">
                <a:solidFill>
                  <a:srgbClr val="FFFEFA"/>
                </a:solidFill>
              </a:rPr>
              <a:t>perceive while speaking</a:t>
            </a:r>
          </a:p>
        </p:txBody>
      </p:sp>
      <p:sp>
        <p:nvSpPr>
          <p:cNvPr id="21" name="shape-232">
            <a:extLst xmlns:a="http://schemas.openxmlformats.org/drawingml/2006/main">
              <a:ext uri="{FF2B5EF4-FFF2-40B4-BE49-F238E27FC236}">
                <a16:creationId xmlns:a16="http://schemas.microsoft.com/office/drawing/2014/main" id="{1EF8D0A3-9A55-40A9-9859-B1DB8CA6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624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9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233">
            <a:extLst xmlns:a="http://schemas.openxmlformats.org/drawingml/2006/main">
              <a:ext uri="{FF2B5EF4-FFF2-40B4-BE49-F238E27FC236}">
                <a16:creationId xmlns:a16="http://schemas.microsoft.com/office/drawing/2014/main" id="{BE106BA7-FE8A-4029-BE08-560D0C9F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10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71717"/>
                </a:solidFill>
              </a:defRPr>
            </a:pPr>
            <a:r>
              <a:rPr sz="2025" b="1" i="0">
                <a:solidFill>
                  <a:srgbClr val="171717"/>
                </a:solidFill>
              </a:rPr>
              <a:t>L2-L4 can receive frames continuously - yet remain blind for the duration of every reply.</a:t>
            </a:r>
          </a:p>
        </p:txBody>
      </p:sp>
      <p:sp>
        <p:nvSpPr>
          <p:cNvPr id="23" name="shape-234">
            <a:extLst xmlns:a="http://schemas.openxmlformats.org/drawingml/2006/main">
              <a:ext uri="{FF2B5EF4-FFF2-40B4-BE49-F238E27FC236}">
                <a16:creationId xmlns:a16="http://schemas.microsoft.com/office/drawing/2014/main" id="{D973D0D0-CFAB-4785-BB69-10312CE1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530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235">
            <a:extLst xmlns:a="http://schemas.openxmlformats.org/drawingml/2006/main">
              <a:ext uri="{FF2B5EF4-FFF2-40B4-BE49-F238E27FC236}">
                <a16:creationId xmlns:a16="http://schemas.microsoft.com/office/drawing/2014/main" id="{2281ADF5-29EB-4FBE-BA6D-87726B64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314950"/>
            <a:ext cx="9105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71717"/>
                </a:solidFill>
              </a:defRPr>
            </a:pPr>
            <a:r>
              <a:rPr sz="2025" b="1" i="0">
                <a:solidFill>
                  <a:srgbClr val="171717"/>
                </a:solidFill>
              </a:rPr>
              <a:t>L5 lets new visual evidence revise or stop an answer already in progress.</a:t>
            </a:r>
          </a:p>
        </p:txBody>
      </p:sp>
    </p:spTree>
    <p:extLst>
      <p:ext uri="{BB962C8B-B14F-4D97-AF65-F5344CB8AC3E}">
        <p14:creationId xmlns:p14="http://schemas.microsoft.com/office/powerpoint/2010/main" val="1229818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36">
            <a:extLst xmlns:a="http://schemas.openxmlformats.org/drawingml/2006/main">
              <a:ext uri="{FF2B5EF4-FFF2-40B4-BE49-F238E27FC236}">
                <a16:creationId xmlns:a16="http://schemas.microsoft.com/office/drawing/2014/main" id="{1D806A35-3B09-4A31-9626-8E61222C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CORE INSIGHT</a:t>
            </a:r>
          </a:p>
        </p:txBody>
      </p:sp>
      <p:sp>
        <p:nvSpPr>
          <p:cNvPr id="2" name="shape-237">
            <a:extLst xmlns:a="http://schemas.openxmlformats.org/drawingml/2006/main">
              <a:ext uri="{FF2B5EF4-FFF2-40B4-BE49-F238E27FC236}">
                <a16:creationId xmlns:a16="http://schemas.microsoft.com/office/drawing/2014/main" id="{803FCE1B-0A5D-4DE4-B0E7-657CDD9C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38">
            <a:extLst xmlns:a="http://schemas.openxmlformats.org/drawingml/2006/main">
              <a:ext uri="{FF2B5EF4-FFF2-40B4-BE49-F238E27FC236}">
                <a16:creationId xmlns:a16="http://schemas.microsoft.com/office/drawing/2014/main" id="{8B6135D9-71E2-4F79-B78C-F7A271DD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F716E"/>
                </a:solidFill>
              </a:defRPr>
            </a:pPr>
            <a:r>
              <a:rPr sz="1200" b="0" i="0">
                <a:solidFill>
                  <a:srgbClr val="6F716E"/>
                </a:solidFill>
              </a:rPr>
              <a:t>Paper §1, §7</a:t>
            </a:r>
          </a:p>
        </p:txBody>
      </p:sp>
      <p:sp>
        <p:nvSpPr>
          <p:cNvPr id="4" name="text-239">
            <a:extLst xmlns:a="http://schemas.openxmlformats.org/drawingml/2006/main">
              <a:ext uri="{FF2B5EF4-FFF2-40B4-BE49-F238E27FC236}">
                <a16:creationId xmlns:a16="http://schemas.microsoft.com/office/drawing/2014/main" id="{6DC98830-5B92-4D94-B5B1-0C3D1003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77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03</a:t>
            </a:r>
          </a:p>
        </p:txBody>
      </p:sp>
      <p:sp>
        <p:nvSpPr>
          <p:cNvPr id="5" name="text-240">
            <a:extLst xmlns:a="http://schemas.openxmlformats.org/drawingml/2006/main">
              <a:ext uri="{FF2B5EF4-FFF2-40B4-BE49-F238E27FC236}">
                <a16:creationId xmlns:a16="http://schemas.microsoft.com/office/drawing/2014/main" id="{DD50027E-CB60-48DE-8D62-9B769FB1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171717"/>
                </a:solidFill>
              </a:defRPr>
            </a:pPr>
            <a:r>
              <a:rPr sz="3600" b="1" i="0">
                <a:solidFill>
                  <a:srgbClr val="171717"/>
                </a:solidFill>
              </a:rPr>
              <a:t>Real-time behavior is a cross-stack contract</a:t>
            </a:r>
          </a:p>
        </p:txBody>
      </p:sp>
      <p:sp>
        <p:nvSpPr>
          <p:cNvPr id="6" name="text-241">
            <a:extLst xmlns:a="http://schemas.openxmlformats.org/drawingml/2006/main">
              <a:ext uri="{FF2B5EF4-FFF2-40B4-BE49-F238E27FC236}">
                <a16:creationId xmlns:a16="http://schemas.microsoft.com/office/drawing/2014/main" id="{7ED190BE-A2BB-4C4A-A1F9-80B3144F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ARCHITECTURE</a:t>
            </a:r>
          </a:p>
        </p:txBody>
      </p:sp>
      <p:sp>
        <p:nvSpPr>
          <p:cNvPr id="7" name="text-242">
            <a:extLst xmlns:a="http://schemas.openxmlformats.org/drawingml/2006/main">
              <a:ext uri="{FF2B5EF4-FFF2-40B4-BE49-F238E27FC236}">
                <a16:creationId xmlns:a16="http://schemas.microsoft.com/office/drawing/2014/main" id="{65549F24-2747-4105-A5FC-89A24E74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171717"/>
                </a:solidFill>
              </a:defRPr>
            </a:pPr>
            <a:r>
              <a:rPr sz="2250" b="1" i="0">
                <a:solidFill>
                  <a:srgbClr val="171717"/>
                </a:solidFill>
              </a:rPr>
              <a:t>append visual KV</a:t>
            </a:r>
          </a:p>
        </p:txBody>
      </p:sp>
      <p:sp>
        <p:nvSpPr>
          <p:cNvPr id="8" name="shape-243">
            <a:extLst xmlns:a="http://schemas.openxmlformats.org/drawingml/2006/main">
              <a:ext uri="{FF2B5EF4-FFF2-40B4-BE49-F238E27FC236}">
                <a16:creationId xmlns:a16="http://schemas.microsoft.com/office/drawing/2014/main" id="{760983F0-3E51-478B-AA83-59C26BA4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244">
            <a:extLst xmlns:a="http://schemas.openxmlformats.org/drawingml/2006/main">
              <a:ext uri="{FF2B5EF4-FFF2-40B4-BE49-F238E27FC236}">
                <a16:creationId xmlns:a16="http://schemas.microsoft.com/office/drawing/2014/main" id="{5112E89E-FC64-4D41-A018-812F4CAE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38450"/>
            <a:ext cx="41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 i="0">
                <a:solidFill>
                  <a:srgbClr val="6F716E"/>
                </a:solidFill>
              </a:defRPr>
            </a:pPr>
            <a:r>
              <a:rPr sz="2550" b="1" i="0">
                <a:solidFill>
                  <a:srgbClr val="6F716E"/>
                </a:solidFill>
              </a:rPr>
              <a:t>→</a:t>
            </a:r>
          </a:p>
        </p:txBody>
      </p:sp>
      <p:sp>
        <p:nvSpPr>
          <p:cNvPr id="10" name="text-245">
            <a:extLst xmlns:a="http://schemas.openxmlformats.org/drawingml/2006/main">
              <a:ext uri="{FF2B5EF4-FFF2-40B4-BE49-F238E27FC236}">
                <a16:creationId xmlns:a16="http://schemas.microsoft.com/office/drawing/2014/main" id="{7E254B15-70BB-4803-B9A1-27EA796E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43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57B69"/>
                </a:solidFill>
              </a:defRPr>
            </a:pPr>
            <a:r>
              <a:rPr sz="1200" b="1" i="0">
                <a:solidFill>
                  <a:srgbClr val="257B69"/>
                </a:solidFill>
              </a:rPr>
              <a:t>DATA</a:t>
            </a:r>
          </a:p>
        </p:txBody>
      </p:sp>
      <p:sp>
        <p:nvSpPr>
          <p:cNvPr id="11" name="text-246">
            <a:extLst xmlns:a="http://schemas.openxmlformats.org/drawingml/2006/main">
              <a:ext uri="{FF2B5EF4-FFF2-40B4-BE49-F238E27FC236}">
                <a16:creationId xmlns:a16="http://schemas.microsoft.com/office/drawing/2014/main" id="{D2BF15E9-C8AB-42EF-89A9-61830D55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2415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171717"/>
                </a:solidFill>
              </a:defRPr>
            </a:pPr>
            <a:r>
              <a:rPr sz="2250" b="1" i="0">
                <a:solidFill>
                  <a:srgbClr val="171717"/>
                </a:solidFill>
              </a:rPr>
              <a:t>streaming interactions</a:t>
            </a:r>
          </a:p>
        </p:txBody>
      </p:sp>
      <p:sp>
        <p:nvSpPr>
          <p:cNvPr id="12" name="shape-247">
            <a:extLst xmlns:a="http://schemas.openxmlformats.org/drawingml/2006/main">
              <a:ext uri="{FF2B5EF4-FFF2-40B4-BE49-F238E27FC236}">
                <a16:creationId xmlns:a16="http://schemas.microsoft.com/office/drawing/2014/main" id="{567291CB-EF5E-460D-B6EA-45DACB47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5285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248">
            <a:extLst xmlns:a="http://schemas.openxmlformats.org/drawingml/2006/main">
              <a:ext uri="{FF2B5EF4-FFF2-40B4-BE49-F238E27FC236}">
                <a16:creationId xmlns:a16="http://schemas.microsoft.com/office/drawing/2014/main" id="{645B51BD-4A23-45AF-B543-5318F6DF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38450"/>
            <a:ext cx="41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 i="0">
                <a:solidFill>
                  <a:srgbClr val="6F716E"/>
                </a:solidFill>
              </a:defRPr>
            </a:pPr>
            <a:r>
              <a:rPr sz="2550" b="1" i="0">
                <a:solidFill>
                  <a:srgbClr val="6F716E"/>
                </a:solidFill>
              </a:rPr>
              <a:t>→</a:t>
            </a:r>
          </a:p>
        </p:txBody>
      </p:sp>
      <p:sp>
        <p:nvSpPr>
          <p:cNvPr id="14" name="text-249">
            <a:extLst xmlns:a="http://schemas.openxmlformats.org/drawingml/2006/main">
              <a:ext uri="{FF2B5EF4-FFF2-40B4-BE49-F238E27FC236}">
                <a16:creationId xmlns:a16="http://schemas.microsoft.com/office/drawing/2014/main" id="{BF17B54D-0A83-49F2-B15A-B70EB35C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43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9A642A"/>
                </a:solidFill>
              </a:defRPr>
            </a:pPr>
            <a:r>
              <a:rPr sz="1200" b="1" i="0">
                <a:solidFill>
                  <a:srgbClr val="9A642A"/>
                </a:solidFill>
              </a:rPr>
              <a:t>OBJECTIVE</a:t>
            </a:r>
          </a:p>
        </p:txBody>
      </p:sp>
      <p:sp>
        <p:nvSpPr>
          <p:cNvPr id="15" name="text-250">
            <a:extLst xmlns:a="http://schemas.openxmlformats.org/drawingml/2006/main">
              <a:ext uri="{FF2B5EF4-FFF2-40B4-BE49-F238E27FC236}">
                <a16:creationId xmlns:a16="http://schemas.microsoft.com/office/drawing/2014/main" id="{E660D904-BA4A-4D88-88C3-FF39230E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2415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171717"/>
                </a:solidFill>
              </a:defRPr>
            </a:pPr>
            <a:r>
              <a:rPr sz="2250" b="1" i="0">
                <a:solidFill>
                  <a:srgbClr val="171717"/>
                </a:solidFill>
              </a:rPr>
              <a:t>speak / wait / revise</a:t>
            </a:r>
          </a:p>
        </p:txBody>
      </p:sp>
      <p:sp>
        <p:nvSpPr>
          <p:cNvPr id="16" name="shape-251">
            <a:extLst xmlns:a="http://schemas.openxmlformats.org/drawingml/2006/main">
              <a:ext uri="{FF2B5EF4-FFF2-40B4-BE49-F238E27FC236}">
                <a16:creationId xmlns:a16="http://schemas.microsoft.com/office/drawing/2014/main" id="{67E3223E-3ED3-46C1-BF2C-9E176326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252">
            <a:extLst xmlns:a="http://schemas.openxmlformats.org/drawingml/2006/main">
              <a:ext uri="{FF2B5EF4-FFF2-40B4-BE49-F238E27FC236}">
                <a16:creationId xmlns:a16="http://schemas.microsoft.com/office/drawing/2014/main" id="{37B1C050-A95C-48B9-82B9-07A9E769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38450"/>
            <a:ext cx="41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 i="0">
                <a:solidFill>
                  <a:srgbClr val="6F716E"/>
                </a:solidFill>
              </a:defRPr>
            </a:pPr>
            <a:r>
              <a:rPr sz="2550" b="1" i="0">
                <a:solidFill>
                  <a:srgbClr val="6F716E"/>
                </a:solidFill>
              </a:rPr>
              <a:t>→</a:t>
            </a:r>
          </a:p>
        </p:txBody>
      </p:sp>
      <p:sp>
        <p:nvSpPr>
          <p:cNvPr id="18" name="text-253">
            <a:extLst xmlns:a="http://schemas.openxmlformats.org/drawingml/2006/main">
              <a:ext uri="{FF2B5EF4-FFF2-40B4-BE49-F238E27FC236}">
                <a16:creationId xmlns:a16="http://schemas.microsoft.com/office/drawing/2014/main" id="{E653C690-4A43-4DEC-A2DF-ABFBD663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43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A1493F"/>
                </a:solidFill>
              </a:defRPr>
            </a:pPr>
            <a:r>
              <a:rPr sz="1200" b="1" i="0">
                <a:solidFill>
                  <a:srgbClr val="A1493F"/>
                </a:solidFill>
              </a:rPr>
              <a:t>RUNTIME</a:t>
            </a:r>
          </a:p>
        </p:txBody>
      </p:sp>
      <p:sp>
        <p:nvSpPr>
          <p:cNvPr id="19" name="text-254">
            <a:extLst xmlns:a="http://schemas.openxmlformats.org/drawingml/2006/main">
              <a:ext uri="{FF2B5EF4-FFF2-40B4-BE49-F238E27FC236}">
                <a16:creationId xmlns:a16="http://schemas.microsoft.com/office/drawing/2014/main" id="{45AE5C7E-1544-4B34-A1FC-C0825E9A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2415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171717"/>
                </a:solidFill>
              </a:defRPr>
            </a:pPr>
            <a:r>
              <a:rPr sz="2250" b="1" i="0">
                <a:solidFill>
                  <a:srgbClr val="171717"/>
                </a:solidFill>
              </a:rPr>
              <a:t>concurrent frame ingest</a:t>
            </a:r>
          </a:p>
        </p:txBody>
      </p:sp>
      <p:sp>
        <p:nvSpPr>
          <p:cNvPr id="20" name="shape-255">
            <a:extLst xmlns:a="http://schemas.openxmlformats.org/drawingml/2006/main">
              <a:ext uri="{FF2B5EF4-FFF2-40B4-BE49-F238E27FC236}">
                <a16:creationId xmlns:a16="http://schemas.microsoft.com/office/drawing/2014/main" id="{046FE938-35D0-4B57-824B-D9E19544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5285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9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hape-256">
            <a:extLst xmlns:a="http://schemas.openxmlformats.org/drawingml/2006/main">
              <a:ext uri="{FF2B5EF4-FFF2-40B4-BE49-F238E27FC236}">
                <a16:creationId xmlns:a16="http://schemas.microsoft.com/office/drawing/2014/main" id="{F5A02A60-8BDE-44FE-AF58-E5E00508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053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257">
            <a:extLst xmlns:a="http://schemas.openxmlformats.org/drawingml/2006/main">
              <a:ext uri="{FF2B5EF4-FFF2-40B4-BE49-F238E27FC236}">
                <a16:creationId xmlns:a16="http://schemas.microsoft.com/office/drawing/2014/main" id="{B7A5C33F-9D9C-4DA0-AF6D-CA65DC49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67250"/>
            <a:ext cx="8534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71717"/>
                </a:solidFill>
              </a:defRPr>
            </a:pPr>
            <a:r>
              <a:rPr sz="2100" b="1" i="0">
                <a:solidFill>
                  <a:srgbClr val="171717"/>
                </a:solidFill>
              </a:rPr>
              <a:t>No single component creates L5. The interface only works when all four stages reproduce the same frame-decision rhythm.</a:t>
            </a:r>
          </a:p>
        </p:txBody>
      </p:sp>
    </p:spTree>
    <p:extLst>
      <p:ext uri="{BB962C8B-B14F-4D97-AF65-F5344CB8AC3E}">
        <p14:creationId xmlns:p14="http://schemas.microsoft.com/office/powerpoint/2010/main" val="13478483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58">
            <a:extLst xmlns:a="http://schemas.openxmlformats.org/drawingml/2006/main">
              <a:ext uri="{FF2B5EF4-FFF2-40B4-BE49-F238E27FC236}">
                <a16:creationId xmlns:a16="http://schemas.microsoft.com/office/drawing/2014/main" id="{312DFF26-ACD8-4DCF-BD27-B00B3959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ARCHITECTURE</a:t>
            </a:r>
          </a:p>
        </p:txBody>
      </p:sp>
      <p:sp>
        <p:nvSpPr>
          <p:cNvPr id="2" name="shape-259">
            <a:extLst xmlns:a="http://schemas.openxmlformats.org/drawingml/2006/main">
              <a:ext uri="{FF2B5EF4-FFF2-40B4-BE49-F238E27FC236}">
                <a16:creationId xmlns:a16="http://schemas.microsoft.com/office/drawing/2014/main" id="{B3C2A287-4E88-4309-B6EC-818A712C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60">
            <a:extLst xmlns:a="http://schemas.openxmlformats.org/drawingml/2006/main">
              <a:ext uri="{FF2B5EF4-FFF2-40B4-BE49-F238E27FC236}">
                <a16:creationId xmlns:a16="http://schemas.microsoft.com/office/drawing/2014/main" id="{2BB38E33-C2A5-4217-8FC4-30B63517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F716E"/>
                </a:solidFill>
              </a:defRPr>
            </a:pPr>
            <a:r>
              <a:rPr sz="1200" b="0" i="0">
                <a:solidFill>
                  <a:srgbClr val="6F716E"/>
                </a:solidFill>
              </a:rPr>
              <a:t>Paper Fig. 2 · p. 4</a:t>
            </a:r>
          </a:p>
        </p:txBody>
      </p:sp>
      <p:sp>
        <p:nvSpPr>
          <p:cNvPr id="4" name="text-261">
            <a:extLst xmlns:a="http://schemas.openxmlformats.org/drawingml/2006/main">
              <a:ext uri="{FF2B5EF4-FFF2-40B4-BE49-F238E27FC236}">
                <a16:creationId xmlns:a16="http://schemas.microsoft.com/office/drawing/2014/main" id="{F3C2E7E1-0076-407E-B1A8-55A77ACA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77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04</a:t>
            </a:r>
          </a:p>
        </p:txBody>
      </p:sp>
      <p:sp>
        <p:nvSpPr>
          <p:cNvPr id="5" name="text-262">
            <a:extLst xmlns:a="http://schemas.openxmlformats.org/drawingml/2006/main">
              <a:ext uri="{FF2B5EF4-FFF2-40B4-BE49-F238E27FC236}">
                <a16:creationId xmlns:a16="http://schemas.microsoft.com/office/drawing/2014/main" id="{60F33573-D1C8-4A9B-AC13-7B33AB1D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171717"/>
                </a:solidFill>
              </a:defRPr>
            </a:pPr>
            <a:r>
              <a:rPr sz="3600" b="1" i="0">
                <a:solidFill>
                  <a:srgbClr val="171717"/>
                </a:solidFill>
              </a:rPr>
              <a:t>Visual tokens stay outside the decoded sequence</a:t>
            </a:r>
          </a:p>
        </p:txBody>
      </p:sp>
      <p:sp>
        <p:nvSpPr>
          <p:cNvPr id="6" name="shape-263">
            <a:extLst xmlns:a="http://schemas.openxmlformats.org/drawingml/2006/main">
              <a:ext uri="{FF2B5EF4-FFF2-40B4-BE49-F238E27FC236}">
                <a16:creationId xmlns:a16="http://schemas.microsoft.com/office/drawing/2014/main" id="{D833FBB7-5035-440D-B1F8-8C7E7A4D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107061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d44fe72e1544de"/>
          <a:stretch xmlns:a="http://schemas.openxmlformats.org/drawingml/2006/main"/>
        </p:blipFill>
        <p:spPr>
          <a:xfrm xmlns:a="http://schemas.openxmlformats.org/drawingml/2006/main">
            <a:off x="1778805" y="1943100"/>
            <a:ext cx="8634391" cy="2895600"/>
          </a:xfrm>
          <a:prstGeom xmlns:a="http://schemas.openxmlformats.org/drawingml/2006/main" prst="rect">
            <a:avLst/>
          </a:prstGeom>
        </p:spPr>
      </p:pic>
      <p:sp>
        <p:nvSpPr>
          <p:cNvPr id="8" name="text-264">
            <a:extLst xmlns:a="http://schemas.openxmlformats.org/drawingml/2006/main">
              <a:ext uri="{FF2B5EF4-FFF2-40B4-BE49-F238E27FC236}">
                <a16:creationId xmlns:a16="http://schemas.microsoft.com/office/drawing/2014/main" id="{D1A4A419-0FBB-4BC7-BFF7-11DAFB73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315EFB"/>
                </a:solidFill>
              </a:defRPr>
            </a:pPr>
            <a:r>
              <a:rPr sz="3600" b="1" i="0">
                <a:solidFill>
                  <a:srgbClr val="315EFB"/>
                </a:solidFill>
              </a:rPr>
              <a:t>11.3B</a:t>
            </a:r>
          </a:p>
        </p:txBody>
      </p:sp>
      <p:sp>
        <p:nvSpPr>
          <p:cNvPr id="9" name="text-265">
            <a:extLst xmlns:a="http://schemas.openxmlformats.org/drawingml/2006/main">
              <a:ext uri="{FF2B5EF4-FFF2-40B4-BE49-F238E27FC236}">
                <a16:creationId xmlns:a16="http://schemas.microsoft.com/office/drawing/2014/main" id="{17DC6499-342C-4DBE-8FFE-822EA659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959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total parameters</a:t>
            </a:r>
          </a:p>
        </p:txBody>
      </p:sp>
      <p:sp>
        <p:nvSpPr>
          <p:cNvPr id="10" name="text-266">
            <a:extLst xmlns:a="http://schemas.openxmlformats.org/drawingml/2006/main">
              <a:ext uri="{FF2B5EF4-FFF2-40B4-BE49-F238E27FC236}">
                <a16:creationId xmlns:a16="http://schemas.microsoft.com/office/drawing/2014/main" id="{37233AE2-665F-43A0-8C03-11FC1182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257B69"/>
                </a:solidFill>
              </a:defRPr>
            </a:pPr>
            <a:r>
              <a:rPr sz="3600" b="1" i="0">
                <a:solidFill>
                  <a:srgbClr val="257B69"/>
                </a:solidFill>
              </a:rPr>
              <a:t>12</a:t>
            </a:r>
          </a:p>
        </p:txBody>
      </p:sp>
      <p:sp>
        <p:nvSpPr>
          <p:cNvPr id="11" name="text-267">
            <a:extLst xmlns:a="http://schemas.openxmlformats.org/drawingml/2006/main">
              <a:ext uri="{FF2B5EF4-FFF2-40B4-BE49-F238E27FC236}">
                <a16:creationId xmlns:a16="http://schemas.microsoft.com/office/drawing/2014/main" id="{B55C61BD-18DF-4A6C-8934-FFDABB23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6959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gated X-attention layers</a:t>
            </a:r>
          </a:p>
        </p:txBody>
      </p:sp>
      <p:sp>
        <p:nvSpPr>
          <p:cNvPr id="12" name="text-268">
            <a:extLst xmlns:a="http://schemas.openxmlformats.org/drawingml/2006/main">
              <a:ext uri="{FF2B5EF4-FFF2-40B4-BE49-F238E27FC236}">
                <a16:creationId xmlns:a16="http://schemas.microsoft.com/office/drawing/2014/main" id="{31827AFC-C9C4-4407-B5AA-AD193BA2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43500"/>
            <a:ext cx="4476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171717"/>
                </a:solidFill>
              </a:defRPr>
            </a:pPr>
            <a:r>
              <a:rPr sz="1650" b="1" i="0">
                <a:solidFill>
                  <a:srgbClr val="171717"/>
                </a:solidFill>
              </a:rPr>
              <a:t>New frame → encode once → append cross-attention KV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171717"/>
                </a:solidFill>
              </a:defRPr>
            </a:pPr>
            <a:r>
              <a:rPr sz="1650" b="1" i="0">
                <a:solidFill>
                  <a:srgbClr val="171717"/>
                </a:solidFill>
              </a:rPr>
              <a:t>The language decoding state stays intact.</a:t>
            </a:r>
          </a:p>
        </p:txBody>
      </p:sp>
    </p:spTree>
    <p:extLst>
      <p:ext uri="{BB962C8B-B14F-4D97-AF65-F5344CB8AC3E}">
        <p14:creationId xmlns:p14="http://schemas.microsoft.com/office/powerpoint/2010/main" val="13803702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69">
            <a:extLst xmlns:a="http://schemas.openxmlformats.org/drawingml/2006/main">
              <a:ext uri="{FF2B5EF4-FFF2-40B4-BE49-F238E27FC236}">
                <a16:creationId xmlns:a16="http://schemas.microsoft.com/office/drawing/2014/main" id="{D1F289B7-F8F0-466E-92F8-FA87D859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TEMPORAL INTERFACE</a:t>
            </a:r>
          </a:p>
        </p:txBody>
      </p:sp>
      <p:sp>
        <p:nvSpPr>
          <p:cNvPr id="2" name="shape-270">
            <a:extLst xmlns:a="http://schemas.openxmlformats.org/drawingml/2006/main">
              <a:ext uri="{FF2B5EF4-FFF2-40B4-BE49-F238E27FC236}">
                <a16:creationId xmlns:a16="http://schemas.microsoft.com/office/drawing/2014/main" id="{9D767A84-F975-4965-AABD-9F6DCAFA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71">
            <a:extLst xmlns:a="http://schemas.openxmlformats.org/drawingml/2006/main">
              <a:ext uri="{FF2B5EF4-FFF2-40B4-BE49-F238E27FC236}">
                <a16:creationId xmlns:a16="http://schemas.microsoft.com/office/drawing/2014/main" id="{3752C516-1AD4-4A25-A4AB-73A2ACB9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F716E"/>
                </a:solidFill>
              </a:defRPr>
            </a:pPr>
            <a:r>
              <a:rPr sz="1200" b="0" i="0">
                <a:solidFill>
                  <a:srgbClr val="6F716E"/>
                </a:solidFill>
              </a:rPr>
              <a:t>Paper Fig. 3 · p. 5</a:t>
            </a:r>
          </a:p>
        </p:txBody>
      </p:sp>
      <p:sp>
        <p:nvSpPr>
          <p:cNvPr id="4" name="text-272">
            <a:extLst xmlns:a="http://schemas.openxmlformats.org/drawingml/2006/main">
              <a:ext uri="{FF2B5EF4-FFF2-40B4-BE49-F238E27FC236}">
                <a16:creationId xmlns:a16="http://schemas.microsoft.com/office/drawing/2014/main" id="{C646568D-5271-4604-9AE3-79BEB57A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77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05</a:t>
            </a:r>
          </a:p>
        </p:txBody>
      </p:sp>
      <p:sp>
        <p:nvSpPr>
          <p:cNvPr id="5" name="text-273">
            <a:extLst xmlns:a="http://schemas.openxmlformats.org/drawingml/2006/main">
              <a:ext uri="{FF2B5EF4-FFF2-40B4-BE49-F238E27FC236}">
                <a16:creationId xmlns:a16="http://schemas.microsoft.com/office/drawing/2014/main" id="{CBECDADB-71D1-49AC-AE5C-704F9E77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171717"/>
                </a:solidFill>
              </a:defRPr>
            </a:pPr>
            <a:r>
              <a:rPr sz="3600" b="1" i="0">
                <a:solidFill>
                  <a:srgbClr val="171717"/>
                </a:solidFill>
              </a:rPr>
              <a:t>XRoPE aligns order; timestamps encode time</a:t>
            </a:r>
          </a:p>
        </p:txBody>
      </p:sp>
      <p:sp>
        <p:nvSpPr>
          <p:cNvPr id="6" name="shape-274">
            <a:extLst xmlns:a="http://schemas.openxmlformats.org/drawingml/2006/main">
              <a:ext uri="{FF2B5EF4-FFF2-40B4-BE49-F238E27FC236}">
                <a16:creationId xmlns:a16="http://schemas.microsoft.com/office/drawing/2014/main" id="{A3112C95-2697-47E4-9B53-94C1AB22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739140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29fea60449483f"/>
          <a:stretch xmlns:a="http://schemas.openxmlformats.org/drawingml/2006/main"/>
        </p:blipFill>
        <p:spPr>
          <a:xfrm xmlns:a="http://schemas.openxmlformats.org/drawingml/2006/main">
            <a:off x="873908" y="1962150"/>
            <a:ext cx="7129484" cy="3543300"/>
          </a:xfrm>
          <a:prstGeom xmlns:a="http://schemas.openxmlformats.org/drawingml/2006/main" prst="rect">
            <a:avLst/>
          </a:prstGeom>
        </p:spPr>
      </p:pic>
      <p:sp>
        <p:nvSpPr>
          <p:cNvPr id="8" name="shape-275">
            <a:extLst xmlns:a="http://schemas.openxmlformats.org/drawingml/2006/main">
              <a:ext uri="{FF2B5EF4-FFF2-40B4-BE49-F238E27FC236}">
                <a16:creationId xmlns:a16="http://schemas.microsoft.com/office/drawing/2014/main" id="{9DBBE4F6-D0D1-44FE-A30E-0DE6C1C5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241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276">
            <a:extLst xmlns:a="http://schemas.openxmlformats.org/drawingml/2006/main">
              <a:ext uri="{FF2B5EF4-FFF2-40B4-BE49-F238E27FC236}">
                <a16:creationId xmlns:a16="http://schemas.microsoft.com/office/drawing/2014/main" id="{4AA5269B-33DA-4361-A25C-1CFCB049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86000"/>
            <a:ext cx="2343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171717"/>
                </a:solidFill>
              </a:defRPr>
            </a:pPr>
            <a:r>
              <a:rPr sz="2250" b="1" i="0">
                <a:solidFill>
                  <a:srgbClr val="171717"/>
                </a:solidFill>
              </a:rPr>
              <a:t>XRoPE</a:t>
            </a:r>
          </a:p>
        </p:txBody>
      </p:sp>
      <p:sp>
        <p:nvSpPr>
          <p:cNvPr id="10" name="text-277">
            <a:extLst xmlns:a="http://schemas.openxmlformats.org/drawingml/2006/main">
              <a:ext uri="{FF2B5EF4-FFF2-40B4-BE49-F238E27FC236}">
                <a16:creationId xmlns:a16="http://schemas.microsoft.com/office/drawing/2014/main" id="{34C6CA14-14BD-4A58-84D1-7D5C7A8B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0990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F716E"/>
                </a:solidFill>
              </a:defRPr>
            </a:pPr>
            <a:r>
              <a:rPr sz="1650" b="0" i="0">
                <a:solidFill>
                  <a:srgbClr val="6F716E"/>
                </a:solidFill>
              </a:rPr>
              <a:t>Shared (t, h, w) coordinates align text queries with visual keys.</a:t>
            </a:r>
          </a:p>
        </p:txBody>
      </p:sp>
      <p:sp>
        <p:nvSpPr>
          <p:cNvPr id="11" name="shape-278">
            <a:extLst xmlns:a="http://schemas.openxmlformats.org/drawingml/2006/main">
              <a:ext uri="{FF2B5EF4-FFF2-40B4-BE49-F238E27FC236}">
                <a16:creationId xmlns:a16="http://schemas.microsoft.com/office/drawing/2014/main" id="{EC056B70-4355-415E-95A8-EB021335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100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279">
            <a:extLst xmlns:a="http://schemas.openxmlformats.org/drawingml/2006/main">
              <a:ext uri="{FF2B5EF4-FFF2-40B4-BE49-F238E27FC236}">
                <a16:creationId xmlns:a16="http://schemas.microsoft.com/office/drawing/2014/main" id="{D792CC33-C453-4E89-A0C7-5AFF27F1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71950"/>
            <a:ext cx="2343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171717"/>
                </a:solidFill>
              </a:defRPr>
            </a:pPr>
            <a:r>
              <a:rPr sz="2250" b="1" i="0">
                <a:solidFill>
                  <a:srgbClr val="171717"/>
                </a:solidFill>
              </a:rPr>
              <a:t>Timestamps</a:t>
            </a:r>
          </a:p>
        </p:txBody>
      </p:sp>
      <p:sp>
        <p:nvSpPr>
          <p:cNvPr id="13" name="text-280">
            <a:extLst xmlns:a="http://schemas.openxmlformats.org/drawingml/2006/main">
              <a:ext uri="{FF2B5EF4-FFF2-40B4-BE49-F238E27FC236}">
                <a16:creationId xmlns:a16="http://schemas.microsoft.com/office/drawing/2014/main" id="{DBAED2DD-56C6-4C31-A15E-CC4BE479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89585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F716E"/>
                </a:solidFill>
              </a:defRPr>
            </a:pPr>
            <a:r>
              <a:rPr sz="1650" b="0" i="0">
                <a:solidFill>
                  <a:srgbClr val="6F716E"/>
                </a:solidFill>
              </a:rPr>
              <a:t>Explicit seconds preserve wall-clock time under motion-adaptive 1-16 fps sampling.</a:t>
            </a:r>
          </a:p>
        </p:txBody>
      </p:sp>
    </p:spTree>
    <p:extLst>
      <p:ext uri="{BB962C8B-B14F-4D97-AF65-F5344CB8AC3E}">
        <p14:creationId xmlns:p14="http://schemas.microsoft.com/office/powerpoint/2010/main" val="14644306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281">
            <a:extLst xmlns:a="http://schemas.openxmlformats.org/drawingml/2006/main">
              <a:ext uri="{FF2B5EF4-FFF2-40B4-BE49-F238E27FC236}">
                <a16:creationId xmlns:a16="http://schemas.microsoft.com/office/drawing/2014/main" id="{0FB2E410-AE3F-4767-BFDE-02C34626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TRAINING</a:t>
            </a:r>
          </a:p>
        </p:txBody>
      </p:sp>
      <p:sp>
        <p:nvSpPr>
          <p:cNvPr id="2" name="shape-282">
            <a:extLst xmlns:a="http://schemas.openxmlformats.org/drawingml/2006/main">
              <a:ext uri="{FF2B5EF4-FFF2-40B4-BE49-F238E27FC236}">
                <a16:creationId xmlns:a16="http://schemas.microsoft.com/office/drawing/2014/main" id="{9B79F908-059C-4868-BEFF-34FC9DD3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83">
            <a:extLst xmlns:a="http://schemas.openxmlformats.org/drawingml/2006/main">
              <a:ext uri="{FF2B5EF4-FFF2-40B4-BE49-F238E27FC236}">
                <a16:creationId xmlns:a16="http://schemas.microsoft.com/office/drawing/2014/main" id="{8DC8096C-FCA8-4E59-950D-3F8B5EBC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F716E"/>
                </a:solidFill>
              </a:defRPr>
            </a:pPr>
            <a:r>
              <a:rPr sz="1200" b="0" i="0">
                <a:solidFill>
                  <a:srgbClr val="6F716E"/>
                </a:solidFill>
              </a:rPr>
              <a:t>Paper Table 4 · p. 6</a:t>
            </a:r>
          </a:p>
        </p:txBody>
      </p:sp>
      <p:sp>
        <p:nvSpPr>
          <p:cNvPr id="4" name="text-284">
            <a:extLst xmlns:a="http://schemas.openxmlformats.org/drawingml/2006/main">
              <a:ext uri="{FF2B5EF4-FFF2-40B4-BE49-F238E27FC236}">
                <a16:creationId xmlns:a16="http://schemas.microsoft.com/office/drawing/2014/main" id="{11B542AD-3F63-4C82-96B2-D884867B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77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06</a:t>
            </a:r>
          </a:p>
        </p:txBody>
      </p:sp>
      <p:sp>
        <p:nvSpPr>
          <p:cNvPr id="5" name="text-285">
            <a:extLst xmlns:a="http://schemas.openxmlformats.org/drawingml/2006/main">
              <a:ext uri="{FF2B5EF4-FFF2-40B4-BE49-F238E27FC236}">
                <a16:creationId xmlns:a16="http://schemas.microsoft.com/office/drawing/2014/main" id="{DCE56EBE-1885-4FBE-AF2D-9FA8C047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171717"/>
                </a:solidFill>
              </a:defRPr>
            </a:pPr>
            <a:r>
              <a:rPr sz="3600" b="1" i="0">
                <a:solidFill>
                  <a:srgbClr val="171717"/>
                </a:solidFill>
              </a:rPr>
              <a:t>Realtime-SFT is late in a 1.4T-token curriculum</a:t>
            </a:r>
          </a:p>
        </p:txBody>
      </p:sp>
      <p:sp>
        <p:nvSpPr>
          <p:cNvPr id="6" name="shape-286">
            <a:extLst xmlns:a="http://schemas.openxmlformats.org/drawingml/2006/main">
              <a:ext uri="{FF2B5EF4-FFF2-40B4-BE49-F238E27FC236}">
                <a16:creationId xmlns:a16="http://schemas.microsoft.com/office/drawing/2014/main" id="{4F33E5D2-DF89-44E3-9630-5C73B5EC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62150"/>
            <a:ext cx="77724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24a778f744d68"/>
          <a:stretch xmlns:a="http://schemas.openxmlformats.org/drawingml/2006/main"/>
        </p:blipFill>
        <p:spPr>
          <a:xfrm xmlns:a="http://schemas.openxmlformats.org/drawingml/2006/main">
            <a:off x="666750" y="2254827"/>
            <a:ext cx="7620000" cy="2424545"/>
          </a:xfrm>
          <a:prstGeom xmlns:a="http://schemas.openxmlformats.org/drawingml/2006/main" prst="rect">
            <a:avLst/>
          </a:prstGeom>
        </p:spPr>
      </p:pic>
      <p:sp>
        <p:nvSpPr>
          <p:cNvPr id="8" name="text-287">
            <a:extLst xmlns:a="http://schemas.openxmlformats.org/drawingml/2006/main">
              <a:ext uri="{FF2B5EF4-FFF2-40B4-BE49-F238E27FC236}">
                <a16:creationId xmlns:a16="http://schemas.microsoft.com/office/drawing/2014/main" id="{B17031E5-400B-491B-A27E-A808877C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1" i="0">
                <a:solidFill>
                  <a:srgbClr val="315EFB"/>
                </a:solidFill>
              </a:defRPr>
            </a:pPr>
            <a:r>
              <a:rPr sz="4350" b="1" i="0">
                <a:solidFill>
                  <a:srgbClr val="315EFB"/>
                </a:solidFill>
              </a:rPr>
              <a:t>1.4T</a:t>
            </a:r>
          </a:p>
        </p:txBody>
      </p:sp>
      <p:sp>
        <p:nvSpPr>
          <p:cNvPr id="9" name="text-288">
            <a:extLst xmlns:a="http://schemas.openxmlformats.org/drawingml/2006/main">
              <a:ext uri="{FF2B5EF4-FFF2-40B4-BE49-F238E27FC236}">
                <a16:creationId xmlns:a16="http://schemas.microsoft.com/office/drawing/2014/main" id="{F2CBEE52-B052-4D22-B644-FE836391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tokens across all six stages</a:t>
            </a:r>
          </a:p>
        </p:txBody>
      </p:sp>
      <p:sp>
        <p:nvSpPr>
          <p:cNvPr id="10" name="text-289">
            <a:extLst xmlns:a="http://schemas.openxmlformats.org/drawingml/2006/main">
              <a:ext uri="{FF2B5EF4-FFF2-40B4-BE49-F238E27FC236}">
                <a16:creationId xmlns:a16="http://schemas.microsoft.com/office/drawing/2014/main" id="{38F2DB04-DD63-4487-93E3-669CC86B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623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1" i="0">
                <a:solidFill>
                  <a:srgbClr val="257B69"/>
                </a:solidFill>
              </a:defRPr>
            </a:pPr>
            <a:r>
              <a:rPr sz="4350" b="1" i="0">
                <a:solidFill>
                  <a:srgbClr val="257B69"/>
                </a:solidFill>
              </a:rPr>
              <a:t>34.8B</a:t>
            </a:r>
          </a:p>
        </p:txBody>
      </p:sp>
      <p:sp>
        <p:nvSpPr>
          <p:cNvPr id="11" name="text-290">
            <a:extLst xmlns:a="http://schemas.openxmlformats.org/drawingml/2006/main">
              <a:ext uri="{FF2B5EF4-FFF2-40B4-BE49-F238E27FC236}">
                <a16:creationId xmlns:a16="http://schemas.microsoft.com/office/drawing/2014/main" id="{CFD32FEE-7AE0-4562-A85E-3D8A51FD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481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Realtime-SFT tokens</a:t>
            </a:r>
          </a:p>
        </p:txBody>
      </p:sp>
      <p:sp>
        <p:nvSpPr>
          <p:cNvPr id="12" name="text-291">
            <a:extLst xmlns:a="http://schemas.openxmlformats.org/drawingml/2006/main">
              <a:ext uri="{FF2B5EF4-FFF2-40B4-BE49-F238E27FC236}">
                <a16:creationId xmlns:a16="http://schemas.microsoft.com/office/drawing/2014/main" id="{459A27F1-2DFE-4AA1-903F-0AA7DB21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911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1" i="0">
                <a:solidFill>
                  <a:srgbClr val="9A642A"/>
                </a:solidFill>
              </a:defRPr>
            </a:pPr>
            <a:r>
              <a:rPr sz="4350" b="1" i="0">
                <a:solidFill>
                  <a:srgbClr val="9A642A"/>
                </a:solidFill>
              </a:rPr>
              <a:t>2.49%</a:t>
            </a:r>
          </a:p>
        </p:txBody>
      </p:sp>
      <p:sp>
        <p:nvSpPr>
          <p:cNvPr id="13" name="text-292">
            <a:extLst xmlns:a="http://schemas.openxmlformats.org/drawingml/2006/main">
              <a:ext uri="{FF2B5EF4-FFF2-40B4-BE49-F238E27FC236}">
                <a16:creationId xmlns:a16="http://schemas.microsoft.com/office/drawing/2014/main" id="{14F21949-1EFC-457B-8476-6C864AC3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6769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of the full token budget</a:t>
            </a:r>
          </a:p>
        </p:txBody>
      </p:sp>
      <p:sp>
        <p:nvSpPr>
          <p:cNvPr id="14" name="shape-293">
            <a:extLst xmlns:a="http://schemas.openxmlformats.org/drawingml/2006/main">
              <a:ext uri="{FF2B5EF4-FFF2-40B4-BE49-F238E27FC236}">
                <a16:creationId xmlns:a16="http://schemas.microsoft.com/office/drawing/2014/main" id="{8E1F74F3-888C-49C8-B0B2-233FAD6B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6735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294">
            <a:extLst xmlns:a="http://schemas.openxmlformats.org/drawingml/2006/main">
              <a:ext uri="{FF2B5EF4-FFF2-40B4-BE49-F238E27FC236}">
                <a16:creationId xmlns:a16="http://schemas.microsoft.com/office/drawing/2014/main" id="{C95BFF50-A640-4CE7-B52B-11A6E220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429250"/>
            <a:ext cx="605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71717"/>
                </a:solidFill>
              </a:defRPr>
            </a:pPr>
            <a:r>
              <a:rPr sz="1800" b="1" i="0">
                <a:solidFill>
                  <a:srgbClr val="171717"/>
                </a:solidFill>
              </a:rPr>
              <a:t>A light final stage is small in proportion - not in absolute cost.</a:t>
            </a:r>
          </a:p>
        </p:txBody>
      </p:sp>
    </p:spTree>
    <p:extLst>
      <p:ext uri="{BB962C8B-B14F-4D97-AF65-F5344CB8AC3E}">
        <p14:creationId xmlns:p14="http://schemas.microsoft.com/office/powerpoint/2010/main" val="14065911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295">
            <a:extLst xmlns:a="http://schemas.openxmlformats.org/drawingml/2006/main">
              <a:ext uri="{FF2B5EF4-FFF2-40B4-BE49-F238E27FC236}">
                <a16:creationId xmlns:a16="http://schemas.microsoft.com/office/drawing/2014/main" id="{B573D0F8-26B8-4BD2-8861-D19677EC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BEHAVIOR OBJECTIVE</a:t>
            </a:r>
          </a:p>
        </p:txBody>
      </p:sp>
      <p:sp>
        <p:nvSpPr>
          <p:cNvPr id="2" name="shape-296">
            <a:extLst xmlns:a="http://schemas.openxmlformats.org/drawingml/2006/main">
              <a:ext uri="{FF2B5EF4-FFF2-40B4-BE49-F238E27FC236}">
                <a16:creationId xmlns:a16="http://schemas.microsoft.com/office/drawing/2014/main" id="{F0A6EABC-24F1-4F76-A900-27B34D98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97">
            <a:extLst xmlns:a="http://schemas.openxmlformats.org/drawingml/2006/main">
              <a:ext uri="{FF2B5EF4-FFF2-40B4-BE49-F238E27FC236}">
                <a16:creationId xmlns:a16="http://schemas.microsoft.com/office/drawing/2014/main" id="{0C498CFD-FEEF-4B63-B483-1CB65A62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F716E"/>
                </a:solidFill>
              </a:defRPr>
            </a:pPr>
            <a:r>
              <a:rPr sz="1200" b="0" i="0">
                <a:solidFill>
                  <a:srgbClr val="6F716E"/>
                </a:solidFill>
              </a:rPr>
              <a:t>Paper §4.2-§4.3 · pp. 8-9</a:t>
            </a:r>
          </a:p>
        </p:txBody>
      </p:sp>
      <p:sp>
        <p:nvSpPr>
          <p:cNvPr id="4" name="text-298">
            <a:extLst xmlns:a="http://schemas.openxmlformats.org/drawingml/2006/main">
              <a:ext uri="{FF2B5EF4-FFF2-40B4-BE49-F238E27FC236}">
                <a16:creationId xmlns:a16="http://schemas.microsoft.com/office/drawing/2014/main" id="{3BB53143-4035-467C-ACBA-5000F268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77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07</a:t>
            </a:r>
          </a:p>
        </p:txBody>
      </p:sp>
      <p:sp>
        <p:nvSpPr>
          <p:cNvPr id="5" name="text-299">
            <a:extLst xmlns:a="http://schemas.openxmlformats.org/drawingml/2006/main">
              <a:ext uri="{FF2B5EF4-FFF2-40B4-BE49-F238E27FC236}">
                <a16:creationId xmlns:a16="http://schemas.microsoft.com/office/drawing/2014/main" id="{0031282F-3ED1-4CFB-B123-126D2628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171717"/>
                </a:solidFill>
              </a:defRPr>
            </a:pPr>
            <a:r>
              <a:rPr sz="3600" b="1" i="0">
                <a:solidFill>
                  <a:srgbClr val="171717"/>
                </a:solidFill>
              </a:rPr>
              <a:t>Every frame becomes a decision point</a:t>
            </a:r>
          </a:p>
        </p:txBody>
      </p:sp>
      <p:sp>
        <p:nvSpPr>
          <p:cNvPr id="6" name="text-300">
            <a:extLst xmlns:a="http://schemas.openxmlformats.org/drawingml/2006/main">
              <a:ext uri="{FF2B5EF4-FFF2-40B4-BE49-F238E27FC236}">
                <a16:creationId xmlns:a16="http://schemas.microsoft.com/office/drawing/2014/main" id="{37F41EEC-9C02-47C3-88A0-94DC20A9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STREAMING TRAINING SEQUENCE</a:t>
            </a:r>
          </a:p>
        </p:txBody>
      </p:sp>
      <p:sp>
        <p:nvSpPr>
          <p:cNvPr id="7" name="text-301">
            <a:extLst xmlns:a="http://schemas.openxmlformats.org/drawingml/2006/main">
              <a:ext uri="{FF2B5EF4-FFF2-40B4-BE49-F238E27FC236}">
                <a16:creationId xmlns:a16="http://schemas.microsoft.com/office/drawing/2014/main" id="{411BCB9F-EF88-43E0-B704-824642D0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F716E"/>
                </a:solidFill>
              </a:defRPr>
            </a:pPr>
            <a:r>
              <a:rPr sz="1275" b="0" i="0">
                <a:solidFill>
                  <a:srgbClr val="6F716E"/>
                </a:solidFill>
              </a:rPr>
              <a:t>frame 1</a:t>
            </a:r>
          </a:p>
        </p:txBody>
      </p:sp>
      <p:sp>
        <p:nvSpPr>
          <p:cNvPr id="8" name="shape-302">
            <a:extLst xmlns:a="http://schemas.openxmlformats.org/drawingml/2006/main">
              <a:ext uri="{FF2B5EF4-FFF2-40B4-BE49-F238E27FC236}">
                <a16:creationId xmlns:a16="http://schemas.microsoft.com/office/drawing/2014/main" id="{940C5979-35CE-4458-8AAC-BBF349CC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19431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303">
            <a:extLst xmlns:a="http://schemas.openxmlformats.org/drawingml/2006/main">
              <a:ext uri="{FF2B5EF4-FFF2-40B4-BE49-F238E27FC236}">
                <a16:creationId xmlns:a16="http://schemas.microsoft.com/office/drawing/2014/main" id="{D229ED9C-0E9C-478C-BE4A-2DEE3E66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171717"/>
                </a:solidFill>
              </a:defRPr>
            </a:pPr>
            <a:r>
              <a:rPr sz="1500" b="1" i="0">
                <a:solidFill>
                  <a:srgbClr val="171717"/>
                </a:solidFill>
              </a:rPr>
              <a:t>&lt;|silence|&gt;</a:t>
            </a:r>
          </a:p>
        </p:txBody>
      </p:sp>
      <p:sp>
        <p:nvSpPr>
          <p:cNvPr id="10" name="text-304">
            <a:extLst xmlns:a="http://schemas.openxmlformats.org/drawingml/2006/main">
              <a:ext uri="{FF2B5EF4-FFF2-40B4-BE49-F238E27FC236}">
                <a16:creationId xmlns:a16="http://schemas.microsoft.com/office/drawing/2014/main" id="{E6F53804-B70A-4386-A3CC-94DBFE32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0985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F716E"/>
                </a:solidFill>
              </a:defRPr>
            </a:pPr>
            <a:r>
              <a:rPr sz="1275" b="0" i="0">
                <a:solidFill>
                  <a:srgbClr val="6F716E"/>
                </a:solidFill>
              </a:rPr>
              <a:t>frame 2</a:t>
            </a:r>
          </a:p>
        </p:txBody>
      </p:sp>
      <p:sp>
        <p:nvSpPr>
          <p:cNvPr id="11" name="shape-305">
            <a:extLst xmlns:a="http://schemas.openxmlformats.org/drawingml/2006/main">
              <a:ext uri="{FF2B5EF4-FFF2-40B4-BE49-F238E27FC236}">
                <a16:creationId xmlns:a16="http://schemas.microsoft.com/office/drawing/2014/main" id="{397B0C72-5858-45A0-A56E-90B9CEB4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52750"/>
            <a:ext cx="19431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306">
            <a:extLst xmlns:a="http://schemas.openxmlformats.org/drawingml/2006/main">
              <a:ext uri="{FF2B5EF4-FFF2-40B4-BE49-F238E27FC236}">
                <a16:creationId xmlns:a16="http://schemas.microsoft.com/office/drawing/2014/main" id="{A1E5B752-5EA6-47FF-A75C-BD6BBB50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432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171717"/>
                </a:solidFill>
              </a:defRPr>
            </a:pPr>
            <a:r>
              <a:rPr sz="1500" b="1" i="0">
                <a:solidFill>
                  <a:srgbClr val="171717"/>
                </a:solidFill>
              </a:rPr>
              <a:t>&lt;|silence|&gt;</a:t>
            </a:r>
          </a:p>
        </p:txBody>
      </p:sp>
      <p:sp>
        <p:nvSpPr>
          <p:cNvPr id="13" name="text-307">
            <a:extLst xmlns:a="http://schemas.openxmlformats.org/drawingml/2006/main">
              <a:ext uri="{FF2B5EF4-FFF2-40B4-BE49-F238E27FC236}">
                <a16:creationId xmlns:a16="http://schemas.microsoft.com/office/drawing/2014/main" id="{018BAF7C-76F5-437D-B8CD-AF74D84D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0985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F716E"/>
                </a:solidFill>
              </a:defRPr>
            </a:pPr>
            <a:r>
              <a:rPr sz="1275" b="0" i="0">
                <a:solidFill>
                  <a:srgbClr val="6F716E"/>
                </a:solidFill>
              </a:rPr>
              <a:t>frame 3</a:t>
            </a:r>
          </a:p>
        </p:txBody>
      </p:sp>
      <p:sp>
        <p:nvSpPr>
          <p:cNvPr id="14" name="shape-308">
            <a:extLst xmlns:a="http://schemas.openxmlformats.org/drawingml/2006/main">
              <a:ext uri="{FF2B5EF4-FFF2-40B4-BE49-F238E27FC236}">
                <a16:creationId xmlns:a16="http://schemas.microsoft.com/office/drawing/2014/main" id="{0E4D7D1D-A793-4C43-BD6F-D94C4DD1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52750"/>
            <a:ext cx="19431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315E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309">
            <a:extLst xmlns:a="http://schemas.openxmlformats.org/drawingml/2006/main">
              <a:ext uri="{FF2B5EF4-FFF2-40B4-BE49-F238E27FC236}">
                <a16:creationId xmlns:a16="http://schemas.microsoft.com/office/drawing/2014/main" id="{76591E10-63E9-4058-ABBC-09A72785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432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FFFEFA"/>
                </a:solidFill>
              </a:defRPr>
            </a:pPr>
            <a:r>
              <a:rPr sz="1500" b="1" i="0">
                <a:solidFill>
                  <a:srgbClr val="FFFEFA"/>
                </a:solidFill>
              </a:rPr>
              <a:t>&lt;|response|&gt;</a:t>
            </a:r>
          </a:p>
        </p:txBody>
      </p:sp>
      <p:sp>
        <p:nvSpPr>
          <p:cNvPr id="16" name="text-310">
            <a:extLst xmlns:a="http://schemas.openxmlformats.org/drawingml/2006/main">
              <a:ext uri="{FF2B5EF4-FFF2-40B4-BE49-F238E27FC236}">
                <a16:creationId xmlns:a16="http://schemas.microsoft.com/office/drawing/2014/main" id="{9FA608D5-B54A-4B5F-B345-16972BC8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0985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F716E"/>
                </a:solidFill>
              </a:defRPr>
            </a:pPr>
            <a:r>
              <a:rPr sz="1275" b="0" i="0">
                <a:solidFill>
                  <a:srgbClr val="6F716E"/>
                </a:solidFill>
              </a:rPr>
              <a:t>frame 4</a:t>
            </a:r>
          </a:p>
        </p:txBody>
      </p:sp>
      <p:sp>
        <p:nvSpPr>
          <p:cNvPr id="17" name="shape-311">
            <a:extLst xmlns:a="http://schemas.openxmlformats.org/drawingml/2006/main">
              <a:ext uri="{FF2B5EF4-FFF2-40B4-BE49-F238E27FC236}">
                <a16:creationId xmlns:a16="http://schemas.microsoft.com/office/drawing/2014/main" id="{23908D95-98D7-4D22-B41B-C3EDEEC3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52750"/>
            <a:ext cx="19431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DDE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312">
            <a:extLst xmlns:a="http://schemas.openxmlformats.org/drawingml/2006/main">
              <a:ext uri="{FF2B5EF4-FFF2-40B4-BE49-F238E27FC236}">
                <a16:creationId xmlns:a16="http://schemas.microsoft.com/office/drawing/2014/main" id="{080F5D9A-34A7-4C4E-BE3B-2D7DFD4D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315EFB"/>
                </a:solidFill>
              </a:defRPr>
            </a:pPr>
            <a:r>
              <a:rPr sz="1500" b="1" i="0">
                <a:solidFill>
                  <a:srgbClr val="315EFB"/>
                </a:solidFill>
              </a:rPr>
              <a:t>continue</a:t>
            </a:r>
          </a:p>
        </p:txBody>
      </p:sp>
      <p:sp>
        <p:nvSpPr>
          <p:cNvPr id="19" name="text-313">
            <a:extLst xmlns:a="http://schemas.openxmlformats.org/drawingml/2006/main">
              <a:ext uri="{FF2B5EF4-FFF2-40B4-BE49-F238E27FC236}">
                <a16:creationId xmlns:a16="http://schemas.microsoft.com/office/drawing/2014/main" id="{5BFBBB54-95D3-4794-B3C9-388B12DF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0985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F716E"/>
                </a:solidFill>
              </a:defRPr>
            </a:pPr>
            <a:r>
              <a:rPr sz="1275" b="0" i="0">
                <a:solidFill>
                  <a:srgbClr val="6F716E"/>
                </a:solidFill>
              </a:rPr>
              <a:t>frame 5</a:t>
            </a:r>
          </a:p>
        </p:txBody>
      </p:sp>
      <p:sp>
        <p:nvSpPr>
          <p:cNvPr id="20" name="shape-314">
            <a:extLst xmlns:a="http://schemas.openxmlformats.org/drawingml/2006/main">
              <a:ext uri="{FF2B5EF4-FFF2-40B4-BE49-F238E27FC236}">
                <a16:creationId xmlns:a16="http://schemas.microsoft.com/office/drawing/2014/main" id="{16131445-406B-4791-BA04-5E33C8C6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52750"/>
            <a:ext cx="19431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DCEB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315">
            <a:extLst xmlns:a="http://schemas.openxmlformats.org/drawingml/2006/main">
              <a:ext uri="{FF2B5EF4-FFF2-40B4-BE49-F238E27FC236}">
                <a16:creationId xmlns:a16="http://schemas.microsoft.com/office/drawing/2014/main" id="{492BDE52-E975-46B1-B322-7C48B724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1432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57B69"/>
                </a:solidFill>
              </a:defRPr>
            </a:pPr>
            <a:r>
              <a:rPr sz="1500" b="1" i="0">
                <a:solidFill>
                  <a:srgbClr val="257B69"/>
                </a:solidFill>
              </a:rPr>
              <a:t>revise</a:t>
            </a:r>
          </a:p>
        </p:txBody>
      </p:sp>
      <p:sp>
        <p:nvSpPr>
          <p:cNvPr id="22" name="shape-316">
            <a:extLst xmlns:a="http://schemas.openxmlformats.org/drawingml/2006/main">
              <a:ext uri="{FF2B5EF4-FFF2-40B4-BE49-F238E27FC236}">
                <a16:creationId xmlns:a16="http://schemas.microsoft.com/office/drawing/2014/main" id="{C698B697-5BFC-45C3-BCDF-3FE5715E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624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317">
            <a:extLst xmlns:a="http://schemas.openxmlformats.org/drawingml/2006/main">
              <a:ext uri="{FF2B5EF4-FFF2-40B4-BE49-F238E27FC236}">
                <a16:creationId xmlns:a16="http://schemas.microsoft.com/office/drawing/2014/main" id="{AADFF0D1-840B-4B70-83A1-A647D13F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10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71717"/>
                </a:solidFill>
              </a:defRPr>
            </a:pPr>
            <a:r>
              <a:rPr sz="2025" b="1" i="0">
                <a:solidFill>
                  <a:srgbClr val="171717"/>
                </a:solidFill>
              </a:rPr>
              <a:t>Status tokens make waiting an explicit action - not an accidental lack of output.</a:t>
            </a:r>
          </a:p>
        </p:txBody>
      </p:sp>
      <p:sp>
        <p:nvSpPr>
          <p:cNvPr id="24" name="shape-318">
            <a:extLst xmlns:a="http://schemas.openxmlformats.org/drawingml/2006/main">
              <a:ext uri="{FF2B5EF4-FFF2-40B4-BE49-F238E27FC236}">
                <a16:creationId xmlns:a16="http://schemas.microsoft.com/office/drawing/2014/main" id="{CB97FCC8-0B00-472D-805D-99F1BF65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530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319">
            <a:extLst xmlns:a="http://schemas.openxmlformats.org/drawingml/2006/main">
              <a:ext uri="{FF2B5EF4-FFF2-40B4-BE49-F238E27FC236}">
                <a16:creationId xmlns:a16="http://schemas.microsoft.com/office/drawing/2014/main" id="{6CF8824F-08EC-4B12-8379-247CA06F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314950"/>
            <a:ext cx="9105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71717"/>
                </a:solidFill>
              </a:defRPr>
            </a:pPr>
            <a:r>
              <a:rPr sz="2025" b="1" i="0">
                <a:solidFill>
                  <a:srgbClr val="171717"/>
                </a:solidFill>
              </a:rPr>
              <a:t>Class reweighting and focal loss prevent the model from learning to stay silent forever.</a:t>
            </a:r>
          </a:p>
        </p:txBody>
      </p:sp>
    </p:spTree>
    <p:extLst>
      <p:ext uri="{BB962C8B-B14F-4D97-AF65-F5344CB8AC3E}">
        <p14:creationId xmlns:p14="http://schemas.microsoft.com/office/powerpoint/2010/main" val="4414503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320">
            <a:extLst xmlns:a="http://schemas.openxmlformats.org/drawingml/2006/main">
              <a:ext uri="{FF2B5EF4-FFF2-40B4-BE49-F238E27FC236}">
                <a16:creationId xmlns:a16="http://schemas.microsoft.com/office/drawing/2014/main" id="{27EFAD2F-E582-4BBD-8056-D2CE2FCF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SYSTEMS EVIDENCE</a:t>
            </a:r>
          </a:p>
        </p:txBody>
      </p:sp>
      <p:sp>
        <p:nvSpPr>
          <p:cNvPr id="2" name="shape-321">
            <a:extLst xmlns:a="http://schemas.openxmlformats.org/drawingml/2006/main">
              <a:ext uri="{FF2B5EF4-FFF2-40B4-BE49-F238E27FC236}">
                <a16:creationId xmlns:a16="http://schemas.microsoft.com/office/drawing/2014/main" id="{6484A53B-AA01-46D2-8A74-F7EAFAA2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322">
            <a:extLst xmlns:a="http://schemas.openxmlformats.org/drawingml/2006/main">
              <a:ext uri="{FF2B5EF4-FFF2-40B4-BE49-F238E27FC236}">
                <a16:creationId xmlns:a16="http://schemas.microsoft.com/office/drawing/2014/main" id="{C83B25EB-6C1A-4D8C-B64E-7B47A5C6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F716E"/>
                </a:solidFill>
              </a:defRPr>
            </a:pPr>
            <a:r>
              <a:rPr sz="1200" b="0" i="0">
                <a:solidFill>
                  <a:srgbClr val="6F716E"/>
                </a:solidFill>
              </a:rPr>
              <a:t>Paper Fig. 4 · p. 13</a:t>
            </a:r>
          </a:p>
        </p:txBody>
      </p:sp>
      <p:sp>
        <p:nvSpPr>
          <p:cNvPr id="4" name="text-323">
            <a:extLst xmlns:a="http://schemas.openxmlformats.org/drawingml/2006/main">
              <a:ext uri="{FF2B5EF4-FFF2-40B4-BE49-F238E27FC236}">
                <a16:creationId xmlns:a16="http://schemas.microsoft.com/office/drawing/2014/main" id="{B7D632A7-8291-4BC9-BAA7-A2054775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77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08</a:t>
            </a:r>
          </a:p>
        </p:txBody>
      </p:sp>
      <p:sp>
        <p:nvSpPr>
          <p:cNvPr id="5" name="text-324">
            <a:extLst xmlns:a="http://schemas.openxmlformats.org/drawingml/2006/main">
              <a:ext uri="{FF2B5EF4-FFF2-40B4-BE49-F238E27FC236}">
                <a16:creationId xmlns:a16="http://schemas.microsoft.com/office/drawing/2014/main" id="{40BAF408-E13F-4D9C-986F-44C3115F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171717"/>
                </a:solidFill>
              </a:defRPr>
            </a:pPr>
            <a:r>
              <a:rPr sz="3600" b="1" i="0">
                <a:solidFill>
                  <a:srgbClr val="171717"/>
                </a:solidFill>
              </a:rPr>
              <a:t>Append-only vision reduces long-context cost</a:t>
            </a:r>
          </a:p>
        </p:txBody>
      </p:sp>
      <p:sp>
        <p:nvSpPr>
          <p:cNvPr id="6" name="shape-325">
            <a:extLst xmlns:a="http://schemas.openxmlformats.org/drawingml/2006/main">
              <a:ext uri="{FF2B5EF4-FFF2-40B4-BE49-F238E27FC236}">
                <a16:creationId xmlns:a16="http://schemas.microsoft.com/office/drawing/2014/main" id="{581F4919-1764-49EA-A032-236A05B8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79629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c6ecf6a7f8402b"/>
          <a:stretch xmlns:a="http://schemas.openxmlformats.org/drawingml/2006/main"/>
        </p:blipFill>
        <p:spPr>
          <a:xfrm xmlns:a="http://schemas.openxmlformats.org/drawingml/2006/main">
            <a:off x="1470791" y="1962150"/>
            <a:ext cx="6240517" cy="3810000"/>
          </a:xfrm>
          <a:prstGeom xmlns:a="http://schemas.openxmlformats.org/drawingml/2006/main" prst="rect">
            <a:avLst/>
          </a:prstGeom>
        </p:spPr>
      </p:pic>
      <p:sp>
        <p:nvSpPr>
          <p:cNvPr id="8" name="text-326">
            <a:extLst xmlns:a="http://schemas.openxmlformats.org/drawingml/2006/main">
              <a:ext uri="{FF2B5EF4-FFF2-40B4-BE49-F238E27FC236}">
                <a16:creationId xmlns:a16="http://schemas.microsoft.com/office/drawing/2014/main" id="{045FD56F-98F7-4F51-91FF-4E6722FA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 i="0">
                <a:solidFill>
                  <a:srgbClr val="315EFB"/>
                </a:solidFill>
              </a:defRPr>
            </a:pPr>
            <a:r>
              <a:rPr sz="3450" b="1" i="0">
                <a:solidFill>
                  <a:srgbClr val="315EFB"/>
                </a:solidFill>
              </a:rPr>
              <a:t>2.8 → 5.1x</a:t>
            </a:r>
          </a:p>
        </p:txBody>
      </p:sp>
      <p:sp>
        <p:nvSpPr>
          <p:cNvPr id="9" name="text-327">
            <a:extLst xmlns:a="http://schemas.openxmlformats.org/drawingml/2006/main">
              <a:ext uri="{FF2B5EF4-FFF2-40B4-BE49-F238E27FC236}">
                <a16:creationId xmlns:a16="http://schemas.microsoft.com/office/drawing/2014/main" id="{71A8547F-EC9A-4ADF-8B74-CAD72F5C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99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TTFT advantage as matched visual context grows</a:t>
            </a:r>
          </a:p>
        </p:txBody>
      </p:sp>
      <p:sp>
        <p:nvSpPr>
          <p:cNvPr id="10" name="text-328">
            <a:extLst xmlns:a="http://schemas.openxmlformats.org/drawingml/2006/main">
              <a:ext uri="{FF2B5EF4-FFF2-40B4-BE49-F238E27FC236}">
                <a16:creationId xmlns:a16="http://schemas.microsoft.com/office/drawing/2014/main" id="{E35E7E6C-B89A-450B-AD4B-47105ECF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576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 i="0">
                <a:solidFill>
                  <a:srgbClr val="257B69"/>
                </a:solidFill>
              </a:defRPr>
            </a:pPr>
            <a:r>
              <a:rPr sz="3450" b="1" i="0">
                <a:solidFill>
                  <a:srgbClr val="257B69"/>
                </a:solidFill>
              </a:rPr>
              <a:t>1.9 → 4.3x</a:t>
            </a:r>
          </a:p>
        </p:txBody>
      </p:sp>
      <p:sp>
        <p:nvSpPr>
          <p:cNvPr id="11" name="text-329">
            <a:extLst xmlns:a="http://schemas.openxmlformats.org/drawingml/2006/main">
              <a:ext uri="{FF2B5EF4-FFF2-40B4-BE49-F238E27FC236}">
                <a16:creationId xmlns:a16="http://schemas.microsoft.com/office/drawing/2014/main" id="{68181F1B-F907-4C5F-AC8E-AF567B68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434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end-to-end advantage</a:t>
            </a:r>
          </a:p>
        </p:txBody>
      </p:sp>
      <p:sp>
        <p:nvSpPr>
          <p:cNvPr id="12" name="text-330">
            <a:extLst xmlns:a="http://schemas.openxmlformats.org/drawingml/2006/main">
              <a:ext uri="{FF2B5EF4-FFF2-40B4-BE49-F238E27FC236}">
                <a16:creationId xmlns:a16="http://schemas.microsoft.com/office/drawing/2014/main" id="{F57CEDBA-E9A8-4711-97DD-98012A3D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6265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6F716E"/>
                </a:solidFill>
              </a:defRPr>
            </a:pPr>
            <a:r>
              <a:rPr sz="1350" b="0" i="0">
                <a:solidFill>
                  <a:srgbClr val="6F716E"/>
                </a:solidFill>
              </a:rPr>
              <a:t>Single H200 · TP=1 · BF16 · same SGLang version · five cold starts</a:t>
            </a:r>
          </a:p>
        </p:txBody>
      </p:sp>
    </p:spTree>
    <p:extLst>
      <p:ext uri="{BB962C8B-B14F-4D97-AF65-F5344CB8AC3E}">
        <p14:creationId xmlns:p14="http://schemas.microsoft.com/office/powerpoint/2010/main" val="9286233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331">
            <a:extLst xmlns:a="http://schemas.openxmlformats.org/drawingml/2006/main">
              <a:ext uri="{FF2B5EF4-FFF2-40B4-BE49-F238E27FC236}">
                <a16:creationId xmlns:a16="http://schemas.microsoft.com/office/drawing/2014/main" id="{99955E51-348E-4B85-BE47-F28B5566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BEHAVIOR EVIDENCE</a:t>
            </a:r>
          </a:p>
        </p:txBody>
      </p:sp>
      <p:sp>
        <p:nvSpPr>
          <p:cNvPr id="2" name="shape-332">
            <a:extLst xmlns:a="http://schemas.openxmlformats.org/drawingml/2006/main">
              <a:ext uri="{FF2B5EF4-FFF2-40B4-BE49-F238E27FC236}">
                <a16:creationId xmlns:a16="http://schemas.microsoft.com/office/drawing/2014/main" id="{8C0CB810-BD98-4B0B-81BB-6D811D18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333">
            <a:extLst xmlns:a="http://schemas.openxmlformats.org/drawingml/2006/main">
              <a:ext uri="{FF2B5EF4-FFF2-40B4-BE49-F238E27FC236}">
                <a16:creationId xmlns:a16="http://schemas.microsoft.com/office/drawing/2014/main" id="{402A3821-19B4-46E6-B178-FCA5E5C6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F716E"/>
                </a:solidFill>
              </a:defRPr>
            </a:pPr>
            <a:r>
              <a:rPr sz="1200" b="0" i="0">
                <a:solidFill>
                  <a:srgbClr val="6F716E"/>
                </a:solidFill>
              </a:rPr>
              <a:t>Paper Fig. 1, Table 6 · pp. 2, 12-13</a:t>
            </a:r>
          </a:p>
        </p:txBody>
      </p:sp>
      <p:sp>
        <p:nvSpPr>
          <p:cNvPr id="4" name="text-334">
            <a:extLst xmlns:a="http://schemas.openxmlformats.org/drawingml/2006/main">
              <a:ext uri="{FF2B5EF4-FFF2-40B4-BE49-F238E27FC236}">
                <a16:creationId xmlns:a16="http://schemas.microsoft.com/office/drawing/2014/main" id="{FBDDB829-4E55-4E87-AC92-6DD8C838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77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09</a:t>
            </a:r>
          </a:p>
        </p:txBody>
      </p:sp>
      <p:sp>
        <p:nvSpPr>
          <p:cNvPr id="5" name="text-335">
            <a:extLst xmlns:a="http://schemas.openxmlformats.org/drawingml/2006/main">
              <a:ext uri="{FF2B5EF4-FFF2-40B4-BE49-F238E27FC236}">
                <a16:creationId xmlns:a16="http://schemas.microsoft.com/office/drawing/2014/main" id="{2682A19B-F59E-49CD-A1E9-7759858C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171717"/>
                </a:solidFill>
              </a:defRPr>
            </a:pPr>
            <a:r>
              <a:rPr sz="3600" b="1" i="0">
                <a:solidFill>
                  <a:srgbClr val="171717"/>
                </a:solidFill>
              </a:rPr>
              <a:t>Wins concentrate on response timing</a:t>
            </a:r>
          </a:p>
        </p:txBody>
      </p:sp>
      <p:sp>
        <p:nvSpPr>
          <p:cNvPr id="6" name="shape-336">
            <a:extLst xmlns:a="http://schemas.openxmlformats.org/drawingml/2006/main">
              <a:ext uri="{FF2B5EF4-FFF2-40B4-BE49-F238E27FC236}">
                <a16:creationId xmlns:a16="http://schemas.microsoft.com/office/drawing/2014/main" id="{081BC09B-FDC6-4144-962C-CEA57B37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71056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b65b3b6e0d4cba"/>
          <a:stretch xmlns:a="http://schemas.openxmlformats.org/drawingml/2006/main"/>
        </p:blipFill>
        <p:spPr>
          <a:xfrm xmlns:a="http://schemas.openxmlformats.org/drawingml/2006/main">
            <a:off x="2459703" y="2000250"/>
            <a:ext cx="3405444" cy="2381250"/>
          </a:xfrm>
          <a:prstGeom xmlns:a="http://schemas.openxmlformats.org/drawingml/2006/main" prst="rect">
            <a:avLst/>
          </a:prstGeom>
        </p:spPr>
      </p:pic>
      <p:sp>
        <p:nvSpPr>
          <p:cNvPr id="8" name="text-337">
            <a:extLst xmlns:a="http://schemas.openxmlformats.org/drawingml/2006/main">
              <a:ext uri="{FF2B5EF4-FFF2-40B4-BE49-F238E27FC236}">
                <a16:creationId xmlns:a16="http://schemas.microsoft.com/office/drawing/2014/main" id="{1301AEDA-E0F7-4F09-B085-E6559A29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1" i="0">
                <a:solidFill>
                  <a:srgbClr val="315EFB"/>
                </a:solidFill>
              </a:defRPr>
            </a:pPr>
            <a:r>
              <a:rPr sz="4350" b="1" i="0">
                <a:solidFill>
                  <a:srgbClr val="315EFB"/>
                </a:solidFill>
              </a:rPr>
              <a:t>66.0</a:t>
            </a:r>
          </a:p>
        </p:txBody>
      </p:sp>
      <p:sp>
        <p:nvSpPr>
          <p:cNvPr id="9" name="text-338">
            <a:extLst xmlns:a="http://schemas.openxmlformats.org/drawingml/2006/main">
              <a:ext uri="{FF2B5EF4-FFF2-40B4-BE49-F238E27FC236}">
                <a16:creationId xmlns:a16="http://schemas.microsoft.com/office/drawing/2014/main" id="{334B1390-1B15-4140-8A92-D1E51315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OmniMMI proactive alerting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vs. 37.5</a:t>
            </a:r>
          </a:p>
        </p:txBody>
      </p:sp>
      <p:sp>
        <p:nvSpPr>
          <p:cNvPr id="10" name="text-339">
            <a:extLst xmlns:a="http://schemas.openxmlformats.org/drawingml/2006/main">
              <a:ext uri="{FF2B5EF4-FFF2-40B4-BE49-F238E27FC236}">
                <a16:creationId xmlns:a16="http://schemas.microsoft.com/office/drawing/2014/main" id="{06752AE8-F9E8-4DCC-8465-879101A0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1" i="0">
                <a:solidFill>
                  <a:srgbClr val="257B69"/>
                </a:solidFill>
              </a:defRPr>
            </a:pPr>
            <a:r>
              <a:rPr sz="4350" b="1" i="0">
                <a:solidFill>
                  <a:srgbClr val="257B69"/>
                </a:solidFill>
              </a:rPr>
              <a:t>62.1</a:t>
            </a:r>
          </a:p>
        </p:txBody>
      </p:sp>
      <p:sp>
        <p:nvSpPr>
          <p:cNvPr id="11" name="text-340">
            <a:extLst xmlns:a="http://schemas.openxmlformats.org/drawingml/2006/main">
              <a:ext uri="{FF2B5EF4-FFF2-40B4-BE49-F238E27FC236}">
                <a16:creationId xmlns:a16="http://schemas.microsoft.com/office/drawing/2014/main" id="{6FB901BD-1668-4609-83BC-20381004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05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OVO-Bench active responding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vs. 55.8</a:t>
            </a:r>
          </a:p>
        </p:txBody>
      </p:sp>
      <p:sp>
        <p:nvSpPr>
          <p:cNvPr id="12" name="text-341">
            <a:extLst xmlns:a="http://schemas.openxmlformats.org/drawingml/2006/main">
              <a:ext uri="{FF2B5EF4-FFF2-40B4-BE49-F238E27FC236}">
                <a16:creationId xmlns:a16="http://schemas.microsoft.com/office/drawing/2014/main" id="{41BF5E8D-0472-483F-812E-B607D7E4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81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1" i="0">
                <a:solidFill>
                  <a:srgbClr val="9A642A"/>
                </a:solidFill>
              </a:defRPr>
            </a:pPr>
            <a:r>
              <a:rPr sz="4350" b="1" i="0">
                <a:solidFill>
                  <a:srgbClr val="9A642A"/>
                </a:solidFill>
              </a:rPr>
              <a:t>60.0</a:t>
            </a:r>
          </a:p>
        </p:txBody>
      </p:sp>
      <p:sp>
        <p:nvSpPr>
          <p:cNvPr id="13" name="text-342">
            <a:extLst xmlns:a="http://schemas.openxmlformats.org/drawingml/2006/main">
              <a:ext uri="{FF2B5EF4-FFF2-40B4-BE49-F238E27FC236}">
                <a16:creationId xmlns:a16="http://schemas.microsoft.com/office/drawing/2014/main" id="{2EDB7868-F0BF-4433-B1ED-006B57C8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8674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StreamingBench proactive output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vs. 53.2</a:t>
            </a:r>
          </a:p>
        </p:txBody>
      </p:sp>
      <p:sp>
        <p:nvSpPr>
          <p:cNvPr id="14" name="shape-343">
            <a:extLst xmlns:a="http://schemas.openxmlformats.org/drawingml/2006/main">
              <a:ext uri="{FF2B5EF4-FFF2-40B4-BE49-F238E27FC236}">
                <a16:creationId xmlns:a16="http://schemas.microsoft.com/office/drawing/2014/main" id="{1A317E89-8691-4B01-B379-4F4DE02A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3395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344">
            <a:extLst xmlns:a="http://schemas.openxmlformats.org/drawingml/2006/main">
              <a:ext uri="{FF2B5EF4-FFF2-40B4-BE49-F238E27FC236}">
                <a16:creationId xmlns:a16="http://schemas.microsoft.com/office/drawing/2014/main" id="{27379685-C02B-4213-90AA-EDEE8789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95850"/>
            <a:ext cx="567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71717"/>
                </a:solidFill>
              </a:defRPr>
            </a:pPr>
            <a:r>
              <a:rPr sz="1875" b="1" i="0">
                <a:solidFill>
                  <a:srgbClr val="171717"/>
                </a:solidFill>
              </a:rPr>
              <a:t>Three benchmark averages rank first; the fourth ranks second.</a:t>
            </a:r>
          </a:p>
        </p:txBody>
      </p:sp>
      <p:sp>
        <p:nvSpPr>
          <p:cNvPr id="16" name="text-345">
            <a:extLst xmlns:a="http://schemas.openxmlformats.org/drawingml/2006/main">
              <a:ext uri="{FF2B5EF4-FFF2-40B4-BE49-F238E27FC236}">
                <a16:creationId xmlns:a16="http://schemas.microsoft.com/office/drawing/2014/main" id="{EFB8F759-971F-492F-8675-E36DD175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531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F716E"/>
                </a:solidFill>
              </a:defRPr>
            </a:pPr>
            <a:r>
              <a:rPr sz="1425" b="0" i="0">
                <a:solidFill>
                  <a:srgbClr val="6F716E"/>
                </a:solidFill>
              </a:rPr>
              <a:t>Protocols follow each baseline's own streaming setup - this is convergent evidence, not an equal-budget causal comparison.</a:t>
            </a:r>
          </a:p>
        </p:txBody>
      </p:sp>
    </p:spTree>
    <p:extLst>
      <p:ext uri="{BB962C8B-B14F-4D97-AF65-F5344CB8AC3E}">
        <p14:creationId xmlns:p14="http://schemas.microsoft.com/office/powerpoint/2010/main" val="13741250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346">
            <a:extLst xmlns:a="http://schemas.openxmlformats.org/drawingml/2006/main">
              <a:ext uri="{FF2B5EF4-FFF2-40B4-BE49-F238E27FC236}">
                <a16:creationId xmlns:a16="http://schemas.microsoft.com/office/drawing/2014/main" id="{A1CA9CA4-6467-4E86-9DFB-0F1A809F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EVIDENCE BOUNDARY</a:t>
            </a:r>
          </a:p>
        </p:txBody>
      </p:sp>
      <p:sp>
        <p:nvSpPr>
          <p:cNvPr id="2" name="shape-347">
            <a:extLst xmlns:a="http://schemas.openxmlformats.org/drawingml/2006/main">
              <a:ext uri="{FF2B5EF4-FFF2-40B4-BE49-F238E27FC236}">
                <a16:creationId xmlns:a16="http://schemas.microsoft.com/office/drawing/2014/main" id="{2941D01E-866C-44C6-A043-672DB730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348">
            <a:extLst xmlns:a="http://schemas.openxmlformats.org/drawingml/2006/main">
              <a:ext uri="{FF2B5EF4-FFF2-40B4-BE49-F238E27FC236}">
                <a16:creationId xmlns:a16="http://schemas.microsoft.com/office/drawing/2014/main" id="{7CDFC733-E8A6-467D-B24C-58965DC1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F716E"/>
                </a:solidFill>
              </a:defRPr>
            </a:pPr>
            <a:r>
              <a:rPr sz="1200" b="0" i="0">
                <a:solidFill>
                  <a:srgbClr val="6F716E"/>
                </a:solidFill>
              </a:rPr>
              <a:t>Paper §6.2, §7 · pp. 12-15</a:t>
            </a:r>
          </a:p>
        </p:txBody>
      </p:sp>
      <p:sp>
        <p:nvSpPr>
          <p:cNvPr id="4" name="text-349">
            <a:extLst xmlns:a="http://schemas.openxmlformats.org/drawingml/2006/main">
              <a:ext uri="{FF2B5EF4-FFF2-40B4-BE49-F238E27FC236}">
                <a16:creationId xmlns:a16="http://schemas.microsoft.com/office/drawing/2014/main" id="{FD9B14BB-1202-4101-9226-B3A6F9D8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77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10</a:t>
            </a:r>
          </a:p>
        </p:txBody>
      </p:sp>
      <p:sp>
        <p:nvSpPr>
          <p:cNvPr id="5" name="text-350">
            <a:extLst xmlns:a="http://schemas.openxmlformats.org/drawingml/2006/main">
              <a:ext uri="{FF2B5EF4-FFF2-40B4-BE49-F238E27FC236}">
                <a16:creationId xmlns:a16="http://schemas.microsoft.com/office/drawing/2014/main" id="{B18CB4FA-3599-4CC9-A89E-DC3D2F1C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171717"/>
                </a:solidFill>
              </a:defRPr>
            </a:pPr>
            <a:r>
              <a:rPr sz="3600" b="1" i="0">
                <a:solidFill>
                  <a:srgbClr val="171717"/>
                </a:solidFill>
              </a:rPr>
              <a:t>Public benchmarks stop before L5</a:t>
            </a:r>
          </a:p>
        </p:txBody>
      </p:sp>
      <p:sp>
        <p:nvSpPr>
          <p:cNvPr id="6" name="text-351">
            <a:extLst xmlns:a="http://schemas.openxmlformats.org/drawingml/2006/main">
              <a:ext uri="{FF2B5EF4-FFF2-40B4-BE49-F238E27FC236}">
                <a16:creationId xmlns:a16="http://schemas.microsoft.com/office/drawing/2014/main" id="{46B189A6-04F4-413C-A6C5-66CB3EDF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5265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257B69"/>
                </a:solidFill>
              </a:defRPr>
            </a:pPr>
            <a:r>
              <a:rPr sz="2250" b="1" i="0">
                <a:solidFill>
                  <a:srgbClr val="257B69"/>
                </a:solidFill>
              </a:rPr>
              <a:t>L2</a:t>
            </a:r>
          </a:p>
        </p:txBody>
      </p:sp>
      <p:sp>
        <p:nvSpPr>
          <p:cNvPr id="7" name="text-352">
            <a:extLst xmlns:a="http://schemas.openxmlformats.org/drawingml/2006/main">
              <a:ext uri="{FF2B5EF4-FFF2-40B4-BE49-F238E27FC236}">
                <a16:creationId xmlns:a16="http://schemas.microsoft.com/office/drawing/2014/main" id="{36A0BF05-8D79-4B8C-95EB-C76F82A0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526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71717"/>
                </a:solidFill>
              </a:defRPr>
            </a:pPr>
            <a:r>
              <a:rPr sz="2025" b="1" i="0">
                <a:solidFill>
                  <a:srgbClr val="171717"/>
                </a:solidFill>
              </a:rPr>
              <a:t>streaming input</a:t>
            </a:r>
          </a:p>
        </p:txBody>
      </p:sp>
      <p:sp>
        <p:nvSpPr>
          <p:cNvPr id="8" name="text-353">
            <a:extLst xmlns:a="http://schemas.openxmlformats.org/drawingml/2006/main">
              <a:ext uri="{FF2B5EF4-FFF2-40B4-BE49-F238E27FC236}">
                <a16:creationId xmlns:a16="http://schemas.microsoft.com/office/drawing/2014/main" id="{093669E7-6FCC-486C-91DB-A79FBCFC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52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1" i="0">
                <a:solidFill>
                  <a:srgbClr val="257B69"/>
                </a:solidFill>
              </a:defRPr>
            </a:pPr>
            <a:r>
              <a:rPr sz="1350" b="1" i="0">
                <a:solidFill>
                  <a:srgbClr val="257B69"/>
                </a:solidFill>
              </a:rPr>
              <a:t>QUANTIFIED</a:t>
            </a:r>
          </a:p>
        </p:txBody>
      </p:sp>
      <p:sp>
        <p:nvSpPr>
          <p:cNvPr id="9" name="shape-354">
            <a:extLst xmlns:a="http://schemas.openxmlformats.org/drawingml/2006/main">
              <a:ext uri="{FF2B5EF4-FFF2-40B4-BE49-F238E27FC236}">
                <a16:creationId xmlns:a16="http://schemas.microsoft.com/office/drawing/2014/main" id="{4FA6DC55-F88D-46F2-8B8A-D8D622DF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355">
            <a:extLst xmlns:a="http://schemas.openxmlformats.org/drawingml/2006/main">
              <a:ext uri="{FF2B5EF4-FFF2-40B4-BE49-F238E27FC236}">
                <a16:creationId xmlns:a16="http://schemas.microsoft.com/office/drawing/2014/main" id="{FF524955-3FED-484A-9DFA-9F10A0B0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257B69"/>
                </a:solidFill>
              </a:defRPr>
            </a:pPr>
            <a:r>
              <a:rPr sz="2250" b="1" i="0">
                <a:solidFill>
                  <a:srgbClr val="257B69"/>
                </a:solidFill>
              </a:rPr>
              <a:t>L3</a:t>
            </a:r>
          </a:p>
        </p:txBody>
      </p:sp>
      <p:sp>
        <p:nvSpPr>
          <p:cNvPr id="11" name="text-356">
            <a:extLst xmlns:a="http://schemas.openxmlformats.org/drawingml/2006/main">
              <a:ext uri="{FF2B5EF4-FFF2-40B4-BE49-F238E27FC236}">
                <a16:creationId xmlns:a16="http://schemas.microsoft.com/office/drawing/2014/main" id="{4CA809D7-7991-4CB0-B3DC-56902AAB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289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71717"/>
                </a:solidFill>
              </a:defRPr>
            </a:pPr>
            <a:r>
              <a:rPr sz="2025" b="1" i="0">
                <a:solidFill>
                  <a:srgbClr val="171717"/>
                </a:solidFill>
              </a:rPr>
              <a:t>deliberate silence</a:t>
            </a:r>
          </a:p>
        </p:txBody>
      </p:sp>
      <p:sp>
        <p:nvSpPr>
          <p:cNvPr id="12" name="text-357">
            <a:extLst xmlns:a="http://schemas.openxmlformats.org/drawingml/2006/main">
              <a:ext uri="{FF2B5EF4-FFF2-40B4-BE49-F238E27FC236}">
                <a16:creationId xmlns:a16="http://schemas.microsoft.com/office/drawing/2014/main" id="{65530A2F-BED0-4EE3-ACC0-FEED54F6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289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1" i="0">
                <a:solidFill>
                  <a:srgbClr val="257B69"/>
                </a:solidFill>
              </a:defRPr>
            </a:pPr>
            <a:r>
              <a:rPr sz="1350" b="1" i="0">
                <a:solidFill>
                  <a:srgbClr val="257B69"/>
                </a:solidFill>
              </a:rPr>
              <a:t>QUANTIFIED</a:t>
            </a:r>
          </a:p>
        </p:txBody>
      </p:sp>
      <p:sp>
        <p:nvSpPr>
          <p:cNvPr id="13" name="shape-358">
            <a:extLst xmlns:a="http://schemas.openxmlformats.org/drawingml/2006/main">
              <a:ext uri="{FF2B5EF4-FFF2-40B4-BE49-F238E27FC236}">
                <a16:creationId xmlns:a16="http://schemas.microsoft.com/office/drawing/2014/main" id="{C997D3D2-6542-46FD-BA1E-FDFA0968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359">
            <a:extLst xmlns:a="http://schemas.openxmlformats.org/drawingml/2006/main">
              <a:ext uri="{FF2B5EF4-FFF2-40B4-BE49-F238E27FC236}">
                <a16:creationId xmlns:a16="http://schemas.microsoft.com/office/drawing/2014/main" id="{27F743E2-F21E-429B-8E7D-54E3ACD3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257B69"/>
                </a:solidFill>
              </a:defRPr>
            </a:pPr>
            <a:r>
              <a:rPr sz="2250" b="1" i="0">
                <a:solidFill>
                  <a:srgbClr val="257B69"/>
                </a:solidFill>
              </a:rPr>
              <a:t>L4</a:t>
            </a:r>
          </a:p>
        </p:txBody>
      </p:sp>
      <p:sp>
        <p:nvSpPr>
          <p:cNvPr id="15" name="text-360">
            <a:extLst xmlns:a="http://schemas.openxmlformats.org/drawingml/2006/main">
              <a:ext uri="{FF2B5EF4-FFF2-40B4-BE49-F238E27FC236}">
                <a16:creationId xmlns:a16="http://schemas.microsoft.com/office/drawing/2014/main" id="{A6970DE9-2F0E-4CFA-8DB3-A4374DAE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052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71717"/>
                </a:solidFill>
              </a:defRPr>
            </a:pPr>
            <a:r>
              <a:rPr sz="2025" b="1" i="0">
                <a:solidFill>
                  <a:srgbClr val="171717"/>
                </a:solidFill>
              </a:rPr>
              <a:t>persistent query</a:t>
            </a:r>
          </a:p>
        </p:txBody>
      </p:sp>
      <p:sp>
        <p:nvSpPr>
          <p:cNvPr id="16" name="text-361">
            <a:extLst xmlns:a="http://schemas.openxmlformats.org/drawingml/2006/main">
              <a:ext uri="{FF2B5EF4-FFF2-40B4-BE49-F238E27FC236}">
                <a16:creationId xmlns:a16="http://schemas.microsoft.com/office/drawing/2014/main" id="{65AB254E-0566-4CB3-8666-183975E1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05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1" i="0">
                <a:solidFill>
                  <a:srgbClr val="257B69"/>
                </a:solidFill>
              </a:defRPr>
            </a:pPr>
            <a:r>
              <a:rPr sz="1350" b="1" i="0">
                <a:solidFill>
                  <a:srgbClr val="257B69"/>
                </a:solidFill>
              </a:rPr>
              <a:t>QUANTIFIED</a:t>
            </a:r>
          </a:p>
        </p:txBody>
      </p:sp>
      <p:sp>
        <p:nvSpPr>
          <p:cNvPr id="17" name="shape-362">
            <a:extLst xmlns:a="http://schemas.openxmlformats.org/drawingml/2006/main">
              <a:ext uri="{FF2B5EF4-FFF2-40B4-BE49-F238E27FC236}">
                <a16:creationId xmlns:a16="http://schemas.microsoft.com/office/drawing/2014/main" id="{ED91BFC3-CDF8-493A-931E-F5621AFA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363">
            <a:extLst xmlns:a="http://schemas.openxmlformats.org/drawingml/2006/main">
              <a:ext uri="{FF2B5EF4-FFF2-40B4-BE49-F238E27FC236}">
                <a16:creationId xmlns:a16="http://schemas.microsoft.com/office/drawing/2014/main" id="{34E801C0-E7F4-4592-9829-C670D360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A1493F"/>
                </a:solidFill>
              </a:defRPr>
            </a:pPr>
            <a:r>
              <a:rPr sz="2250" b="1" i="0">
                <a:solidFill>
                  <a:srgbClr val="A1493F"/>
                </a:solidFill>
              </a:rPr>
              <a:t>L5</a:t>
            </a:r>
          </a:p>
        </p:txBody>
      </p:sp>
      <p:sp>
        <p:nvSpPr>
          <p:cNvPr id="19" name="text-364">
            <a:extLst xmlns:a="http://schemas.openxmlformats.org/drawingml/2006/main">
              <a:ext uri="{FF2B5EF4-FFF2-40B4-BE49-F238E27FC236}">
                <a16:creationId xmlns:a16="http://schemas.microsoft.com/office/drawing/2014/main" id="{AD0A5473-DB06-482B-AF7C-A7A97008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815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71717"/>
                </a:solidFill>
              </a:defRPr>
            </a:pPr>
            <a:r>
              <a:rPr sz="2025" b="1" i="0">
                <a:solidFill>
                  <a:srgbClr val="171717"/>
                </a:solidFill>
              </a:rPr>
              <a:t>perceive during generation</a:t>
            </a:r>
          </a:p>
        </p:txBody>
      </p:sp>
      <p:sp>
        <p:nvSpPr>
          <p:cNvPr id="20" name="text-365">
            <a:extLst xmlns:a="http://schemas.openxmlformats.org/drawingml/2006/main">
              <a:ext uri="{FF2B5EF4-FFF2-40B4-BE49-F238E27FC236}">
                <a16:creationId xmlns:a16="http://schemas.microsoft.com/office/drawing/2014/main" id="{987CFB11-0650-442A-9B3F-5D1E26BC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81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1" i="0">
                <a:solidFill>
                  <a:srgbClr val="A1493F"/>
                </a:solidFill>
              </a:defRPr>
            </a:pPr>
            <a:r>
              <a:rPr sz="1350" b="1" i="0">
                <a:solidFill>
                  <a:srgbClr val="A1493F"/>
                </a:solidFill>
              </a:rPr>
              <a:t>DEMO ONLY</a:t>
            </a:r>
          </a:p>
        </p:txBody>
      </p:sp>
      <p:sp>
        <p:nvSpPr>
          <p:cNvPr id="21" name="shape-366">
            <a:extLst xmlns:a="http://schemas.openxmlformats.org/drawingml/2006/main">
              <a:ext uri="{FF2B5EF4-FFF2-40B4-BE49-F238E27FC236}">
                <a16:creationId xmlns:a16="http://schemas.microsoft.com/office/drawing/2014/main" id="{416F0A21-4236-4856-84EC-30C06590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483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9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367">
            <a:extLst xmlns:a="http://schemas.openxmlformats.org/drawingml/2006/main">
              <a:ext uri="{FF2B5EF4-FFF2-40B4-BE49-F238E27FC236}">
                <a16:creationId xmlns:a16="http://schemas.microsoft.com/office/drawing/2014/main" id="{6AC4A15C-AB04-4158-A694-0BA9162B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10250"/>
            <a:ext cx="891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71717"/>
                </a:solidFill>
              </a:defRPr>
            </a:pPr>
            <a:r>
              <a:rPr sz="1650" b="1" i="0">
                <a:solidFill>
                  <a:srgbClr val="171717"/>
                </a:solidFill>
              </a:rPr>
              <a:t>Missing: revision latency, correct interruption rate, false interruptions, and stale-token count after evidence changes.</a:t>
            </a:r>
          </a:p>
        </p:txBody>
      </p:sp>
    </p:spTree>
    <p:extLst>
      <p:ext uri="{BB962C8B-B14F-4D97-AF65-F5344CB8AC3E}">
        <p14:creationId xmlns:p14="http://schemas.microsoft.com/office/powerpoint/2010/main" val="5319454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368">
            <a:extLst xmlns:a="http://schemas.openxmlformats.org/drawingml/2006/main">
              <a:ext uri="{FF2B5EF4-FFF2-40B4-BE49-F238E27FC236}">
                <a16:creationId xmlns:a16="http://schemas.microsoft.com/office/drawing/2014/main" id="{A61FAECE-842A-4C1A-A546-57F12203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QUALITATIVE L5</a:t>
            </a:r>
          </a:p>
        </p:txBody>
      </p:sp>
      <p:sp>
        <p:nvSpPr>
          <p:cNvPr id="2" name="shape-369">
            <a:extLst xmlns:a="http://schemas.openxmlformats.org/drawingml/2006/main">
              <a:ext uri="{FF2B5EF4-FFF2-40B4-BE49-F238E27FC236}">
                <a16:creationId xmlns:a16="http://schemas.microsoft.com/office/drawing/2014/main" id="{AEAAEA37-EEB5-449A-9A3F-61BF3AB6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370">
            <a:extLst xmlns:a="http://schemas.openxmlformats.org/drawingml/2006/main">
              <a:ext uri="{FF2B5EF4-FFF2-40B4-BE49-F238E27FC236}">
                <a16:creationId xmlns:a16="http://schemas.microsoft.com/office/drawing/2014/main" id="{C247A76B-6A85-43E6-9A4E-ACDB84B4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F716E"/>
                </a:solidFill>
              </a:defRPr>
            </a:pPr>
            <a:r>
              <a:rPr sz="1200" b="0" i="0">
                <a:solidFill>
                  <a:srgbClr val="6F716E"/>
                </a:solidFill>
              </a:rPr>
              <a:t>Paper Fig. 5 · p. 14</a:t>
            </a:r>
          </a:p>
        </p:txBody>
      </p:sp>
      <p:sp>
        <p:nvSpPr>
          <p:cNvPr id="4" name="text-371">
            <a:extLst xmlns:a="http://schemas.openxmlformats.org/drawingml/2006/main">
              <a:ext uri="{FF2B5EF4-FFF2-40B4-BE49-F238E27FC236}">
                <a16:creationId xmlns:a16="http://schemas.microsoft.com/office/drawing/2014/main" id="{B1425E03-87AA-4E83-B600-EFC9C006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77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11</a:t>
            </a:r>
          </a:p>
        </p:txBody>
      </p:sp>
      <p:sp>
        <p:nvSpPr>
          <p:cNvPr id="5" name="text-372">
            <a:extLst xmlns:a="http://schemas.openxmlformats.org/drawingml/2006/main">
              <a:ext uri="{FF2B5EF4-FFF2-40B4-BE49-F238E27FC236}">
                <a16:creationId xmlns:a16="http://schemas.microsoft.com/office/drawing/2014/main" id="{29891369-48F1-4733-8D42-9CFDDD39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171717"/>
                </a:solidFill>
              </a:defRPr>
            </a:pPr>
            <a:r>
              <a:rPr sz="3600" b="1" i="0">
                <a:solidFill>
                  <a:srgbClr val="171717"/>
                </a:solidFill>
              </a:rPr>
              <a:t>The demos show L5 behavior - not its reliability</a:t>
            </a:r>
          </a:p>
        </p:txBody>
      </p:sp>
      <p:sp>
        <p:nvSpPr>
          <p:cNvPr id="6" name="shape-373">
            <a:extLst xmlns:a="http://schemas.openxmlformats.org/drawingml/2006/main">
              <a:ext uri="{FF2B5EF4-FFF2-40B4-BE49-F238E27FC236}">
                <a16:creationId xmlns:a16="http://schemas.microsoft.com/office/drawing/2014/main" id="{357278E7-514C-4467-8119-596F928E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73914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0240386d24c30"/>
          <a:stretch xmlns:a="http://schemas.openxmlformats.org/drawingml/2006/main"/>
        </p:blipFill>
        <p:spPr>
          <a:xfrm xmlns:a="http://schemas.openxmlformats.org/drawingml/2006/main">
            <a:off x="1287780" y="1943100"/>
            <a:ext cx="6187440" cy="3962400"/>
          </a:xfrm>
          <a:prstGeom xmlns:a="http://schemas.openxmlformats.org/drawingml/2006/main" prst="rect">
            <a:avLst/>
          </a:prstGeom>
        </p:spPr>
      </p:pic>
      <p:sp>
        <p:nvSpPr>
          <p:cNvPr id="8" name="text-374">
            <a:extLst xmlns:a="http://schemas.openxmlformats.org/drawingml/2006/main">
              <a:ext uri="{FF2B5EF4-FFF2-40B4-BE49-F238E27FC236}">
                <a16:creationId xmlns:a16="http://schemas.microsoft.com/office/drawing/2014/main" id="{6E0D18A5-BFA0-47E7-A9AC-C1FD7CCE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57B69"/>
                </a:solidFill>
              </a:defRPr>
            </a:pPr>
            <a:r>
              <a:rPr sz="1200" b="1" i="0">
                <a:solidFill>
                  <a:srgbClr val="257B69"/>
                </a:solidFill>
              </a:rPr>
              <a:t>OBSERVED</a:t>
            </a:r>
          </a:p>
        </p:txBody>
      </p:sp>
      <p:sp>
        <p:nvSpPr>
          <p:cNvPr id="9" name="text-375">
            <a:extLst xmlns:a="http://schemas.openxmlformats.org/drawingml/2006/main">
              <a:ext uri="{FF2B5EF4-FFF2-40B4-BE49-F238E27FC236}">
                <a16:creationId xmlns:a16="http://schemas.microsoft.com/office/drawing/2014/main" id="{001BF321-216D-4630-AB45-1B39523B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90800"/>
            <a:ext cx="266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 i="0">
                <a:solidFill>
                  <a:srgbClr val="171717"/>
                </a:solidFill>
              </a:defRPr>
            </a:pPr>
            <a:r>
              <a:rPr sz="1800" b="1" i="0">
                <a:solidFill>
                  <a:srgbClr val="171717"/>
                </a:solidFill>
              </a:rPr>
              <a:t>Conditional alerts fire at target contacts.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1" i="0">
                <a:solidFill>
                  <a:srgbClr val="171717"/>
                </a:solidFill>
              </a:defRPr>
            </a:pPr>
            <a:r>
              <a:rPr sz="1800" b="1" i="0">
                <a:solidFill>
                  <a:srgbClr val="171717"/>
                </a:solidFill>
              </a:rPr>
              <a:t>Commentary follows a live sequence as it unfolds.</a:t>
            </a:r>
          </a:p>
        </p:txBody>
      </p:sp>
      <p:sp>
        <p:nvSpPr>
          <p:cNvPr id="10" name="text-376">
            <a:extLst xmlns:a="http://schemas.openxmlformats.org/drawingml/2006/main">
              <a:ext uri="{FF2B5EF4-FFF2-40B4-BE49-F238E27FC236}">
                <a16:creationId xmlns:a16="http://schemas.microsoft.com/office/drawing/2014/main" id="{5806855C-C793-41FC-A8F1-64779C14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57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A1493F"/>
                </a:solidFill>
              </a:defRPr>
            </a:pPr>
            <a:r>
              <a:rPr sz="1200" b="1" i="0">
                <a:solidFill>
                  <a:srgbClr val="A1493F"/>
                </a:solidFill>
              </a:rPr>
              <a:t>NOT MEASURED</a:t>
            </a:r>
          </a:p>
        </p:txBody>
      </p:sp>
      <p:sp>
        <p:nvSpPr>
          <p:cNvPr id="11" name="text-377">
            <a:extLst xmlns:a="http://schemas.openxmlformats.org/drawingml/2006/main">
              <a:ext uri="{FF2B5EF4-FFF2-40B4-BE49-F238E27FC236}">
                <a16:creationId xmlns:a16="http://schemas.microsoft.com/office/drawing/2014/main" id="{2794B2B1-C2EF-4151-9FAD-2CFA5238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38700"/>
            <a:ext cx="2667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171717"/>
                </a:solidFill>
              </a:defRPr>
            </a:pPr>
            <a:r>
              <a:rPr sz="1725" b="1" i="0">
                <a:solidFill>
                  <a:srgbClr val="171717"/>
                </a:solidFill>
              </a:rPr>
              <a:t>How often the model misses, interrupts incorrectly, or revises too late.</a:t>
            </a:r>
          </a:p>
        </p:txBody>
      </p:sp>
    </p:spTree>
    <p:extLst>
      <p:ext uri="{BB962C8B-B14F-4D97-AF65-F5344CB8AC3E}">
        <p14:creationId xmlns:p14="http://schemas.microsoft.com/office/powerpoint/2010/main" val="4267677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378">
            <a:extLst xmlns:a="http://schemas.openxmlformats.org/drawingml/2006/main">
              <a:ext uri="{FF2B5EF4-FFF2-40B4-BE49-F238E27FC236}">
                <a16:creationId xmlns:a16="http://schemas.microsoft.com/office/drawing/2014/main" id="{3691337A-6E6A-4083-81F6-061E0847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TAKEAWAYS</a:t>
            </a:r>
          </a:p>
        </p:txBody>
      </p:sp>
      <p:sp>
        <p:nvSpPr>
          <p:cNvPr id="2" name="shape-379">
            <a:extLst xmlns:a="http://schemas.openxmlformats.org/drawingml/2006/main">
              <a:ext uri="{FF2B5EF4-FFF2-40B4-BE49-F238E27FC236}">
                <a16:creationId xmlns:a16="http://schemas.microsoft.com/office/drawing/2014/main" id="{06745FB9-C1BE-4B56-B07E-79E5A6A3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380">
            <a:extLst xmlns:a="http://schemas.openxmlformats.org/drawingml/2006/main">
              <a:ext uri="{FF2B5EF4-FFF2-40B4-BE49-F238E27FC236}">
                <a16:creationId xmlns:a16="http://schemas.microsoft.com/office/drawing/2014/main" id="{AC6BBD20-C042-433A-8B1C-EB130278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F716E"/>
                </a:solidFill>
              </a:defRPr>
            </a:pPr>
            <a:r>
              <a:rPr sz="1200" b="0" i="0">
                <a:solidFill>
                  <a:srgbClr val="6F716E"/>
                </a:solidFill>
              </a:rPr>
              <a:t>MOSS-VL · paper synthesis</a:t>
            </a:r>
          </a:p>
        </p:txBody>
      </p:sp>
      <p:sp>
        <p:nvSpPr>
          <p:cNvPr id="4" name="text-381">
            <a:extLst xmlns:a="http://schemas.openxmlformats.org/drawingml/2006/main">
              <a:ext uri="{FF2B5EF4-FFF2-40B4-BE49-F238E27FC236}">
                <a16:creationId xmlns:a16="http://schemas.microsoft.com/office/drawing/2014/main" id="{72D6D92A-A13C-436E-9573-86A81516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77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12</a:t>
            </a:r>
          </a:p>
        </p:txBody>
      </p:sp>
      <p:sp>
        <p:nvSpPr>
          <p:cNvPr id="5" name="text-382">
            <a:extLst xmlns:a="http://schemas.openxmlformats.org/drawingml/2006/main">
              <a:ext uri="{FF2B5EF4-FFF2-40B4-BE49-F238E27FC236}">
                <a16:creationId xmlns:a16="http://schemas.microsoft.com/office/drawing/2014/main" id="{7652448F-35F9-42F7-B890-35543599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171717"/>
                </a:solidFill>
              </a:defRPr>
            </a:pPr>
            <a:r>
              <a:rPr sz="3600" b="1" i="0">
                <a:solidFill>
                  <a:srgbClr val="171717"/>
                </a:solidFill>
              </a:rPr>
              <a:t>Real-time interaction is an interface contract</a:t>
            </a:r>
          </a:p>
        </p:txBody>
      </p:sp>
      <p:sp>
        <p:nvSpPr>
          <p:cNvPr id="6" name="text-383">
            <a:extLst xmlns:a="http://schemas.openxmlformats.org/drawingml/2006/main">
              <a:ext uri="{FF2B5EF4-FFF2-40B4-BE49-F238E27FC236}">
                <a16:creationId xmlns:a16="http://schemas.microsoft.com/office/drawing/2014/main" id="{E838FEB7-919D-47C6-8C43-328D7427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315EFB"/>
                </a:solidFill>
              </a:defRPr>
            </a:pPr>
            <a:r>
              <a:rPr sz="2250" b="1" i="0">
                <a:solidFill>
                  <a:srgbClr val="315EFB"/>
                </a:solidFill>
              </a:rPr>
              <a:t>01</a:t>
            </a:r>
          </a:p>
        </p:txBody>
      </p:sp>
      <p:sp>
        <p:nvSpPr>
          <p:cNvPr id="7" name="text-384">
            <a:extLst xmlns:a="http://schemas.openxmlformats.org/drawingml/2006/main">
              <a:ext uri="{FF2B5EF4-FFF2-40B4-BE49-F238E27FC236}">
                <a16:creationId xmlns:a16="http://schemas.microsoft.com/office/drawing/2014/main" id="{0794905E-B7B8-45DD-B042-D22DF8F7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7645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71717"/>
                </a:solidFill>
              </a:defRPr>
            </a:pPr>
            <a:r>
              <a:rPr sz="2100" b="1" i="0">
                <a:solidFill>
                  <a:srgbClr val="171717"/>
                </a:solidFill>
              </a:rPr>
              <a:t>Architecture changes the state boundary.</a:t>
            </a:r>
          </a:p>
        </p:txBody>
      </p:sp>
      <p:sp>
        <p:nvSpPr>
          <p:cNvPr id="8" name="text-385">
            <a:extLst xmlns:a="http://schemas.openxmlformats.org/drawingml/2006/main">
              <a:ext uri="{FF2B5EF4-FFF2-40B4-BE49-F238E27FC236}">
                <a16:creationId xmlns:a16="http://schemas.microsoft.com/office/drawing/2014/main" id="{F38880A4-6B04-4462-A57A-D6E15ECA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955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Visual history grows in cross-attention KV, while the autoregressive language sequence remains stable.</a:t>
            </a:r>
          </a:p>
        </p:txBody>
      </p:sp>
      <p:sp>
        <p:nvSpPr>
          <p:cNvPr id="9" name="shape-386">
            <a:extLst xmlns:a="http://schemas.openxmlformats.org/drawingml/2006/main">
              <a:ext uri="{FF2B5EF4-FFF2-40B4-BE49-F238E27FC236}">
                <a16:creationId xmlns:a16="http://schemas.microsoft.com/office/drawing/2014/main" id="{5872F929-745B-4DF0-9C6C-0723A7BB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908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387">
            <a:extLst xmlns:a="http://schemas.openxmlformats.org/drawingml/2006/main">
              <a:ext uri="{FF2B5EF4-FFF2-40B4-BE49-F238E27FC236}">
                <a16:creationId xmlns:a16="http://schemas.microsoft.com/office/drawing/2014/main" id="{E60E7422-627A-4C83-9E4E-ACAC9EE6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315EFB"/>
                </a:solidFill>
              </a:defRPr>
            </a:pPr>
            <a:r>
              <a:rPr sz="2250" b="1" i="0">
                <a:solidFill>
                  <a:srgbClr val="315EFB"/>
                </a:solidFill>
              </a:rPr>
              <a:t>02</a:t>
            </a:r>
          </a:p>
        </p:txBody>
      </p:sp>
      <p:sp>
        <p:nvSpPr>
          <p:cNvPr id="11" name="text-388">
            <a:extLst xmlns:a="http://schemas.openxmlformats.org/drawingml/2006/main">
              <a:ext uri="{FF2B5EF4-FFF2-40B4-BE49-F238E27FC236}">
                <a16:creationId xmlns:a16="http://schemas.microsoft.com/office/drawing/2014/main" id="{D9096971-8B90-4018-9ADD-5A89F63F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4325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71717"/>
                </a:solidFill>
              </a:defRPr>
            </a:pPr>
            <a:r>
              <a:rPr sz="2100" b="1" i="0">
                <a:solidFill>
                  <a:srgbClr val="171717"/>
                </a:solidFill>
              </a:rPr>
              <a:t>Realtime-SFT installs timing behavior.</a:t>
            </a:r>
          </a:p>
        </p:txBody>
      </p:sp>
      <p:sp>
        <p:nvSpPr>
          <p:cNvPr id="12" name="text-389">
            <a:extLst xmlns:a="http://schemas.openxmlformats.org/drawingml/2006/main">
              <a:ext uri="{FF2B5EF4-FFF2-40B4-BE49-F238E27FC236}">
                <a16:creationId xmlns:a16="http://schemas.microsoft.com/office/drawing/2014/main" id="{CB06CF0E-29F2-4830-AFE9-19703FC5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A small fraction of the curriculum is enough to concentrate the speak-wait-revise objective - but not at trivial absolute cost.</a:t>
            </a:r>
          </a:p>
        </p:txBody>
      </p:sp>
      <p:sp>
        <p:nvSpPr>
          <p:cNvPr id="13" name="shape-390">
            <a:extLst xmlns:a="http://schemas.openxmlformats.org/drawingml/2006/main">
              <a:ext uri="{FF2B5EF4-FFF2-40B4-BE49-F238E27FC236}">
                <a16:creationId xmlns:a16="http://schemas.microsoft.com/office/drawing/2014/main" id="{0AA393F7-2C86-4085-8FFF-0E1A71D2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576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391">
            <a:extLst xmlns:a="http://schemas.openxmlformats.org/drawingml/2006/main">
              <a:ext uri="{FF2B5EF4-FFF2-40B4-BE49-F238E27FC236}">
                <a16:creationId xmlns:a16="http://schemas.microsoft.com/office/drawing/2014/main" id="{D2AD4BA4-6095-4DCB-8609-C97DC929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315EFB"/>
                </a:solidFill>
              </a:defRPr>
            </a:pPr>
            <a:r>
              <a:rPr sz="2250" b="1" i="0">
                <a:solidFill>
                  <a:srgbClr val="315EFB"/>
                </a:solidFill>
              </a:rPr>
              <a:t>03</a:t>
            </a:r>
          </a:p>
        </p:txBody>
      </p:sp>
      <p:sp>
        <p:nvSpPr>
          <p:cNvPr id="15" name="text-392">
            <a:extLst xmlns:a="http://schemas.openxmlformats.org/drawingml/2006/main">
              <a:ext uri="{FF2B5EF4-FFF2-40B4-BE49-F238E27FC236}">
                <a16:creationId xmlns:a16="http://schemas.microsoft.com/office/drawing/2014/main" id="{881CDE08-157B-47FC-927A-FD302175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1005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71717"/>
                </a:solidFill>
              </a:defRPr>
            </a:pPr>
            <a:r>
              <a:rPr sz="2100" b="1" i="0">
                <a:solidFill>
                  <a:srgbClr val="171717"/>
                </a:solidFill>
              </a:rPr>
              <a:t>The strongest claim still needs its benchmark.</a:t>
            </a:r>
          </a:p>
        </p:txBody>
      </p:sp>
      <p:sp>
        <p:nvSpPr>
          <p:cNvPr id="16" name="text-393">
            <a:extLst xmlns:a="http://schemas.openxmlformats.org/drawingml/2006/main">
              <a:ext uri="{FF2B5EF4-FFF2-40B4-BE49-F238E27FC236}">
                <a16:creationId xmlns:a16="http://schemas.microsoft.com/office/drawing/2014/main" id="{DF3C2DA0-C684-4FB6-8CB8-FC832593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291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Inject evidence changes during long answers and measure revision latency, stale tokens, correct stops, and false stops.</a:t>
            </a:r>
          </a:p>
        </p:txBody>
      </p:sp>
      <p:sp>
        <p:nvSpPr>
          <p:cNvPr id="17" name="text-394">
            <a:extLst xmlns:a="http://schemas.openxmlformats.org/drawingml/2006/main">
              <a:ext uri="{FF2B5EF4-FFF2-40B4-BE49-F238E27FC236}">
                <a16:creationId xmlns:a16="http://schemas.microsoft.com/office/drawing/2014/main" id="{45D22853-EBBB-4428-BD92-8DC81B23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429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DISCUSSION</a:t>
            </a:r>
          </a:p>
        </p:txBody>
      </p:sp>
      <p:sp>
        <p:nvSpPr>
          <p:cNvPr id="18" name="text-395">
            <a:extLst xmlns:a="http://schemas.openxmlformats.org/drawingml/2006/main">
              <a:ext uri="{FF2B5EF4-FFF2-40B4-BE49-F238E27FC236}">
                <a16:creationId xmlns:a16="http://schemas.microsoft.com/office/drawing/2014/main" id="{FEBA1CF2-D742-4A12-BBAF-133B8805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75310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71717"/>
                </a:solidFill>
              </a:defRPr>
            </a:pPr>
            <a:r>
              <a:rPr sz="1725" b="1" i="0">
                <a:solidFill>
                  <a:srgbClr val="171717"/>
                </a:solidFill>
              </a:rPr>
              <a:t>Does MOSS-VL learn a genuinely concurrent policy - or mainly gain from an append-only visual input pipeline?</a:t>
            </a:r>
          </a:p>
        </p:txBody>
      </p:sp>
    </p:spTree>
    <p:extLst>
      <p:ext uri="{BB962C8B-B14F-4D97-AF65-F5344CB8AC3E}">
        <p14:creationId xmlns:p14="http://schemas.microsoft.com/office/powerpoint/2010/main" val="6793199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2026-08-20T06:48:11.8220000Z</dcterms:created>
  <dcterms:modified xsi:type="dcterms:W3CDTF">2026-08-20T06:48:11.8220000Z</dcterms:modified>
</coreProperties>
</file>