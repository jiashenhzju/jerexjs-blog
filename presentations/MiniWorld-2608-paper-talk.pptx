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e3b63445d734092" /><Relationship Type="http://schemas.openxmlformats.org/officeDocument/2006/relationships/extended-properties" Target="/docProps/app.xml" Id="R7c1aa97a06724580" /><Relationship Type="http://schemas.openxmlformats.org/officeDocument/2006/relationships/officeDocument" Target="/ppt/presentation.xml" Id="R9b41681d083a4406" /></Relationships>
</file>

<file path=ppt/presentation.xml><?xml version="1.0" encoding="utf-8"?>
<p:presentation xmlns:p="http://schemas.openxmlformats.org/presentationml/2006/main">
  <p:sldMasterIdLst>
    <p:sldMasterId xmlns:r="http://schemas.openxmlformats.org/officeDocument/2006/relationships" id="2147483648" r:id="R75fa96b3d51e4b75"/>
  </p:sldMasterIdLst>
  <p:notesMasterIdLst>
    <p:notesMasterId xmlns:r="http://schemas.openxmlformats.org/officeDocument/2006/relationships" r:id="R56b9955992434680"/>
  </p:notesMasterIdLst>
  <p:sldIdLst>
    <p:sldId xmlns:r="http://schemas.openxmlformats.org/officeDocument/2006/relationships" id="256" r:id="R499c80c679d54701"/>
    <p:sldId xmlns:r="http://schemas.openxmlformats.org/officeDocument/2006/relationships" id="257" r:id="Rf0d885b2a11b41ff"/>
    <p:sldId xmlns:r="http://schemas.openxmlformats.org/officeDocument/2006/relationships" id="258" r:id="Rb4d28eca422a44a7"/>
    <p:sldId xmlns:r="http://schemas.openxmlformats.org/officeDocument/2006/relationships" id="259" r:id="Rece8d5f1c7944228"/>
    <p:sldId xmlns:r="http://schemas.openxmlformats.org/officeDocument/2006/relationships" id="260" r:id="Re5b5b279663c4776"/>
    <p:sldId xmlns:r="http://schemas.openxmlformats.org/officeDocument/2006/relationships" id="261" r:id="Rc03acadb0cb24e63"/>
    <p:sldId xmlns:r="http://schemas.openxmlformats.org/officeDocument/2006/relationships" id="262" r:id="R9bfa438716ee47a9"/>
    <p:sldId xmlns:r="http://schemas.openxmlformats.org/officeDocument/2006/relationships" id="263" r:id="R0be6833f446043cf"/>
    <p:sldId xmlns:r="http://schemas.openxmlformats.org/officeDocument/2006/relationships" id="264" r:id="Re2442aea66f649e1"/>
    <p:sldId xmlns:r="http://schemas.openxmlformats.org/officeDocument/2006/relationships" id="265" r:id="Rc59489e223464df4"/>
    <p:sldId xmlns:r="http://schemas.openxmlformats.org/officeDocument/2006/relationships" id="266" r:id="R247e6941b7de4365"/>
    <p:sldId xmlns:r="http://schemas.openxmlformats.org/officeDocument/2006/relationships" id="267" r:id="Rf531d9ba01b248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b6aa1459b24767" /><Relationship Type="http://schemas.openxmlformats.org/officeDocument/2006/relationships/slideMaster" Target="/ppt/slideMasters/slideMaster1.xml" Id="R75fa96b3d51e4b75" /><Relationship Type="http://schemas.openxmlformats.org/officeDocument/2006/relationships/notesMaster" Target="/ppt/notesMasters/notesMaster1.xml" Id="R56b9955992434680" /><Relationship Type="http://schemas.openxmlformats.org/officeDocument/2006/relationships/presProps" Target="/ppt/presProps.xml" Id="Rdd25899e12ee4670" /><Relationship Type="http://schemas.openxmlformats.org/officeDocument/2006/relationships/tableStyles" Target="/ppt/tableStyles.xml" Id="R1c349c50a21a4c7e" /><Relationship Type="http://schemas.openxmlformats.org/officeDocument/2006/relationships/slide" Target="/ppt/slides/slide1.xml" Id="R499c80c679d54701" /><Relationship Type="http://schemas.openxmlformats.org/officeDocument/2006/relationships/slide" Target="/ppt/slides/slide2.xml" Id="Rf0d885b2a11b41ff" /><Relationship Type="http://schemas.openxmlformats.org/officeDocument/2006/relationships/slide" Target="/ppt/slides/slide3.xml" Id="Rb4d28eca422a44a7" /><Relationship Type="http://schemas.openxmlformats.org/officeDocument/2006/relationships/slide" Target="/ppt/slides/slide4.xml" Id="Rece8d5f1c7944228" /><Relationship Type="http://schemas.openxmlformats.org/officeDocument/2006/relationships/slide" Target="/ppt/slides/slide5.xml" Id="Re5b5b279663c4776" /><Relationship Type="http://schemas.openxmlformats.org/officeDocument/2006/relationships/slide" Target="/ppt/slides/slide6.xml" Id="Rc03acadb0cb24e63" /><Relationship Type="http://schemas.openxmlformats.org/officeDocument/2006/relationships/slide" Target="/ppt/slides/slide7.xml" Id="R9bfa438716ee47a9" /><Relationship Type="http://schemas.openxmlformats.org/officeDocument/2006/relationships/slide" Target="/ppt/slides/slide8.xml" Id="R0be6833f446043cf" /><Relationship Type="http://schemas.openxmlformats.org/officeDocument/2006/relationships/slide" Target="/ppt/slides/slide9.xml" Id="Re2442aea66f649e1" /><Relationship Type="http://schemas.openxmlformats.org/officeDocument/2006/relationships/slide" Target="/ppt/slides/slide10.xml" Id="Rc59489e223464df4" /><Relationship Type="http://schemas.openxmlformats.org/officeDocument/2006/relationships/slide" Target="/ppt/slides/slide11.xml" Id="R247e6941b7de4365" /><Relationship Type="http://schemas.openxmlformats.org/officeDocument/2006/relationships/slide" Target="/ppt/slides/slide12.xml" Id="Rf531d9ba01b248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ebad10e5614b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4ee48bfa634e7b" /><Relationship Type="http://schemas.openxmlformats.org/officeDocument/2006/relationships/notesMaster" Target="/ppt/notesMasters/notesMaster1.xml" Id="R0c655be2a6de47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9b1be166434ae1" /><Relationship Type="http://schemas.openxmlformats.org/officeDocument/2006/relationships/notesMaster" Target="/ppt/notesMasters/notesMaster1.xml" Id="R0193c29321884b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5797d81cb74fe8" /><Relationship Type="http://schemas.openxmlformats.org/officeDocument/2006/relationships/notesMaster" Target="/ppt/notesMasters/notesMaster1.xml" Id="R90ce28bd647e4d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08e1e1dcc64a5f" /><Relationship Type="http://schemas.openxmlformats.org/officeDocument/2006/relationships/notesMaster" Target="/ppt/notesMasters/notesMaster1.xml" Id="R06f9b25a636d42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015de265c74bac" /><Relationship Type="http://schemas.openxmlformats.org/officeDocument/2006/relationships/notesMaster" Target="/ppt/notesMasters/notesMaster1.xml" Id="R78d4d026c4d24c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07fc3c9f6d4de9" /><Relationship Type="http://schemas.openxmlformats.org/officeDocument/2006/relationships/notesMaster" Target="/ppt/notesMasters/notesMaster1.xml" Id="Ra270e9b5b87c42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ca6d4e9f6f464b" /><Relationship Type="http://schemas.openxmlformats.org/officeDocument/2006/relationships/notesMaster" Target="/ppt/notesMasters/notesMaster1.xml" Id="R92ec7e2195e843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1d36c67fb64433" /><Relationship Type="http://schemas.openxmlformats.org/officeDocument/2006/relationships/notesMaster" Target="/ppt/notesMasters/notesMaster1.xml" Id="R05e10a3a442049c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1e94b9a6734c2f" /><Relationship Type="http://schemas.openxmlformats.org/officeDocument/2006/relationships/notesMaster" Target="/ppt/notesMasters/notesMaster1.xml" Id="R2e7c8f078c2741f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311fdd9e614ff2" /><Relationship Type="http://schemas.openxmlformats.org/officeDocument/2006/relationships/notesMaster" Target="/ppt/notesMasters/notesMaster1.xml" Id="R3676c1043f39491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b71bd9f4034c37" /><Relationship Type="http://schemas.openxmlformats.org/officeDocument/2006/relationships/notesMaster" Target="/ppt/notesMasters/notesMaster1.xml" Id="Rfa6ae15de577482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4e5d70d39874480" /><Relationship Type="http://schemas.openxmlformats.org/officeDocument/2006/relationships/notesMaster" Target="/ppt/notesMasters/notesMaster1.xml" Id="R8667bdf6cb1847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systems thesis: the paper optimizes for accessibility and train-deploy consistency, not frontier visual quality.</a:t>
            </a:r>
          </a:p>
          <a:p xmlns:a="http://schemas.openxmlformats.org/drawingml/2006/main">
            <a:r>
              <a:t/>
            </a:r>
          </a:p>
          <a:p xmlns:a="http://schemas.openxmlformats.org/drawingml/2006/main">
            <a:r>
              <a:t>[Sources]</a:t>
            </a:r>
          </a:p>
          <a:p xmlns:a="http://schemas.openxmlformats.org/drawingml/2006/main">
            <a:r>
              <a:t>- /Users/xnnxax/projects/jerexjs-blog/local-papers/MiniWorld-2608.pdf, p. 1, title and abstract, accessed 2026-08-20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what training supplies with what autoregressive streaming actually produces. This motivates an aligned architecture and corruption process.</a:t>
            </a:r>
          </a:p>
          <a:p xmlns:a="http://schemas.openxmlformats.org/drawingml/2006/main">
            <a:r>
              <a:t/>
            </a:r>
          </a:p>
          <a:p xmlns:a="http://schemas.openxmlformats.org/drawingml/2006/main">
            <a:r>
              <a:t>[Sources]</a:t>
            </a:r>
          </a:p>
          <a:p xmlns:a="http://schemas.openxmlformats.org/drawingml/2006/main">
            <a:r>
              <a:t>- /Users/xnnxax/projects/jerexjs-blog/local-papers/MiniWorld-2608.pdf, pp. 2-4, §1 and §3.1, accessed 2026-08-20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 the method as one integrated contract. The evidence supports the recipe as a whole more strongly than isolated causal credit for every component.</a:t>
            </a:r>
          </a:p>
          <a:p xmlns:a="http://schemas.openxmlformats.org/drawingml/2006/main">
            <a:r>
              <a:t/>
            </a:r>
          </a:p>
          <a:p xmlns:a="http://schemas.openxmlformats.org/drawingml/2006/main">
            <a:r>
              <a:t>[Sources]</a:t>
            </a:r>
          </a:p>
          <a:p xmlns:a="http://schemas.openxmlformats.org/drawingml/2006/main">
            <a:r>
              <a:t>- /Users/xnnxax/projects/jerexjs-blog/local-papers/MiniWorld-2608.pdf, p. 4, Figure 1, accessed 2026-08-20</a:t>
            </a:r>
          </a:p>
          <a:p xmlns:a="http://schemas.openxmlformats.org/drawingml/2006/main">
            <a:r>
              <a:t>- /Users/xnnxax/projects/jerexjs-blog/local-papers/MiniWorld-2608.pdf, pp. 5-9, §3.2-§3.5, accessed 2026-08-20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attention mask: each query chunk can attend to itself and all past chunks, never future chunks. This is the architecture-side alignment.</a:t>
            </a:r>
          </a:p>
          <a:p xmlns:a="http://schemas.openxmlformats.org/drawingml/2006/main">
            <a:r>
              <a:t/>
            </a:r>
          </a:p>
          <a:p xmlns:a="http://schemas.openxmlformats.org/drawingml/2006/main">
            <a:r>
              <a:t>[Sources]</a:t>
            </a:r>
          </a:p>
          <a:p xmlns:a="http://schemas.openxmlformats.org/drawingml/2006/main">
            <a:r>
              <a:t>- /Users/xnnxax/projects/jerexjs-blog/local-papers/MiniWorld-2608.pdf, pp. 5-6, §3.2, accessed 2026-08-20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CoPP constrains chunk noise levels to be non-decreasing. The important idea is exposure to asynchronous intermediate states, not the illustrative values shown on the slide.</a:t>
            </a:r>
          </a:p>
          <a:p xmlns:a="http://schemas.openxmlformats.org/drawingml/2006/main">
            <a:r>
              <a:t/>
            </a:r>
          </a:p>
          <a:p xmlns:a="http://schemas.openxmlformats.org/drawingml/2006/main">
            <a:r>
              <a:t>[Sources]</a:t>
            </a:r>
          </a:p>
          <a:p xmlns:a="http://schemas.openxmlformats.org/drawingml/2006/main">
            <a:r>
              <a:t>- /Users/xnnxax/projects/jerexjs-blog/local-papers/MiniWorld-2608.pdf, pp. 6-7, §3.3 and Eq. (4), accessed 2026-08-20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from left to right: a resident sink, FIFO cached history, active chunks, and future noise. Completed chunks no longer pay repeated DiT compute.</a:t>
            </a:r>
          </a:p>
          <a:p xmlns:a="http://schemas.openxmlformats.org/drawingml/2006/main">
            <a:r>
              <a:t/>
            </a:r>
          </a:p>
          <a:p xmlns:a="http://schemas.openxmlformats.org/drawingml/2006/main">
            <a:r>
              <a:t>[Sources]</a:t>
            </a:r>
          </a:p>
          <a:p xmlns:a="http://schemas.openxmlformats.org/drawingml/2006/main">
            <a:r>
              <a:t>- /Users/xnnxax/projects/jerexjs-blog/local-papers/MiniWorld-2608.pdf, pp. 8-9, §3.5, accessed 2026-08-20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the evaluation contract: one observed frame, 50 held-out videos, relative scores against one fixed-window baseline. The domains are complementary, but the protocol is narrow.</a:t>
            </a:r>
          </a:p>
          <a:p xmlns:a="http://schemas.openxmlformats.org/drawingml/2006/main">
            <a:r>
              <a:t/>
            </a:r>
          </a:p>
          <a:p xmlns:a="http://schemas.openxmlformats.org/drawingml/2006/main">
            <a:r>
              <a:t>[Sources]</a:t>
            </a:r>
          </a:p>
          <a:p xmlns:a="http://schemas.openxmlformats.org/drawingml/2006/main">
            <a:r>
              <a:t>- /Users/xnnxax/projects/jerexjs-blog/local-papers/MiniWorld-2608.pdf, pp. 9-10, §4.1 and Table 1, accessed 2026-08-20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broad direction is consistent across DROID and RE10K. Do not read these as absolute quality scores: the baseline is normalized, errors are inverted, and uncertainty is not shown.</a:t>
            </a:r>
          </a:p>
          <a:p xmlns:a="http://schemas.openxmlformats.org/drawingml/2006/main">
            <a:r>
              <a:t/>
            </a:r>
          </a:p>
          <a:p xmlns:a="http://schemas.openxmlformats.org/drawingml/2006/main">
            <a:r>
              <a:t>[Sources]</a:t>
            </a:r>
          </a:p>
          <a:p xmlns:a="http://schemas.openxmlformats.org/drawingml/2006/main">
            <a:r>
              <a:t>- /Users/xnnxax/projects/jerexjs-blog/local-papers/MiniWorld-2608.pdf, p. 11, Figure 2, accessed 2026-08-20</a:t>
            </a:r>
          </a:p>
          <a:p xmlns:a="http://schemas.openxmlformats.org/drawingml/2006/main">
            <a:r>
              <a:t>- /Users/xnnxax/projects/jerexjs-blog/local-papers/MiniWorld-2608.pdf, pp. 10-11, §4.2, accessed 2026-08-20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small active window is the key system ablation. Shorter retained history also appears flat at this horizon, but that does not prove early state is recoverable hundreds of frames later.</a:t>
            </a:r>
          </a:p>
          <a:p xmlns:a="http://schemas.openxmlformats.org/drawingml/2006/main">
            <a:r>
              <a:t/>
            </a:r>
          </a:p>
          <a:p xmlns:a="http://schemas.openxmlformats.org/drawingml/2006/main">
            <a:r>
              <a:t>[Sources]</a:t>
            </a:r>
          </a:p>
          <a:p xmlns:a="http://schemas.openxmlformats.org/drawingml/2006/main">
            <a:r>
              <a:t>- /Users/xnnxax/projects/jerexjs-blog/local-papers/MiniWorld-2608.pdf, p. 12, Figure 3, accessed 2026-08-20</a:t>
            </a:r>
          </a:p>
          <a:p xmlns:a="http://schemas.openxmlformats.org/drawingml/2006/main">
            <a:r>
              <a:t>- /Users/xnnxax/projects/jerexjs-blog/local-papers/MiniWorld-2608.pdf, pp. 11-12, §4.3, accessed 2026-08-20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paper's cleanest direct result. The cache improves steady throughput 2.20x and first-chunk latency 15.2x under the stated cfg=1 DROID benchmark.</a:t>
            </a:r>
          </a:p>
          <a:p xmlns:a="http://schemas.openxmlformats.org/drawingml/2006/main">
            <a:r>
              <a:t/>
            </a:r>
          </a:p>
          <a:p xmlns:a="http://schemas.openxmlformats.org/drawingml/2006/main">
            <a:r>
              <a:t>[Sources]</a:t>
            </a:r>
          </a:p>
          <a:p xmlns:a="http://schemas.openxmlformats.org/drawingml/2006/main">
            <a:r>
              <a:t>- /Users/xnnxax/projects/jerexjs-blog/local-papers/MiniWorld-2608.pdf, p. 13, Figure 4b, accessed 2026-08-20</a:t>
            </a:r>
          </a:p>
          <a:p xmlns:a="http://schemas.openxmlformats.org/drawingml/2006/main">
            <a:r>
              <a:t>- /Users/xnnxax/projects/jerexjs-blog/local-papers/MiniWorld-2608.pdf, pp. 12-13, §4.4, accessed 2026-08-20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bounded online compute from long-term memory. The evaluation does not require explicit recall of an early state after a long delay, so memory persistence remains open.</a:t>
            </a:r>
          </a:p>
          <a:p xmlns:a="http://schemas.openxmlformats.org/drawingml/2006/main">
            <a:r>
              <a:t/>
            </a:r>
          </a:p>
          <a:p xmlns:a="http://schemas.openxmlformats.org/drawingml/2006/main">
            <a:r>
              <a:t>[Sources]</a:t>
            </a:r>
          </a:p>
          <a:p xmlns:a="http://schemas.openxmlformats.org/drawingml/2006/main">
            <a:r>
              <a:t>- /Users/xnnxax/projects/jerexjs-blog/local-papers/MiniWorld-2608.pdf, pp. 13-14, §5, accessed 2026-08-20</a:t>
            </a:r>
          </a:p>
          <a:p xmlns:a="http://schemas.openxmlformats.org/drawingml/2006/main">
            <a:r>
              <a:t>- /Users/xnnxax/projects/jerexjs-blog/local-papers/MiniWorld-2608.pdf, p. 12, Figure 3, accessed 2026-08-20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research value: MiniWorld is useful because it is open, causal, and measurable. The next contribution should isolate memory rather than only scale the same recipe.</a:t>
            </a:r>
          </a:p>
          <a:p xmlns:a="http://schemas.openxmlformats.org/drawingml/2006/main">
            <a:r>
              <a:t/>
            </a:r>
          </a:p>
          <a:p xmlns:a="http://schemas.openxmlformats.org/drawingml/2006/main">
            <a:r>
              <a:t>[Sources]</a:t>
            </a:r>
          </a:p>
          <a:p xmlns:a="http://schemas.openxmlformats.org/drawingml/2006/main">
            <a:r>
              <a:t>- /Users/xnnxax/projects/jerexjs-blog/local-papers/MiniWorld-2608.pdf, p. 1, abstract, accessed 2026-08-20</a:t>
            </a:r>
          </a:p>
          <a:p xmlns:a="http://schemas.openxmlformats.org/drawingml/2006/main">
            <a:r>
              <a:t>- /Users/xnnxax/projects/jerexjs-blog/local-papers/MiniWorld-2608.pdf, pp. 13-14, §5, accessed 2026-08-20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da4a7878654a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02717f99714201" /><Relationship Type="http://schemas.openxmlformats.org/officeDocument/2006/relationships/slideLayout" Target="/ppt/slideLayouts/slideLayout1.xml" Id="R2922f712555c42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22f712555c42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419aca3c0884a15" /><Relationship Type="http://schemas.openxmlformats.org/officeDocument/2006/relationships/notesSlide" Target="/ppt/notesSlides/notesSlide1.xml" Id="Rec304629e11648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53181cda6cc465e" /><Relationship Type="http://schemas.openxmlformats.org/officeDocument/2006/relationships/notesSlide" Target="/ppt/notesSlides/notesSlide2.xml" Id="R3e9fc25cd4f044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321200a9f4d457e" /><Relationship Type="http://schemas.openxmlformats.org/officeDocument/2006/relationships/image" Target="/ppt/media/image.png" Id="Rfce941ce7b3c4e36" /><Relationship Type="http://schemas.openxmlformats.org/officeDocument/2006/relationships/notesSlide" Target="/ppt/notesSlides/notesSlide3.xml" Id="R757d20432c7745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451b2edae094c47" /><Relationship Type="http://schemas.openxmlformats.org/officeDocument/2006/relationships/notesSlide" Target="/ppt/notesSlides/notesSlide4.xml" Id="R74de3e659c3640a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e6b550b1ed34f5f" /><Relationship Type="http://schemas.openxmlformats.org/officeDocument/2006/relationships/notesSlide" Target="/ppt/notesSlides/notesSlide5.xml" Id="R74e7e76629d84f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11be046e83f4940" /><Relationship Type="http://schemas.openxmlformats.org/officeDocument/2006/relationships/notesSlide" Target="/ppt/notesSlides/notesSlide6.xml" Id="R5c0c676df3ad4d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659d22fc06f4559" /><Relationship Type="http://schemas.openxmlformats.org/officeDocument/2006/relationships/notesSlide" Target="/ppt/notesSlides/notesSlide7.xml" Id="R0de44bc4bee54a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c596c2e4e054432" /><Relationship Type="http://schemas.openxmlformats.org/officeDocument/2006/relationships/image" Target="/ppt/media/image2.png" Id="R926c945858434d5e" /><Relationship Type="http://schemas.openxmlformats.org/officeDocument/2006/relationships/notesSlide" Target="/ppt/notesSlides/notesSlide8.xml" Id="Rfbd4e6c26d0a48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8f21dbd8a5743af" /><Relationship Type="http://schemas.openxmlformats.org/officeDocument/2006/relationships/image" Target="/ppt/media/image3.png" Id="Rb33f068be7a740e2" /><Relationship Type="http://schemas.openxmlformats.org/officeDocument/2006/relationships/notesSlide" Target="/ppt/notesSlides/notesSlide9.xml" Id="Re948574b02464e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ec712c834324bc3" /><Relationship Type="http://schemas.openxmlformats.org/officeDocument/2006/relationships/image" Target="/ppt/media/image4.png" Id="Re9b93787ec00458a" /><Relationship Type="http://schemas.openxmlformats.org/officeDocument/2006/relationships/notesSlide" Target="/ppt/notesSlides/notesSlide10.xml" Id="Rbabaa4d91fb5475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58c1c507fc046af" /><Relationship Type="http://schemas.openxmlformats.org/officeDocument/2006/relationships/notesSlide" Target="/ppt/notesSlides/notesSlide11.xml" Id="R16a9c2a87b7a474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90d4783f1d94ea8" /><Relationship Type="http://schemas.openxmlformats.org/officeDocument/2006/relationships/notesSlide" Target="/ppt/notesSlides/notesSlide12.xml" Id="R53838138ead34633" /></Relationships>
</file>

<file path=ppt/slides/slide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16E56FDD-1190-46DC-B240-45CD35D9134F}"/>
              </a:ext>
            </a:extLst>
          </p:cNvPr>
          <p:cNvSpPr>
            <a:spLocks xmlns:a="http://schemas.openxmlformats.org/drawingml/2006/main" noGrp="1"/>
          </p:cNvSpPr>
          <p:nvPr/>
        </p:nvSpPr>
        <p:spPr>
          <a:xfrm xmlns:a="http://schemas.openxmlformats.org/drawingml/2006/main">
            <a:off x="685800" y="5524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i="0">
                <a:solidFill>
                  <a:srgbClr val="315EFB"/>
                </a:solidFill>
              </a:defRPr>
            </a:pPr>
            <a:r>
              <a:rPr sz="1200" b="1" i="0">
                <a:solidFill>
                  <a:srgbClr val="315EFB"/>
                </a:solidFill>
              </a:rPr>
              <a:t>PAPER TALK · VIDEO WORLD MODELS · 2026</a:t>
            </a:r>
          </a:p>
        </p:txBody>
      </p:sp>
      <p:sp>
        <p:nvSpPr>
          <p:cNvPr id="2" name="text-2">
            <a:extLst xmlns:a="http://schemas.openxmlformats.org/drawingml/2006/main">
              <a:ext uri="{FF2B5EF4-FFF2-40B4-BE49-F238E27FC236}">
                <a16:creationId xmlns:a16="http://schemas.microsoft.com/office/drawing/2014/main" id="{434A331D-E1C6-411D-A7D7-E7F77BC6ABD6}"/>
              </a:ext>
            </a:extLst>
          </p:cNvPr>
          <p:cNvSpPr>
            <a:spLocks xmlns:a="http://schemas.openxmlformats.org/drawingml/2006/main" noGrp="1"/>
          </p:cNvSpPr>
          <p:nvPr/>
        </p:nvSpPr>
        <p:spPr>
          <a:xfrm xmlns:a="http://schemas.openxmlformats.org/drawingml/2006/main">
            <a:off x="685800" y="1200150"/>
            <a:ext cx="8096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90000"/>
              </a:lnSpc>
              <a:buNone/>
              <a:defRPr sz="6000" b="1" i="0">
                <a:solidFill>
                  <a:srgbClr val="171717"/>
                </a:solidFill>
              </a:defRPr>
            </a:pPr>
            <a:r>
              <a:rPr sz="6000" b="1" i="0">
                <a:solidFill>
                  <a:srgbClr val="171717"/>
                </a:solidFill>
              </a:rPr>
              <a:t>MiniWorld</a:t>
            </a:r>
          </a:p>
        </p:txBody>
      </p:sp>
      <p:sp>
        <p:nvSpPr>
          <p:cNvPr id="3" name="text-3">
            <a:extLst xmlns:a="http://schemas.openxmlformats.org/drawingml/2006/main">
              <a:ext uri="{FF2B5EF4-FFF2-40B4-BE49-F238E27FC236}">
                <a16:creationId xmlns:a16="http://schemas.microsoft.com/office/drawing/2014/main" id="{B3510060-D5AD-4A71-8F36-A54AEABA19A1}"/>
              </a:ext>
            </a:extLst>
          </p:cNvPr>
          <p:cNvSpPr>
            <a:spLocks xmlns:a="http://schemas.openxmlformats.org/drawingml/2006/main" noGrp="1"/>
          </p:cNvSpPr>
          <p:nvPr/>
        </p:nvSpPr>
        <p:spPr>
          <a:xfrm xmlns:a="http://schemas.openxmlformats.org/drawingml/2006/main">
            <a:off x="704850" y="22479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0000"/>
              </a:lnSpc>
              <a:buNone/>
              <a:defRPr sz="2400" b="0" i="0">
                <a:solidFill>
                  <a:srgbClr val="6F716E"/>
                </a:solidFill>
              </a:defRPr>
            </a:pPr>
            <a:r>
              <a:rPr sz="2400" b="0" i="0">
                <a:solidFill>
                  <a:srgbClr val="6F716E"/>
                </a:solidFill>
              </a:rPr>
              <a:t>Democratizing the Training of Video World Models from Scratch</a:t>
            </a:r>
          </a:p>
        </p:txBody>
      </p:sp>
      <p:sp>
        <p:nvSpPr>
          <p:cNvPr id="4" name="shape-4">
            <a:extLst xmlns:a="http://schemas.openxmlformats.org/drawingml/2006/main">
              <a:ext uri="{FF2B5EF4-FFF2-40B4-BE49-F238E27FC236}">
                <a16:creationId xmlns:a16="http://schemas.microsoft.com/office/drawing/2014/main" id="{33152B78-6DE9-4567-B006-9A7BCE87FA3D}"/>
              </a:ext>
            </a:extLst>
          </p:cNvPr>
          <p:cNvSpPr>
            <a:spLocks xmlns:a="http://schemas.openxmlformats.org/drawingml/2006/main" noGrp="1"/>
          </p:cNvSpPr>
          <p:nvPr/>
        </p:nvSpPr>
        <p:spPr>
          <a:xfrm xmlns:a="http://schemas.openxmlformats.org/drawingml/2006/main">
            <a:off x="704850" y="3276600"/>
            <a:ext cx="1047750" cy="38100"/>
          </a:xfrm>
          <a:prstGeom xmlns:a="http://schemas.openxmlformats.org/drawingml/2006/main" prst="rect">
            <a:avLst/>
          </a:prstGeom>
          <a:solidFill xmlns:a="http://schemas.openxmlformats.org/drawingml/2006/main">
            <a:srgbClr val="315EFB"/>
          </a:solidFill>
          <a:ln xmlns:a="http://schemas.openxmlformats.org/drawingml/2006/main" w="0">
            <a:noFill/>
            <a:prstDash val="solid"/>
          </a:ln>
        </p:spPr>
      </p:sp>
      <p:sp>
        <p:nvSpPr>
          <p:cNvPr id="5" name="text-5">
            <a:extLst xmlns:a="http://schemas.openxmlformats.org/drawingml/2006/main">
              <a:ext uri="{FF2B5EF4-FFF2-40B4-BE49-F238E27FC236}">
                <a16:creationId xmlns:a16="http://schemas.microsoft.com/office/drawing/2014/main" id="{8BA77CDE-0E5C-473E-8490-7DE8AC6D94E4}"/>
              </a:ext>
            </a:extLst>
          </p:cNvPr>
          <p:cNvSpPr>
            <a:spLocks xmlns:a="http://schemas.openxmlformats.org/drawingml/2006/main" noGrp="1"/>
          </p:cNvSpPr>
          <p:nvPr/>
        </p:nvSpPr>
        <p:spPr>
          <a:xfrm xmlns:a="http://schemas.openxmlformats.org/drawingml/2006/main">
            <a:off x="704850" y="3581400"/>
            <a:ext cx="96202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2250" b="1" i="0">
                <a:solidFill>
                  <a:srgbClr val="171717"/>
                </a:solidFill>
              </a:defRPr>
            </a:pPr>
            <a:r>
              <a:rPr sz="2250" b="1" i="0">
                <a:solidFill>
                  <a:srgbClr val="171717"/>
                </a:solidFill>
              </a:rPr>
              <a:t>A reproducible causal-video recipe that aligns training with streaming deployment - and keeps online DiT compute bounded.</a:t>
            </a:r>
          </a:p>
        </p:txBody>
      </p:sp>
      <p:sp>
        <p:nvSpPr>
          <p:cNvPr id="6" name="text-6">
            <a:extLst xmlns:a="http://schemas.openxmlformats.org/drawingml/2006/main">
              <a:ext uri="{FF2B5EF4-FFF2-40B4-BE49-F238E27FC236}">
                <a16:creationId xmlns:a16="http://schemas.microsoft.com/office/drawing/2014/main" id="{0B099F92-5244-41D4-BB64-C5A921842BCE}"/>
              </a:ext>
            </a:extLst>
          </p:cNvPr>
          <p:cNvSpPr>
            <a:spLocks xmlns:a="http://schemas.openxmlformats.org/drawingml/2006/main" noGrp="1"/>
          </p:cNvSpPr>
          <p:nvPr/>
        </p:nvSpPr>
        <p:spPr>
          <a:xfrm xmlns:a="http://schemas.openxmlformats.org/drawingml/2006/main">
            <a:off x="704850" y="569595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350" b="0" i="0">
                <a:solidFill>
                  <a:srgbClr val="6F716E"/>
                </a:solidFill>
              </a:defRPr>
            </a:pPr>
            <a:r>
              <a:rPr sz="1350" b="0" i="0">
                <a:solidFill>
                  <a:srgbClr val="6F716E"/>
                </a:solidFill>
              </a:rPr>
              <a:t>Yian Zhao · Ruochong Zheng · Hongcan Guo · Yu Yan · Jian Zhang · Jie Chen</a:t>
            </a:r>
          </a:p>
        </p:txBody>
      </p:sp>
      <p:sp>
        <p:nvSpPr>
          <p:cNvPr id="7" name="text-7">
            <a:extLst xmlns:a="http://schemas.openxmlformats.org/drawingml/2006/main">
              <a:ext uri="{FF2B5EF4-FFF2-40B4-BE49-F238E27FC236}">
                <a16:creationId xmlns:a16="http://schemas.microsoft.com/office/drawing/2014/main" id="{3A04C24A-7F7C-4D7E-BE5D-111774843011}"/>
              </a:ext>
            </a:extLst>
          </p:cNvPr>
          <p:cNvSpPr>
            <a:spLocks xmlns:a="http://schemas.openxmlformats.org/drawingml/2006/main" noGrp="1"/>
          </p:cNvSpPr>
          <p:nvPr/>
        </p:nvSpPr>
        <p:spPr>
          <a:xfrm xmlns:a="http://schemas.openxmlformats.org/drawingml/2006/main">
            <a:off x="704850" y="60198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0" i="0">
                <a:solidFill>
                  <a:srgbClr val="6F716E"/>
                </a:solidFill>
              </a:defRPr>
            </a:pPr>
            <a:r>
              <a:rPr sz="1200" b="0" i="0">
                <a:solidFill>
                  <a:srgbClr val="6F716E"/>
                </a:solidFill>
              </a:rPr>
              <a:t>Peking University · arXiv:2608.01127</a:t>
            </a:r>
          </a:p>
        </p:txBody>
      </p:sp>
      <p:sp>
        <p:nvSpPr>
          <p:cNvPr id="8" name="text-8">
            <a:extLst xmlns:a="http://schemas.openxmlformats.org/drawingml/2006/main">
              <a:ext uri="{FF2B5EF4-FFF2-40B4-BE49-F238E27FC236}">
                <a16:creationId xmlns:a16="http://schemas.microsoft.com/office/drawing/2014/main" id="{B56483D8-D866-4155-98F0-4468CF527278}"/>
              </a:ext>
            </a:extLst>
          </p:cNvPr>
          <p:cNvSpPr>
            <a:spLocks xmlns:a="http://schemas.openxmlformats.org/drawingml/2006/main" noGrp="1"/>
          </p:cNvSpPr>
          <p:nvPr/>
        </p:nvSpPr>
        <p:spPr>
          <a:xfrm xmlns:a="http://schemas.openxmlformats.org/drawingml/2006/main">
            <a:off x="10839450" y="601980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05000"/>
              </a:lnSpc>
              <a:buNone/>
              <a:defRPr sz="1200" b="1" i="0">
                <a:solidFill>
                  <a:srgbClr val="6F716E"/>
                </a:solidFill>
              </a:defRPr>
            </a:pPr>
            <a:r>
              <a:rPr sz="1200" b="1" i="0">
                <a:solidFill>
                  <a:srgbClr val="6F716E"/>
                </a:solidFill>
              </a:rPr>
              <a:t>01</a:t>
            </a:r>
          </a:p>
        </p:txBody>
      </p:sp>
    </p:spTree>
    <p:extLst>
      <p:ext uri="{BB962C8B-B14F-4D97-AF65-F5344CB8AC3E}">
        <p14:creationId xmlns:p14="http://schemas.microsoft.com/office/powerpoint/2010/main" val="1382600116"/>
      </p:ext>
    </p:extLst>
  </p:cSld>
</p:sld>
</file>

<file path=ppt/slides/slide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4" name="text-9">
            <a:extLst xmlns:a="http://schemas.openxmlformats.org/drawingml/2006/main">
              <a:ext uri="{FF2B5EF4-FFF2-40B4-BE49-F238E27FC236}">
                <a16:creationId xmlns:a16="http://schemas.microsoft.com/office/drawing/2014/main" id="{5902AFEB-ED90-4390-BD56-818E1DF1C397}"/>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i="0">
                <a:solidFill>
                  <a:srgbClr val="315EFB"/>
                </a:solidFill>
              </a:defRPr>
            </a:pPr>
            <a:r>
              <a:rPr sz="1200" b="1" i="0">
                <a:solidFill>
                  <a:srgbClr val="315EFB"/>
                </a:solidFill>
              </a:rPr>
              <a:t>PROBLEM</a:t>
            </a:r>
          </a:p>
        </p:txBody>
      </p:sp>
      <p:sp>
        <p:nvSpPr>
          <p:cNvPr id="2" name="shape-10">
            <a:extLst xmlns:a="http://schemas.openxmlformats.org/drawingml/2006/main">
              <a:ext uri="{FF2B5EF4-FFF2-40B4-BE49-F238E27FC236}">
                <a16:creationId xmlns:a16="http://schemas.microsoft.com/office/drawing/2014/main" id="{4937C645-C444-4958-9B7D-A4FE3A3E0D2C}"/>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D8D4CB"/>
          </a:solidFill>
          <a:ln xmlns:a="http://schemas.openxmlformats.org/drawingml/2006/main" w="0">
            <a:noFill/>
            <a:prstDash val="solid"/>
          </a:ln>
        </p:spPr>
      </p:sp>
      <p:sp>
        <p:nvSpPr>
          <p:cNvPr id="3" name="text-11">
            <a:extLst xmlns:a="http://schemas.openxmlformats.org/drawingml/2006/main">
              <a:ext uri="{FF2B5EF4-FFF2-40B4-BE49-F238E27FC236}">
                <a16:creationId xmlns:a16="http://schemas.microsoft.com/office/drawing/2014/main" id="{980D2B41-DB47-46FE-9679-EBC5F30EB68E}"/>
              </a:ext>
            </a:extLst>
          </p:cNvPr>
          <p:cNvSpPr>
            <a:spLocks xmlns:a="http://schemas.openxmlformats.org/drawingml/2006/main" noGrp="1"/>
          </p:cNvSpPr>
          <p:nvPr/>
        </p:nvSpPr>
        <p:spPr>
          <a:xfrm xmlns:a="http://schemas.openxmlformats.org/drawingml/2006/main">
            <a:off x="685800" y="6496050"/>
            <a:ext cx="876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0" i="0">
                <a:solidFill>
                  <a:srgbClr val="6F716E"/>
                </a:solidFill>
              </a:defRPr>
            </a:pPr>
            <a:r>
              <a:rPr sz="1200" b="0" i="0">
                <a:solidFill>
                  <a:srgbClr val="6F716E"/>
                </a:solidFill>
              </a:rPr>
              <a:t>Paper §1, §3.1</a:t>
            </a:r>
          </a:p>
        </p:txBody>
      </p:sp>
      <p:sp>
        <p:nvSpPr>
          <p:cNvPr id="4" name="text-12">
            <a:extLst xmlns:a="http://schemas.openxmlformats.org/drawingml/2006/main">
              <a:ext uri="{FF2B5EF4-FFF2-40B4-BE49-F238E27FC236}">
                <a16:creationId xmlns:a16="http://schemas.microsoft.com/office/drawing/2014/main" id="{DAAE4FBC-7104-4174-A5EE-673F080EBC73}"/>
              </a:ext>
            </a:extLst>
          </p:cNvPr>
          <p:cNvSpPr>
            <a:spLocks xmlns:a="http://schemas.openxmlformats.org/drawingml/2006/main" noGrp="1"/>
          </p:cNvSpPr>
          <p:nvPr/>
        </p:nvSpPr>
        <p:spPr>
          <a:xfrm xmlns:a="http://schemas.openxmlformats.org/drawingml/2006/main">
            <a:off x="10839450" y="64770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05000"/>
              </a:lnSpc>
              <a:buNone/>
              <a:defRPr sz="1200" b="1" i="0">
                <a:solidFill>
                  <a:srgbClr val="6F716E"/>
                </a:solidFill>
              </a:defRPr>
            </a:pPr>
            <a:r>
              <a:rPr sz="1200" b="1" i="0">
                <a:solidFill>
                  <a:srgbClr val="6F716E"/>
                </a:solidFill>
              </a:rPr>
              <a:t>02</a:t>
            </a:r>
          </a:p>
        </p:txBody>
      </p:sp>
      <p:sp>
        <p:nvSpPr>
          <p:cNvPr id="5" name="text-13">
            <a:extLst xmlns:a="http://schemas.openxmlformats.org/drawingml/2006/main">
              <a:ext uri="{FF2B5EF4-FFF2-40B4-BE49-F238E27FC236}">
                <a16:creationId xmlns:a16="http://schemas.microsoft.com/office/drawing/2014/main" id="{0008F362-877C-4B23-9DC4-4CCB25005149}"/>
              </a:ext>
            </a:extLst>
          </p:cNvPr>
          <p:cNvSpPr>
            <a:spLocks xmlns:a="http://schemas.openxmlformats.org/drawingml/2006/main" noGrp="1"/>
          </p:cNvSpPr>
          <p:nvPr/>
        </p:nvSpPr>
        <p:spPr>
          <a:xfrm xmlns:a="http://schemas.openxmlformats.org/drawingml/2006/main">
            <a:off x="685800" y="10668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95000"/>
              </a:lnSpc>
              <a:buNone/>
              <a:defRPr sz="3600" b="1" i="0">
                <a:solidFill>
                  <a:srgbClr val="171717"/>
                </a:solidFill>
              </a:defRPr>
            </a:pPr>
            <a:r>
              <a:rPr sz="3600" b="1" i="0">
                <a:solidFill>
                  <a:srgbClr val="171717"/>
                </a:solidFill>
              </a:rPr>
              <a:t>Bidirectional video diffusion breaks in streaming</a:t>
            </a:r>
          </a:p>
        </p:txBody>
      </p:sp>
      <p:sp>
        <p:nvSpPr>
          <p:cNvPr id="6" name="text-14">
            <a:extLst xmlns:a="http://schemas.openxmlformats.org/drawingml/2006/main">
              <a:ext uri="{FF2B5EF4-FFF2-40B4-BE49-F238E27FC236}">
                <a16:creationId xmlns:a16="http://schemas.microsoft.com/office/drawing/2014/main" id="{55C84673-15BA-4D4E-B07F-92A6C8E4A93F}"/>
              </a:ext>
            </a:extLst>
          </p:cNvPr>
          <p:cNvSpPr>
            <a:spLocks xmlns:a="http://schemas.openxmlformats.org/drawingml/2006/main" noGrp="1"/>
          </p:cNvSpPr>
          <p:nvPr/>
        </p:nvSpPr>
        <p:spPr>
          <a:xfrm xmlns:a="http://schemas.openxmlformats.org/drawingml/2006/main">
            <a:off x="819150" y="21907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i="0">
                <a:solidFill>
                  <a:srgbClr val="257B69"/>
                </a:solidFill>
              </a:defRPr>
            </a:pPr>
            <a:r>
              <a:rPr sz="1200" b="1" i="0">
                <a:solidFill>
                  <a:srgbClr val="257B69"/>
                </a:solidFill>
              </a:rPr>
              <a:t>TRAINING</a:t>
            </a:r>
          </a:p>
        </p:txBody>
      </p:sp>
      <p:sp>
        <p:nvSpPr>
          <p:cNvPr id="7" name="text-15">
            <a:extLst xmlns:a="http://schemas.openxmlformats.org/drawingml/2006/main">
              <a:ext uri="{FF2B5EF4-FFF2-40B4-BE49-F238E27FC236}">
                <a16:creationId xmlns:a16="http://schemas.microsoft.com/office/drawing/2014/main" id="{73AD3650-C2D5-497F-928A-5C76E6FED1A6}"/>
              </a:ext>
            </a:extLst>
          </p:cNvPr>
          <p:cNvSpPr>
            <a:spLocks xmlns:a="http://schemas.openxmlformats.org/drawingml/2006/main" noGrp="1"/>
          </p:cNvSpPr>
          <p:nvPr/>
        </p:nvSpPr>
        <p:spPr>
          <a:xfrm xmlns:a="http://schemas.openxmlformats.org/drawingml/2006/main">
            <a:off x="819150" y="257175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950" b="1" i="0">
                <a:solidFill>
                  <a:srgbClr val="171717"/>
                </a:solidFill>
              </a:defRPr>
            </a:pPr>
            <a:r>
              <a:rPr sz="1950" b="1" i="0">
                <a:solidFill>
                  <a:srgbClr val="171717"/>
                </a:solidFill>
              </a:rPr>
              <a:t>Clean history</a:t>
            </a:r>
          </a:p>
        </p:txBody>
      </p:sp>
      <p:sp>
        <p:nvSpPr>
          <p:cNvPr id="8" name="shape-16">
            <a:extLst xmlns:a="http://schemas.openxmlformats.org/drawingml/2006/main">
              <a:ext uri="{FF2B5EF4-FFF2-40B4-BE49-F238E27FC236}">
                <a16:creationId xmlns:a16="http://schemas.microsoft.com/office/drawing/2014/main" id="{DCBF01B3-82B5-41F2-B09B-0F1A006E12DC}"/>
              </a:ext>
            </a:extLst>
          </p:cNvPr>
          <p:cNvSpPr>
            <a:spLocks xmlns:a="http://schemas.openxmlformats.org/drawingml/2006/main" noGrp="1"/>
          </p:cNvSpPr>
          <p:nvPr/>
        </p:nvSpPr>
        <p:spPr>
          <a:xfrm xmlns:a="http://schemas.openxmlformats.org/drawingml/2006/main">
            <a:off x="819150" y="3143250"/>
            <a:ext cx="3524250" cy="533400"/>
          </a:xfrm>
          <a:prstGeom xmlns:a="http://schemas.openxmlformats.org/drawingml/2006/main" prst="roundRect">
            <a:avLst>
              <a:gd name="adj" fmla="val 17857"/>
            </a:avLst>
          </a:prstGeom>
          <a:solidFill xmlns:a="http://schemas.openxmlformats.org/drawingml/2006/main">
            <a:srgbClr val="DCEBE6"/>
          </a:solidFill>
          <a:ln xmlns:a="http://schemas.openxmlformats.org/drawingml/2006/main" w="9525">
            <a:solidFill>
              <a:srgbClr val="257B69"/>
            </a:solidFill>
            <a:prstDash val="solid"/>
          </a:ln>
        </p:spPr>
      </p:sp>
      <p:sp>
        <p:nvSpPr>
          <p:cNvPr id="9" name="text-17">
            <a:extLst xmlns:a="http://schemas.openxmlformats.org/drawingml/2006/main">
              <a:ext uri="{FF2B5EF4-FFF2-40B4-BE49-F238E27FC236}">
                <a16:creationId xmlns:a16="http://schemas.microsoft.com/office/drawing/2014/main" id="{46D9C665-AA2B-4C31-9E46-BDF1AF12724A}"/>
              </a:ext>
            </a:extLst>
          </p:cNvPr>
          <p:cNvSpPr>
            <a:spLocks xmlns:a="http://schemas.openxmlformats.org/drawingml/2006/main" noGrp="1"/>
          </p:cNvSpPr>
          <p:nvPr/>
        </p:nvSpPr>
        <p:spPr>
          <a:xfrm xmlns:a="http://schemas.openxmlformats.org/drawingml/2006/main">
            <a:off x="952500" y="3238500"/>
            <a:ext cx="3257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5000"/>
              </a:lnSpc>
              <a:buNone/>
              <a:defRPr sz="1500" b="0" i="0">
                <a:solidFill>
                  <a:srgbClr val="257B69"/>
                </a:solidFill>
              </a:defRPr>
            </a:pPr>
            <a:r>
              <a:rPr sz="1500" b="0" i="0">
                <a:solidFill>
                  <a:srgbClr val="257B69"/>
                </a:solidFill>
              </a:rPr>
              <a:t>all frames jointly available</a:t>
            </a:r>
          </a:p>
        </p:txBody>
      </p:sp>
      <p:sp>
        <p:nvSpPr>
          <p:cNvPr id="10" name="text-18">
            <a:extLst xmlns:a="http://schemas.openxmlformats.org/drawingml/2006/main">
              <a:ext uri="{FF2B5EF4-FFF2-40B4-BE49-F238E27FC236}">
                <a16:creationId xmlns:a16="http://schemas.microsoft.com/office/drawing/2014/main" id="{AD5D6178-E9E3-4526-B447-80314AEE2C07}"/>
              </a:ext>
            </a:extLst>
          </p:cNvPr>
          <p:cNvSpPr>
            <a:spLocks xmlns:a="http://schemas.openxmlformats.org/drawingml/2006/main" noGrp="1"/>
          </p:cNvSpPr>
          <p:nvPr/>
        </p:nvSpPr>
        <p:spPr>
          <a:xfrm xmlns:a="http://schemas.openxmlformats.org/drawingml/2006/main">
            <a:off x="819150" y="3962400"/>
            <a:ext cx="3905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1650" b="0" i="0">
                <a:solidFill>
                  <a:srgbClr val="6F716E"/>
                </a:solidFill>
              </a:defRPr>
            </a:pPr>
            <a:r>
              <a:rPr sz="1650" b="0" i="0">
                <a:solidFill>
                  <a:srgbClr val="6F716E"/>
                </a:solidFill>
              </a:rPr>
              <a:t>Bidirectional denoising sees ground-truth context and a fixed window.</a:t>
            </a:r>
          </a:p>
        </p:txBody>
      </p:sp>
      <p:sp>
        <p:nvSpPr>
          <p:cNvPr id="11" name="text-19">
            <a:extLst xmlns:a="http://schemas.openxmlformats.org/drawingml/2006/main">
              <a:ext uri="{FF2B5EF4-FFF2-40B4-BE49-F238E27FC236}">
                <a16:creationId xmlns:a16="http://schemas.microsoft.com/office/drawing/2014/main" id="{191F045B-4E75-4D44-86A3-33F229B17DC1}"/>
              </a:ext>
            </a:extLst>
          </p:cNvPr>
          <p:cNvSpPr>
            <a:spLocks xmlns:a="http://schemas.openxmlformats.org/drawingml/2006/main" noGrp="1"/>
          </p:cNvSpPr>
          <p:nvPr/>
        </p:nvSpPr>
        <p:spPr>
          <a:xfrm xmlns:a="http://schemas.openxmlformats.org/drawingml/2006/main">
            <a:off x="6229350" y="219075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i="0">
                <a:solidFill>
                  <a:srgbClr val="A1493F"/>
                </a:solidFill>
              </a:defRPr>
            </a:pPr>
            <a:r>
              <a:rPr sz="1200" b="1" i="0">
                <a:solidFill>
                  <a:srgbClr val="A1493F"/>
                </a:solidFill>
              </a:rPr>
              <a:t>STREAMING DEPLOYMENT</a:t>
            </a:r>
          </a:p>
        </p:txBody>
      </p:sp>
      <p:sp>
        <p:nvSpPr>
          <p:cNvPr id="12" name="text-20">
            <a:extLst xmlns:a="http://schemas.openxmlformats.org/drawingml/2006/main">
              <a:ext uri="{FF2B5EF4-FFF2-40B4-BE49-F238E27FC236}">
                <a16:creationId xmlns:a16="http://schemas.microsoft.com/office/drawing/2014/main" id="{5E3E31CA-60F3-4757-A623-4CF1C0060277}"/>
              </a:ext>
            </a:extLst>
          </p:cNvPr>
          <p:cNvSpPr>
            <a:spLocks xmlns:a="http://schemas.openxmlformats.org/drawingml/2006/main" noGrp="1"/>
          </p:cNvSpPr>
          <p:nvPr/>
        </p:nvSpPr>
        <p:spPr>
          <a:xfrm xmlns:a="http://schemas.openxmlformats.org/drawingml/2006/main">
            <a:off x="6229350" y="2571750"/>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950" b="1" i="0">
                <a:solidFill>
                  <a:srgbClr val="171717"/>
                </a:solidFill>
              </a:defRPr>
            </a:pPr>
            <a:r>
              <a:rPr sz="1950" b="1" i="0">
                <a:solidFill>
                  <a:srgbClr val="171717"/>
                </a:solidFill>
              </a:rPr>
              <a:t>Predicted history</a:t>
            </a:r>
          </a:p>
        </p:txBody>
      </p:sp>
      <p:sp>
        <p:nvSpPr>
          <p:cNvPr id="13" name="shape-21">
            <a:extLst xmlns:a="http://schemas.openxmlformats.org/drawingml/2006/main">
              <a:ext uri="{FF2B5EF4-FFF2-40B4-BE49-F238E27FC236}">
                <a16:creationId xmlns:a16="http://schemas.microsoft.com/office/drawing/2014/main" id="{C5668F40-64D2-467B-A148-A2FFCC679F47}"/>
              </a:ext>
            </a:extLst>
          </p:cNvPr>
          <p:cNvSpPr>
            <a:spLocks xmlns:a="http://schemas.openxmlformats.org/drawingml/2006/main" noGrp="1"/>
          </p:cNvSpPr>
          <p:nvPr/>
        </p:nvSpPr>
        <p:spPr>
          <a:xfrm xmlns:a="http://schemas.openxmlformats.org/drawingml/2006/main">
            <a:off x="6229350" y="3143250"/>
            <a:ext cx="990600" cy="533400"/>
          </a:xfrm>
          <a:prstGeom xmlns:a="http://schemas.openxmlformats.org/drawingml/2006/main" prst="roundRect">
            <a:avLst>
              <a:gd name="adj" fmla="val 17857"/>
            </a:avLst>
          </a:prstGeom>
          <a:solidFill xmlns:a="http://schemas.openxmlformats.org/drawingml/2006/main">
            <a:srgbClr val="E8E1D4"/>
          </a:solidFill>
          <a:ln xmlns:a="http://schemas.openxmlformats.org/drawingml/2006/main" w="9525">
            <a:solidFill>
              <a:srgbClr val="E8E1D4"/>
            </a:solidFill>
            <a:prstDash val="solid"/>
          </a:ln>
        </p:spPr>
      </p:sp>
      <p:sp>
        <p:nvSpPr>
          <p:cNvPr id="14" name="text-22">
            <a:extLst xmlns:a="http://schemas.openxmlformats.org/drawingml/2006/main">
              <a:ext uri="{FF2B5EF4-FFF2-40B4-BE49-F238E27FC236}">
                <a16:creationId xmlns:a16="http://schemas.microsoft.com/office/drawing/2014/main" id="{F2E6D601-4411-4C9D-AB50-A2CE44F723F7}"/>
              </a:ext>
            </a:extLst>
          </p:cNvPr>
          <p:cNvSpPr>
            <a:spLocks xmlns:a="http://schemas.openxmlformats.org/drawingml/2006/main" noGrp="1"/>
          </p:cNvSpPr>
          <p:nvPr/>
        </p:nvSpPr>
        <p:spPr>
          <a:xfrm xmlns:a="http://schemas.openxmlformats.org/drawingml/2006/main">
            <a:off x="6229350" y="3238500"/>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5000"/>
              </a:lnSpc>
              <a:buNone/>
              <a:defRPr sz="1350" b="1" i="0">
                <a:solidFill>
                  <a:srgbClr val="171717"/>
                </a:solidFill>
              </a:defRPr>
            </a:pPr>
            <a:r>
              <a:rPr sz="1350" b="1" i="0">
                <a:solidFill>
                  <a:srgbClr val="171717"/>
                </a:solidFill>
              </a:rPr>
              <a:t>clean</a:t>
            </a:r>
          </a:p>
        </p:txBody>
      </p:sp>
      <p:sp>
        <p:nvSpPr>
          <p:cNvPr id="15" name="shape-23">
            <a:extLst xmlns:a="http://schemas.openxmlformats.org/drawingml/2006/main">
              <a:ext uri="{FF2B5EF4-FFF2-40B4-BE49-F238E27FC236}">
                <a16:creationId xmlns:a16="http://schemas.microsoft.com/office/drawing/2014/main" id="{6C79953D-5AF9-4D5C-9CEA-C3714F6CC3E5}"/>
              </a:ext>
            </a:extLst>
          </p:cNvPr>
          <p:cNvSpPr>
            <a:spLocks xmlns:a="http://schemas.openxmlformats.org/drawingml/2006/main" noGrp="1"/>
          </p:cNvSpPr>
          <p:nvPr/>
        </p:nvSpPr>
        <p:spPr>
          <a:xfrm xmlns:a="http://schemas.openxmlformats.org/drawingml/2006/main">
            <a:off x="7448550" y="3143250"/>
            <a:ext cx="990600" cy="533400"/>
          </a:xfrm>
          <a:prstGeom xmlns:a="http://schemas.openxmlformats.org/drawingml/2006/main" prst="roundRect">
            <a:avLst>
              <a:gd name="adj" fmla="val 17857"/>
            </a:avLst>
          </a:prstGeom>
          <a:solidFill xmlns:a="http://schemas.openxmlformats.org/drawingml/2006/main">
            <a:srgbClr val="DDE5FF"/>
          </a:solidFill>
          <a:ln xmlns:a="http://schemas.openxmlformats.org/drawingml/2006/main" w="9525">
            <a:solidFill>
              <a:srgbClr val="DDE5FF"/>
            </a:solidFill>
            <a:prstDash val="solid"/>
          </a:ln>
        </p:spPr>
      </p:sp>
      <p:sp>
        <p:nvSpPr>
          <p:cNvPr id="16" name="text-24">
            <a:extLst xmlns:a="http://schemas.openxmlformats.org/drawingml/2006/main">
              <a:ext uri="{FF2B5EF4-FFF2-40B4-BE49-F238E27FC236}">
                <a16:creationId xmlns:a16="http://schemas.microsoft.com/office/drawing/2014/main" id="{40D6058E-C970-48F4-8815-1662E8FBC325}"/>
              </a:ext>
            </a:extLst>
          </p:cNvPr>
          <p:cNvSpPr>
            <a:spLocks xmlns:a="http://schemas.openxmlformats.org/drawingml/2006/main" noGrp="1"/>
          </p:cNvSpPr>
          <p:nvPr/>
        </p:nvSpPr>
        <p:spPr>
          <a:xfrm xmlns:a="http://schemas.openxmlformats.org/drawingml/2006/main">
            <a:off x="7448550" y="3238500"/>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5000"/>
              </a:lnSpc>
              <a:buNone/>
              <a:defRPr sz="1350" b="1" i="0">
                <a:solidFill>
                  <a:srgbClr val="315EFB"/>
                </a:solidFill>
              </a:defRPr>
            </a:pPr>
            <a:r>
              <a:rPr sz="1350" b="1" i="0">
                <a:solidFill>
                  <a:srgbClr val="315EFB"/>
                </a:solidFill>
              </a:rPr>
              <a:t>committed</a:t>
            </a:r>
          </a:p>
        </p:txBody>
      </p:sp>
      <p:sp>
        <p:nvSpPr>
          <p:cNvPr id="17" name="shape-25">
            <a:extLst xmlns:a="http://schemas.openxmlformats.org/drawingml/2006/main">
              <a:ext uri="{FF2B5EF4-FFF2-40B4-BE49-F238E27FC236}">
                <a16:creationId xmlns:a16="http://schemas.microsoft.com/office/drawing/2014/main" id="{6ADC1597-4509-49FE-8768-CD46D5D6490E}"/>
              </a:ext>
            </a:extLst>
          </p:cNvPr>
          <p:cNvSpPr>
            <a:spLocks xmlns:a="http://schemas.openxmlformats.org/drawingml/2006/main" noGrp="1"/>
          </p:cNvSpPr>
          <p:nvPr/>
        </p:nvSpPr>
        <p:spPr>
          <a:xfrm xmlns:a="http://schemas.openxmlformats.org/drawingml/2006/main">
            <a:off x="8667750" y="3143250"/>
            <a:ext cx="990600" cy="533400"/>
          </a:xfrm>
          <a:prstGeom xmlns:a="http://schemas.openxmlformats.org/drawingml/2006/main" prst="roundRect">
            <a:avLst>
              <a:gd name="adj" fmla="val 17857"/>
            </a:avLst>
          </a:prstGeom>
          <a:solidFill xmlns:a="http://schemas.openxmlformats.org/drawingml/2006/main">
            <a:srgbClr val="315EFB"/>
          </a:solidFill>
          <a:ln xmlns:a="http://schemas.openxmlformats.org/drawingml/2006/main" w="9525">
            <a:solidFill>
              <a:srgbClr val="315EFB"/>
            </a:solidFill>
            <a:prstDash val="solid"/>
          </a:ln>
        </p:spPr>
      </p:sp>
      <p:sp>
        <p:nvSpPr>
          <p:cNvPr id="18" name="text-26">
            <a:extLst xmlns:a="http://schemas.openxmlformats.org/drawingml/2006/main">
              <a:ext uri="{FF2B5EF4-FFF2-40B4-BE49-F238E27FC236}">
                <a16:creationId xmlns:a16="http://schemas.microsoft.com/office/drawing/2014/main" id="{F410A7EC-BD5D-4FCD-987C-0AB20D2CA6D7}"/>
              </a:ext>
            </a:extLst>
          </p:cNvPr>
          <p:cNvSpPr>
            <a:spLocks xmlns:a="http://schemas.openxmlformats.org/drawingml/2006/main" noGrp="1"/>
          </p:cNvSpPr>
          <p:nvPr/>
        </p:nvSpPr>
        <p:spPr>
          <a:xfrm xmlns:a="http://schemas.openxmlformats.org/drawingml/2006/main">
            <a:off x="8667750" y="3238500"/>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5000"/>
              </a:lnSpc>
              <a:buNone/>
              <a:defRPr sz="1350" b="1" i="0">
                <a:solidFill>
                  <a:srgbClr val="FFFEFA"/>
                </a:solidFill>
              </a:defRPr>
            </a:pPr>
            <a:r>
              <a:rPr sz="1350" b="1" i="0">
                <a:solidFill>
                  <a:srgbClr val="FFFEFA"/>
                </a:solidFill>
              </a:rPr>
              <a:t>active</a:t>
            </a:r>
          </a:p>
        </p:txBody>
      </p:sp>
      <p:sp>
        <p:nvSpPr>
          <p:cNvPr id="19" name="shape-27">
            <a:extLst xmlns:a="http://schemas.openxmlformats.org/drawingml/2006/main">
              <a:ext uri="{FF2B5EF4-FFF2-40B4-BE49-F238E27FC236}">
                <a16:creationId xmlns:a16="http://schemas.microsoft.com/office/drawing/2014/main" id="{0D36FB57-B658-4413-B4F3-A071009457DB}"/>
              </a:ext>
            </a:extLst>
          </p:cNvPr>
          <p:cNvSpPr>
            <a:spLocks xmlns:a="http://schemas.openxmlformats.org/drawingml/2006/main" noGrp="1"/>
          </p:cNvSpPr>
          <p:nvPr/>
        </p:nvSpPr>
        <p:spPr>
          <a:xfrm xmlns:a="http://schemas.openxmlformats.org/drawingml/2006/main">
            <a:off x="9886950" y="3143250"/>
            <a:ext cx="990600" cy="533400"/>
          </a:xfrm>
          <a:prstGeom xmlns:a="http://schemas.openxmlformats.org/drawingml/2006/main" prst="roundRect">
            <a:avLst>
              <a:gd name="adj" fmla="val 17857"/>
            </a:avLst>
          </a:prstGeom>
          <a:solidFill xmlns:a="http://schemas.openxmlformats.org/drawingml/2006/main">
            <a:srgbClr val="D8D4CB"/>
          </a:solidFill>
          <a:ln xmlns:a="http://schemas.openxmlformats.org/drawingml/2006/main" w="9525">
            <a:solidFill>
              <a:srgbClr val="D8D4CB"/>
            </a:solidFill>
            <a:prstDash val="solid"/>
          </a:ln>
        </p:spPr>
      </p:sp>
      <p:sp>
        <p:nvSpPr>
          <p:cNvPr id="20" name="text-28">
            <a:extLst xmlns:a="http://schemas.openxmlformats.org/drawingml/2006/main">
              <a:ext uri="{FF2B5EF4-FFF2-40B4-BE49-F238E27FC236}">
                <a16:creationId xmlns:a16="http://schemas.microsoft.com/office/drawing/2014/main" id="{1ABC39B2-A337-4233-8D17-050594B20845}"/>
              </a:ext>
            </a:extLst>
          </p:cNvPr>
          <p:cNvSpPr>
            <a:spLocks xmlns:a="http://schemas.openxmlformats.org/drawingml/2006/main" noGrp="1"/>
          </p:cNvSpPr>
          <p:nvPr/>
        </p:nvSpPr>
        <p:spPr>
          <a:xfrm xmlns:a="http://schemas.openxmlformats.org/drawingml/2006/main">
            <a:off x="9886950" y="3238500"/>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5000"/>
              </a:lnSpc>
              <a:buNone/>
              <a:defRPr sz="1350" b="1" i="0">
                <a:solidFill>
                  <a:srgbClr val="6F716E"/>
                </a:solidFill>
              </a:defRPr>
            </a:pPr>
            <a:r>
              <a:rPr sz="1350" b="1" i="0">
                <a:solidFill>
                  <a:srgbClr val="6F716E"/>
                </a:solidFill>
              </a:rPr>
              <a:t>noise</a:t>
            </a:r>
          </a:p>
        </p:txBody>
      </p:sp>
      <p:sp>
        <p:nvSpPr>
          <p:cNvPr id="21" name="text-29">
            <a:extLst xmlns:a="http://schemas.openxmlformats.org/drawingml/2006/main">
              <a:ext uri="{FF2B5EF4-FFF2-40B4-BE49-F238E27FC236}">
                <a16:creationId xmlns:a16="http://schemas.microsoft.com/office/drawing/2014/main" id="{FF82A47D-00FE-4966-9AA5-F281A2A8FF51}"/>
              </a:ext>
            </a:extLst>
          </p:cNvPr>
          <p:cNvSpPr>
            <a:spLocks xmlns:a="http://schemas.openxmlformats.org/drawingml/2006/main" noGrp="1"/>
          </p:cNvSpPr>
          <p:nvPr/>
        </p:nvSpPr>
        <p:spPr>
          <a:xfrm xmlns:a="http://schemas.openxmlformats.org/drawingml/2006/main">
            <a:off x="6229350" y="3962400"/>
            <a:ext cx="4572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1650" b="0" i="0">
                <a:solidFill>
                  <a:srgbClr val="6F716E"/>
                </a:solidFill>
              </a:defRPr>
            </a:pPr>
            <a:r>
              <a:rPr sz="1650" b="0" i="0">
                <a:solidFill>
                  <a:srgbClr val="6F716E"/>
                </a:solidFill>
              </a:rPr>
              <a:t>Errors accumulate; old observations leave the window; asynchronous chunks sit at different noise levels.</a:t>
            </a:r>
          </a:p>
        </p:txBody>
      </p:sp>
      <p:sp>
        <p:nvSpPr>
          <p:cNvPr id="22" name="shape-30">
            <a:extLst xmlns:a="http://schemas.openxmlformats.org/drawingml/2006/main">
              <a:ext uri="{FF2B5EF4-FFF2-40B4-BE49-F238E27FC236}">
                <a16:creationId xmlns:a16="http://schemas.microsoft.com/office/drawing/2014/main" id="{E0DF375E-5887-4264-AC55-6DE219B085EB}"/>
              </a:ext>
            </a:extLst>
          </p:cNvPr>
          <p:cNvSpPr>
            <a:spLocks xmlns:a="http://schemas.openxmlformats.org/drawingml/2006/main" noGrp="1"/>
          </p:cNvSpPr>
          <p:nvPr/>
        </p:nvSpPr>
        <p:spPr>
          <a:xfrm xmlns:a="http://schemas.openxmlformats.org/drawingml/2006/main">
            <a:off x="3028950" y="5238750"/>
            <a:ext cx="47625" cy="552450"/>
          </a:xfrm>
          <a:prstGeom xmlns:a="http://schemas.openxmlformats.org/drawingml/2006/main" prst="rect">
            <a:avLst/>
          </a:prstGeom>
          <a:solidFill xmlns:a="http://schemas.openxmlformats.org/drawingml/2006/main">
            <a:srgbClr val="315EFB"/>
          </a:solidFill>
          <a:ln xmlns:a="http://schemas.openxmlformats.org/drawingml/2006/main" w="0">
            <a:noFill/>
            <a:prstDash val="solid"/>
          </a:ln>
        </p:spPr>
      </p:sp>
      <p:sp>
        <p:nvSpPr>
          <p:cNvPr id="23" name="text-31">
            <a:extLst xmlns:a="http://schemas.openxmlformats.org/drawingml/2006/main">
              <a:ext uri="{FF2B5EF4-FFF2-40B4-BE49-F238E27FC236}">
                <a16:creationId xmlns:a16="http://schemas.microsoft.com/office/drawing/2014/main" id="{56BC44E9-02AC-4DB5-8E47-68006F253E39}"/>
              </a:ext>
            </a:extLst>
          </p:cNvPr>
          <p:cNvSpPr>
            <a:spLocks xmlns:a="http://schemas.openxmlformats.org/drawingml/2006/main" noGrp="1"/>
          </p:cNvSpPr>
          <p:nvPr/>
        </p:nvSpPr>
        <p:spPr>
          <a:xfrm xmlns:a="http://schemas.openxmlformats.org/drawingml/2006/main">
            <a:off x="3257550" y="5200650"/>
            <a:ext cx="5962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5000"/>
              </a:lnSpc>
              <a:buNone/>
              <a:defRPr sz="1875" b="1" i="0">
                <a:solidFill>
                  <a:srgbClr val="171717"/>
                </a:solidFill>
              </a:defRPr>
            </a:pPr>
            <a:r>
              <a:rPr sz="1875" b="1" i="0">
                <a:solidFill>
                  <a:srgbClr val="171717"/>
                </a:solidFill>
              </a:rPr>
              <a:t>The mismatch is structural - not a decoding hyperparameter.</a:t>
            </a:r>
          </a:p>
        </p:txBody>
      </p:sp>
    </p:spTree>
    <p:extLst>
      <p:ext uri="{BB962C8B-B14F-4D97-AF65-F5344CB8AC3E}">
        <p14:creationId xmlns:p14="http://schemas.microsoft.com/office/powerpoint/2010/main" val="2004555719"/>
      </p:ext>
    </p:extLst>
  </p:cSld>
</p:sld>
</file>

<file path=ppt/slides/slide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text-32">
            <a:extLst xmlns:a="http://schemas.openxmlformats.org/drawingml/2006/main">
              <a:ext uri="{FF2B5EF4-FFF2-40B4-BE49-F238E27FC236}">
                <a16:creationId xmlns:a16="http://schemas.microsoft.com/office/drawing/2014/main" id="{AECF8451-F20E-4746-8F36-F8C93A453417}"/>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i="0">
                <a:solidFill>
                  <a:srgbClr val="315EFB"/>
                </a:solidFill>
              </a:defRPr>
            </a:pPr>
            <a:r>
              <a:rPr sz="1200" b="1" i="0">
                <a:solidFill>
                  <a:srgbClr val="315EFB"/>
                </a:solidFill>
              </a:rPr>
              <a:t>CORE INSIGHT</a:t>
            </a:r>
          </a:p>
        </p:txBody>
      </p:sp>
      <p:sp>
        <p:nvSpPr>
          <p:cNvPr id="2" name="shape-33">
            <a:extLst xmlns:a="http://schemas.openxmlformats.org/drawingml/2006/main">
              <a:ext uri="{FF2B5EF4-FFF2-40B4-BE49-F238E27FC236}">
                <a16:creationId xmlns:a16="http://schemas.microsoft.com/office/drawing/2014/main" id="{DD7CBBA4-DA5A-45E4-9BA1-B7CCFD4E830C}"/>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D8D4CB"/>
          </a:solidFill>
          <a:ln xmlns:a="http://schemas.openxmlformats.org/drawingml/2006/main" w="0">
            <a:noFill/>
            <a:prstDash val="solid"/>
          </a:ln>
        </p:spPr>
      </p:sp>
      <p:sp>
        <p:nvSpPr>
          <p:cNvPr id="3" name="text-34">
            <a:extLst xmlns:a="http://schemas.openxmlformats.org/drawingml/2006/main">
              <a:ext uri="{FF2B5EF4-FFF2-40B4-BE49-F238E27FC236}">
                <a16:creationId xmlns:a16="http://schemas.microsoft.com/office/drawing/2014/main" id="{DDB1BECF-1F87-4139-8616-EE02294CC486}"/>
              </a:ext>
            </a:extLst>
          </p:cNvPr>
          <p:cNvSpPr>
            <a:spLocks xmlns:a="http://schemas.openxmlformats.org/drawingml/2006/main" noGrp="1"/>
          </p:cNvSpPr>
          <p:nvPr/>
        </p:nvSpPr>
        <p:spPr>
          <a:xfrm xmlns:a="http://schemas.openxmlformats.org/drawingml/2006/main">
            <a:off x="685800" y="6496050"/>
            <a:ext cx="876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0" i="0">
                <a:solidFill>
                  <a:srgbClr val="6F716E"/>
                </a:solidFill>
              </a:defRPr>
            </a:pPr>
            <a:r>
              <a:rPr sz="1200" b="0" i="0">
                <a:solidFill>
                  <a:srgbClr val="6F716E"/>
                </a:solidFill>
              </a:rPr>
              <a:t>Paper Fig. 1 · p. 4</a:t>
            </a:r>
          </a:p>
        </p:txBody>
      </p:sp>
      <p:sp>
        <p:nvSpPr>
          <p:cNvPr id="4" name="text-35">
            <a:extLst xmlns:a="http://schemas.openxmlformats.org/drawingml/2006/main">
              <a:ext uri="{FF2B5EF4-FFF2-40B4-BE49-F238E27FC236}">
                <a16:creationId xmlns:a16="http://schemas.microsoft.com/office/drawing/2014/main" id="{98179987-CF95-4EC4-87E9-D57B97F04A55}"/>
              </a:ext>
            </a:extLst>
          </p:cNvPr>
          <p:cNvSpPr>
            <a:spLocks xmlns:a="http://schemas.openxmlformats.org/drawingml/2006/main" noGrp="1"/>
          </p:cNvSpPr>
          <p:nvPr/>
        </p:nvSpPr>
        <p:spPr>
          <a:xfrm xmlns:a="http://schemas.openxmlformats.org/drawingml/2006/main">
            <a:off x="10839450" y="64770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05000"/>
              </a:lnSpc>
              <a:buNone/>
              <a:defRPr sz="1200" b="1" i="0">
                <a:solidFill>
                  <a:srgbClr val="6F716E"/>
                </a:solidFill>
              </a:defRPr>
            </a:pPr>
            <a:r>
              <a:rPr sz="1200" b="1" i="0">
                <a:solidFill>
                  <a:srgbClr val="6F716E"/>
                </a:solidFill>
              </a:rPr>
              <a:t>03</a:t>
            </a:r>
          </a:p>
        </p:txBody>
      </p:sp>
      <p:sp>
        <p:nvSpPr>
          <p:cNvPr id="5" name="text-36">
            <a:extLst xmlns:a="http://schemas.openxmlformats.org/drawingml/2006/main">
              <a:ext uri="{FF2B5EF4-FFF2-40B4-BE49-F238E27FC236}">
                <a16:creationId xmlns:a16="http://schemas.microsoft.com/office/drawing/2014/main" id="{AFD50B37-B018-42BF-A035-882FF6F8744F}"/>
              </a:ext>
            </a:extLst>
          </p:cNvPr>
          <p:cNvSpPr>
            <a:spLocks xmlns:a="http://schemas.openxmlformats.org/drawingml/2006/main" noGrp="1"/>
          </p:cNvSpPr>
          <p:nvPr/>
        </p:nvSpPr>
        <p:spPr>
          <a:xfrm xmlns:a="http://schemas.openxmlformats.org/drawingml/2006/main">
            <a:off x="685800" y="10668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95000"/>
              </a:lnSpc>
              <a:buNone/>
              <a:defRPr sz="3600" b="1" i="0">
                <a:solidFill>
                  <a:srgbClr val="171717"/>
                </a:solidFill>
              </a:defRPr>
            </a:pPr>
            <a:r>
              <a:rPr sz="3600" b="1" i="0">
                <a:solidFill>
                  <a:srgbClr val="171717"/>
                </a:solidFill>
              </a:rPr>
              <a:t>A single contract aligns training and streaming</a:t>
            </a:r>
          </a:p>
        </p:txBody>
      </p:sp>
      <p:sp>
        <p:nvSpPr>
          <p:cNvPr id="6" name="shape-37">
            <a:extLst xmlns:a="http://schemas.openxmlformats.org/drawingml/2006/main">
              <a:ext uri="{FF2B5EF4-FFF2-40B4-BE49-F238E27FC236}">
                <a16:creationId xmlns:a16="http://schemas.microsoft.com/office/drawing/2014/main" id="{8F2B8FFB-A742-45D4-BB4A-C0A3D4FFA162}"/>
              </a:ext>
            </a:extLst>
          </p:cNvPr>
          <p:cNvSpPr>
            <a:spLocks xmlns:a="http://schemas.openxmlformats.org/drawingml/2006/main" noGrp="1"/>
          </p:cNvSpPr>
          <p:nvPr/>
        </p:nvSpPr>
        <p:spPr>
          <a:xfrm xmlns:a="http://schemas.openxmlformats.org/drawingml/2006/main">
            <a:off x="800100" y="1790700"/>
            <a:ext cx="10591800" cy="4114800"/>
          </a:xfrm>
          <a:prstGeom xmlns:a="http://schemas.openxmlformats.org/drawingml/2006/main" prst="rect">
            <a:avLst/>
          </a:prstGeom>
          <a:solidFill xmlns:a="http://schemas.openxmlformats.org/drawingml/2006/main">
            <a:srgbClr val="FFFEFA"/>
          </a:solidFill>
          <a:ln xmlns:a="http://schemas.openxmlformats.org/drawingml/2006/main" w="9525">
            <a:solidFill>
              <a:srgbClr val="D8D4CB"/>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ce941ce7b3c4e36"/>
          <a:stretch xmlns:a="http://schemas.openxmlformats.org/drawingml/2006/main"/>
        </p:blipFill>
        <p:spPr>
          <a:xfrm xmlns:a="http://schemas.openxmlformats.org/drawingml/2006/main">
            <a:off x="2862091" y="1866900"/>
            <a:ext cx="6467818" cy="3962400"/>
          </a:xfrm>
          <a:prstGeom xmlns:a="http://schemas.openxmlformats.org/drawingml/2006/main" prst="rect">
            <a:avLst/>
          </a:prstGeom>
        </p:spPr>
      </p:pic>
      <p:sp>
        <p:nvSpPr>
          <p:cNvPr id="8" name="text-38">
            <a:extLst xmlns:a="http://schemas.openxmlformats.org/drawingml/2006/main">
              <a:ext uri="{FF2B5EF4-FFF2-40B4-BE49-F238E27FC236}">
                <a16:creationId xmlns:a16="http://schemas.microsoft.com/office/drawing/2014/main" id="{7786D067-A9AF-4273-8071-74D56CCA25A9}"/>
              </a:ext>
            </a:extLst>
          </p:cNvPr>
          <p:cNvSpPr>
            <a:spLocks xmlns:a="http://schemas.openxmlformats.org/drawingml/2006/main" noGrp="1"/>
          </p:cNvSpPr>
          <p:nvPr/>
        </p:nvSpPr>
        <p:spPr>
          <a:xfrm xmlns:a="http://schemas.openxmlformats.org/drawingml/2006/main">
            <a:off x="990600" y="59436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350" b="1" i="0">
                <a:solidFill>
                  <a:srgbClr val="315EFB"/>
                </a:solidFill>
              </a:defRPr>
            </a:pPr>
            <a:r>
              <a:rPr sz="1350" b="1" i="0">
                <a:solidFill>
                  <a:srgbClr val="315EFB"/>
                </a:solidFill>
              </a:rPr>
              <a:t>Block causality</a:t>
            </a:r>
          </a:p>
        </p:txBody>
      </p:sp>
      <p:sp>
        <p:nvSpPr>
          <p:cNvPr id="9" name="text-39">
            <a:extLst xmlns:a="http://schemas.openxmlformats.org/drawingml/2006/main">
              <a:ext uri="{FF2B5EF4-FFF2-40B4-BE49-F238E27FC236}">
                <a16:creationId xmlns:a16="http://schemas.microsoft.com/office/drawing/2014/main" id="{387DFDD8-F573-4D43-B796-281E1750BF93}"/>
              </a:ext>
            </a:extLst>
          </p:cNvPr>
          <p:cNvSpPr>
            <a:spLocks xmlns:a="http://schemas.openxmlformats.org/drawingml/2006/main" noGrp="1"/>
          </p:cNvSpPr>
          <p:nvPr/>
        </p:nvSpPr>
        <p:spPr>
          <a:xfrm xmlns:a="http://schemas.openxmlformats.org/drawingml/2006/main">
            <a:off x="3276600" y="59436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350" b="1" i="0">
                <a:solidFill>
                  <a:srgbClr val="315EFB"/>
                </a:solidFill>
              </a:defRPr>
            </a:pPr>
            <a:r>
              <a:rPr sz="1350" b="1" i="0">
                <a:solidFill>
                  <a:srgbClr val="315EFB"/>
                </a:solidFill>
              </a:rPr>
              <a:t>CoPP noise order</a:t>
            </a:r>
          </a:p>
        </p:txBody>
      </p:sp>
      <p:sp>
        <p:nvSpPr>
          <p:cNvPr id="10" name="text-40">
            <a:extLst xmlns:a="http://schemas.openxmlformats.org/drawingml/2006/main">
              <a:ext uri="{FF2B5EF4-FFF2-40B4-BE49-F238E27FC236}">
                <a16:creationId xmlns:a16="http://schemas.microsoft.com/office/drawing/2014/main" id="{9CB90D9D-AE84-4952-B616-69FE07D7C7F3}"/>
              </a:ext>
            </a:extLst>
          </p:cNvPr>
          <p:cNvSpPr>
            <a:spLocks xmlns:a="http://schemas.openxmlformats.org/drawingml/2006/main" noGrp="1"/>
          </p:cNvSpPr>
          <p:nvPr/>
        </p:nvSpPr>
        <p:spPr>
          <a:xfrm xmlns:a="http://schemas.openxmlformats.org/drawingml/2006/main">
            <a:off x="5581650" y="5943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350" b="1" i="0">
                <a:solidFill>
                  <a:srgbClr val="315EFB"/>
                </a:solidFill>
              </a:defRPr>
            </a:pPr>
            <a:r>
              <a:rPr sz="1350" b="1" i="0">
                <a:solidFill>
                  <a:srgbClr val="315EFB"/>
                </a:solidFill>
              </a:rPr>
              <a:t>Two-stage continuation</a:t>
            </a:r>
          </a:p>
        </p:txBody>
      </p:sp>
      <p:sp>
        <p:nvSpPr>
          <p:cNvPr id="11" name="text-41">
            <a:extLst xmlns:a="http://schemas.openxmlformats.org/drawingml/2006/main">
              <a:ext uri="{FF2B5EF4-FFF2-40B4-BE49-F238E27FC236}">
                <a16:creationId xmlns:a16="http://schemas.microsoft.com/office/drawing/2014/main" id="{D2E9BCDB-EE9A-427B-BF42-940EBBEFC7CC}"/>
              </a:ext>
            </a:extLst>
          </p:cNvPr>
          <p:cNvSpPr>
            <a:spLocks xmlns:a="http://schemas.openxmlformats.org/drawingml/2006/main" noGrp="1"/>
          </p:cNvSpPr>
          <p:nvPr/>
        </p:nvSpPr>
        <p:spPr>
          <a:xfrm xmlns:a="http://schemas.openxmlformats.org/drawingml/2006/main">
            <a:off x="8362950" y="59436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350" b="1" i="0">
                <a:solidFill>
                  <a:srgbClr val="315EFB"/>
                </a:solidFill>
              </a:defRPr>
            </a:pPr>
            <a:r>
              <a:rPr sz="1350" b="1" i="0">
                <a:solidFill>
                  <a:srgbClr val="315EFB"/>
                </a:solidFill>
              </a:rPr>
              <a:t>Rolling KV + pipeline</a:t>
            </a:r>
          </a:p>
        </p:txBody>
      </p:sp>
    </p:spTree>
    <p:extLst>
      <p:ext uri="{BB962C8B-B14F-4D97-AF65-F5344CB8AC3E}">
        <p14:creationId xmlns:p14="http://schemas.microsoft.com/office/powerpoint/2010/main" val="2052673213"/>
      </p:ext>
    </p:extLst>
  </p:cSld>
</p:sld>
</file>

<file path=ppt/slides/slide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32" name="text-42">
            <a:extLst xmlns:a="http://schemas.openxmlformats.org/drawingml/2006/main">
              <a:ext uri="{FF2B5EF4-FFF2-40B4-BE49-F238E27FC236}">
                <a16:creationId xmlns:a16="http://schemas.microsoft.com/office/drawing/2014/main" id="{320B95D3-21C2-4B5B-8244-818E52DCB7EE}"/>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i="0">
                <a:solidFill>
                  <a:srgbClr val="315EFB"/>
                </a:solidFill>
              </a:defRPr>
            </a:pPr>
            <a:r>
              <a:rPr sz="1200" b="1" i="0">
                <a:solidFill>
                  <a:srgbClr val="315EFB"/>
                </a:solidFill>
              </a:rPr>
              <a:t>MECHANISM 1</a:t>
            </a:r>
          </a:p>
        </p:txBody>
      </p:sp>
      <p:sp>
        <p:nvSpPr>
          <p:cNvPr id="2" name="shape-43">
            <a:extLst xmlns:a="http://schemas.openxmlformats.org/drawingml/2006/main">
              <a:ext uri="{FF2B5EF4-FFF2-40B4-BE49-F238E27FC236}">
                <a16:creationId xmlns:a16="http://schemas.microsoft.com/office/drawing/2014/main" id="{2265A738-69C7-40E7-B1C9-FDFC28B09B83}"/>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D8D4CB"/>
          </a:solidFill>
          <a:ln xmlns:a="http://schemas.openxmlformats.org/drawingml/2006/main" w="0">
            <a:noFill/>
            <a:prstDash val="solid"/>
          </a:ln>
        </p:spPr>
      </p:sp>
      <p:sp>
        <p:nvSpPr>
          <p:cNvPr id="3" name="text-44">
            <a:extLst xmlns:a="http://schemas.openxmlformats.org/drawingml/2006/main">
              <a:ext uri="{FF2B5EF4-FFF2-40B4-BE49-F238E27FC236}">
                <a16:creationId xmlns:a16="http://schemas.microsoft.com/office/drawing/2014/main" id="{9527BEAE-196F-4683-9CA5-2F6AB78D0008}"/>
              </a:ext>
            </a:extLst>
          </p:cNvPr>
          <p:cNvSpPr>
            <a:spLocks xmlns:a="http://schemas.openxmlformats.org/drawingml/2006/main" noGrp="1"/>
          </p:cNvSpPr>
          <p:nvPr/>
        </p:nvSpPr>
        <p:spPr>
          <a:xfrm xmlns:a="http://schemas.openxmlformats.org/drawingml/2006/main">
            <a:off x="685800" y="6496050"/>
            <a:ext cx="876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0" i="0">
                <a:solidFill>
                  <a:srgbClr val="6F716E"/>
                </a:solidFill>
              </a:defRPr>
            </a:pPr>
            <a:r>
              <a:rPr sz="1200" b="0" i="0">
                <a:solidFill>
                  <a:srgbClr val="6F716E"/>
                </a:solidFill>
              </a:rPr>
              <a:t>Paper §3.2 · pp. 5-6</a:t>
            </a:r>
          </a:p>
        </p:txBody>
      </p:sp>
      <p:sp>
        <p:nvSpPr>
          <p:cNvPr id="4" name="text-45">
            <a:extLst xmlns:a="http://schemas.openxmlformats.org/drawingml/2006/main">
              <a:ext uri="{FF2B5EF4-FFF2-40B4-BE49-F238E27FC236}">
                <a16:creationId xmlns:a16="http://schemas.microsoft.com/office/drawing/2014/main" id="{42CA8A47-D75C-44F9-A389-844CABFCB75F}"/>
              </a:ext>
            </a:extLst>
          </p:cNvPr>
          <p:cNvSpPr>
            <a:spLocks xmlns:a="http://schemas.openxmlformats.org/drawingml/2006/main" noGrp="1"/>
          </p:cNvSpPr>
          <p:nvPr/>
        </p:nvSpPr>
        <p:spPr>
          <a:xfrm xmlns:a="http://schemas.openxmlformats.org/drawingml/2006/main">
            <a:off x="10839450" y="64770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05000"/>
              </a:lnSpc>
              <a:buNone/>
              <a:defRPr sz="1200" b="1" i="0">
                <a:solidFill>
                  <a:srgbClr val="6F716E"/>
                </a:solidFill>
              </a:defRPr>
            </a:pPr>
            <a:r>
              <a:rPr sz="1200" b="1" i="0">
                <a:solidFill>
                  <a:srgbClr val="6F716E"/>
                </a:solidFill>
              </a:rPr>
              <a:t>04</a:t>
            </a:r>
          </a:p>
        </p:txBody>
      </p:sp>
      <p:sp>
        <p:nvSpPr>
          <p:cNvPr id="5" name="text-46">
            <a:extLst xmlns:a="http://schemas.openxmlformats.org/drawingml/2006/main">
              <a:ext uri="{FF2B5EF4-FFF2-40B4-BE49-F238E27FC236}">
                <a16:creationId xmlns:a16="http://schemas.microsoft.com/office/drawing/2014/main" id="{40247B11-DA7A-4EA7-9BA5-F15C30285E25}"/>
              </a:ext>
            </a:extLst>
          </p:cNvPr>
          <p:cNvSpPr>
            <a:spLocks xmlns:a="http://schemas.openxmlformats.org/drawingml/2006/main" noGrp="1"/>
          </p:cNvSpPr>
          <p:nvPr/>
        </p:nvSpPr>
        <p:spPr>
          <a:xfrm xmlns:a="http://schemas.openxmlformats.org/drawingml/2006/main">
            <a:off x="685800" y="10668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95000"/>
              </a:lnSpc>
              <a:buNone/>
              <a:defRPr sz="3600" b="1" i="0">
                <a:solidFill>
                  <a:srgbClr val="171717"/>
                </a:solidFill>
              </a:defRPr>
            </a:pPr>
            <a:r>
              <a:rPr sz="3600" b="1" i="0">
                <a:solidFill>
                  <a:srgbClr val="171717"/>
                </a:solidFill>
              </a:rPr>
              <a:t>Block causality preserves local context</a:t>
            </a:r>
          </a:p>
        </p:txBody>
      </p:sp>
      <p:sp>
        <p:nvSpPr>
          <p:cNvPr id="6" name="text-47">
            <a:extLst xmlns:a="http://schemas.openxmlformats.org/drawingml/2006/main">
              <a:ext uri="{FF2B5EF4-FFF2-40B4-BE49-F238E27FC236}">
                <a16:creationId xmlns:a16="http://schemas.microsoft.com/office/drawing/2014/main" id="{92C19E50-7A26-4337-81B2-EB9B6368AABA}"/>
              </a:ext>
            </a:extLst>
          </p:cNvPr>
          <p:cNvSpPr>
            <a:spLocks xmlns:a="http://schemas.openxmlformats.org/drawingml/2006/main" noGrp="1"/>
          </p:cNvSpPr>
          <p:nvPr/>
        </p:nvSpPr>
        <p:spPr>
          <a:xfrm xmlns:a="http://schemas.openxmlformats.org/drawingml/2006/main">
            <a:off x="704850" y="262890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05000"/>
              </a:lnSpc>
              <a:buNone/>
              <a:defRPr sz="1200" b="0" i="0">
                <a:solidFill>
                  <a:srgbClr val="6F716E"/>
                </a:solidFill>
              </a:defRPr>
            </a:pPr>
            <a:r>
              <a:rPr sz="1200" b="0" i="0">
                <a:solidFill>
                  <a:srgbClr val="6F716E"/>
                </a:solidFill>
              </a:rPr>
              <a:t>chunk 1</a:t>
            </a:r>
          </a:p>
        </p:txBody>
      </p:sp>
      <p:sp>
        <p:nvSpPr>
          <p:cNvPr id="7" name="shape-48">
            <a:extLst xmlns:a="http://schemas.openxmlformats.org/drawingml/2006/main">
              <a:ext uri="{FF2B5EF4-FFF2-40B4-BE49-F238E27FC236}">
                <a16:creationId xmlns:a16="http://schemas.microsoft.com/office/drawing/2014/main" id="{73F148A1-8113-45ED-BDB7-3618F4171CBD}"/>
              </a:ext>
            </a:extLst>
          </p:cNvPr>
          <p:cNvSpPr>
            <a:spLocks xmlns:a="http://schemas.openxmlformats.org/drawingml/2006/main" noGrp="1"/>
          </p:cNvSpPr>
          <p:nvPr/>
        </p:nvSpPr>
        <p:spPr>
          <a:xfrm xmlns:a="http://schemas.openxmlformats.org/drawingml/2006/main">
            <a:off x="1524000" y="2419350"/>
            <a:ext cx="666750" cy="666750"/>
          </a:xfrm>
          <a:prstGeom xmlns:a="http://schemas.openxmlformats.org/drawingml/2006/main" prst="rect">
            <a:avLst/>
          </a:prstGeom>
          <a:solidFill xmlns:a="http://schemas.openxmlformats.org/drawingml/2006/main">
            <a:srgbClr val="315EFB"/>
          </a:solidFill>
          <a:ln xmlns:a="http://schemas.openxmlformats.org/drawingml/2006/main" w="0">
            <a:noFill/>
            <a:prstDash val="solid"/>
          </a:ln>
        </p:spPr>
      </p:sp>
      <p:sp>
        <p:nvSpPr>
          <p:cNvPr id="8" name="shape-49">
            <a:extLst xmlns:a="http://schemas.openxmlformats.org/drawingml/2006/main">
              <a:ext uri="{FF2B5EF4-FFF2-40B4-BE49-F238E27FC236}">
                <a16:creationId xmlns:a16="http://schemas.microsoft.com/office/drawing/2014/main" id="{610686BC-7B66-4ABC-8C69-5494ADC25047}"/>
              </a:ext>
            </a:extLst>
          </p:cNvPr>
          <p:cNvSpPr>
            <a:spLocks xmlns:a="http://schemas.openxmlformats.org/drawingml/2006/main" noGrp="1"/>
          </p:cNvSpPr>
          <p:nvPr/>
        </p:nvSpPr>
        <p:spPr>
          <a:xfrm xmlns:a="http://schemas.openxmlformats.org/drawingml/2006/main">
            <a:off x="2266950" y="2419350"/>
            <a:ext cx="666750" cy="666750"/>
          </a:xfrm>
          <a:prstGeom xmlns:a="http://schemas.openxmlformats.org/drawingml/2006/main" prst="rect">
            <a:avLst/>
          </a:prstGeom>
          <a:solidFill xmlns:a="http://schemas.openxmlformats.org/drawingml/2006/main">
            <a:srgbClr val="FFFEFA"/>
          </a:solidFill>
          <a:ln xmlns:a="http://schemas.openxmlformats.org/drawingml/2006/main" w="9525">
            <a:solidFill>
              <a:srgbClr val="D8D4CB"/>
            </a:solidFill>
            <a:prstDash val="solid"/>
          </a:ln>
        </p:spPr>
      </p:sp>
      <p:sp>
        <p:nvSpPr>
          <p:cNvPr id="9" name="shape-50">
            <a:extLst xmlns:a="http://schemas.openxmlformats.org/drawingml/2006/main">
              <a:ext uri="{FF2B5EF4-FFF2-40B4-BE49-F238E27FC236}">
                <a16:creationId xmlns:a16="http://schemas.microsoft.com/office/drawing/2014/main" id="{F353C033-7B40-49C1-B9D3-B0D1CB5CEC23}"/>
              </a:ext>
            </a:extLst>
          </p:cNvPr>
          <p:cNvSpPr>
            <a:spLocks xmlns:a="http://schemas.openxmlformats.org/drawingml/2006/main" noGrp="1"/>
          </p:cNvSpPr>
          <p:nvPr/>
        </p:nvSpPr>
        <p:spPr>
          <a:xfrm xmlns:a="http://schemas.openxmlformats.org/drawingml/2006/main">
            <a:off x="3009900" y="2419350"/>
            <a:ext cx="666750" cy="666750"/>
          </a:xfrm>
          <a:prstGeom xmlns:a="http://schemas.openxmlformats.org/drawingml/2006/main" prst="rect">
            <a:avLst/>
          </a:prstGeom>
          <a:solidFill xmlns:a="http://schemas.openxmlformats.org/drawingml/2006/main">
            <a:srgbClr val="FFFEFA"/>
          </a:solidFill>
          <a:ln xmlns:a="http://schemas.openxmlformats.org/drawingml/2006/main" w="9525">
            <a:solidFill>
              <a:srgbClr val="D8D4CB"/>
            </a:solidFill>
            <a:prstDash val="solid"/>
          </a:ln>
        </p:spPr>
      </p:sp>
      <p:sp>
        <p:nvSpPr>
          <p:cNvPr id="10" name="shape-51">
            <a:extLst xmlns:a="http://schemas.openxmlformats.org/drawingml/2006/main">
              <a:ext uri="{FF2B5EF4-FFF2-40B4-BE49-F238E27FC236}">
                <a16:creationId xmlns:a16="http://schemas.microsoft.com/office/drawing/2014/main" id="{01A00194-2A5C-437E-9010-857C78933E58}"/>
              </a:ext>
            </a:extLst>
          </p:cNvPr>
          <p:cNvSpPr>
            <a:spLocks xmlns:a="http://schemas.openxmlformats.org/drawingml/2006/main" noGrp="1"/>
          </p:cNvSpPr>
          <p:nvPr/>
        </p:nvSpPr>
        <p:spPr>
          <a:xfrm xmlns:a="http://schemas.openxmlformats.org/drawingml/2006/main">
            <a:off x="3752850" y="2419350"/>
            <a:ext cx="666750" cy="666750"/>
          </a:xfrm>
          <a:prstGeom xmlns:a="http://schemas.openxmlformats.org/drawingml/2006/main" prst="rect">
            <a:avLst/>
          </a:prstGeom>
          <a:solidFill xmlns:a="http://schemas.openxmlformats.org/drawingml/2006/main">
            <a:srgbClr val="FFFEFA"/>
          </a:solidFill>
          <a:ln xmlns:a="http://schemas.openxmlformats.org/drawingml/2006/main" w="9525">
            <a:solidFill>
              <a:srgbClr val="D8D4CB"/>
            </a:solidFill>
            <a:prstDash val="solid"/>
          </a:ln>
        </p:spPr>
      </p:sp>
      <p:sp>
        <p:nvSpPr>
          <p:cNvPr id="11" name="text-52">
            <a:extLst xmlns:a="http://schemas.openxmlformats.org/drawingml/2006/main">
              <a:ext uri="{FF2B5EF4-FFF2-40B4-BE49-F238E27FC236}">
                <a16:creationId xmlns:a16="http://schemas.microsoft.com/office/drawing/2014/main" id="{9C34C3E2-D139-420A-90F1-0F2B2DC108CE}"/>
              </a:ext>
            </a:extLst>
          </p:cNvPr>
          <p:cNvSpPr>
            <a:spLocks xmlns:a="http://schemas.openxmlformats.org/drawingml/2006/main" noGrp="1"/>
          </p:cNvSpPr>
          <p:nvPr/>
        </p:nvSpPr>
        <p:spPr>
          <a:xfrm xmlns:a="http://schemas.openxmlformats.org/drawingml/2006/main">
            <a:off x="704850" y="337185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05000"/>
              </a:lnSpc>
              <a:buNone/>
              <a:defRPr sz="1200" b="0" i="0">
                <a:solidFill>
                  <a:srgbClr val="6F716E"/>
                </a:solidFill>
              </a:defRPr>
            </a:pPr>
            <a:r>
              <a:rPr sz="1200" b="0" i="0">
                <a:solidFill>
                  <a:srgbClr val="6F716E"/>
                </a:solidFill>
              </a:rPr>
              <a:t>chunk 2</a:t>
            </a:r>
          </a:p>
        </p:txBody>
      </p:sp>
      <p:sp>
        <p:nvSpPr>
          <p:cNvPr id="12" name="shape-53">
            <a:extLst xmlns:a="http://schemas.openxmlformats.org/drawingml/2006/main">
              <a:ext uri="{FF2B5EF4-FFF2-40B4-BE49-F238E27FC236}">
                <a16:creationId xmlns:a16="http://schemas.microsoft.com/office/drawing/2014/main" id="{36DB8218-26C8-4F78-9B60-24677299D58B}"/>
              </a:ext>
            </a:extLst>
          </p:cNvPr>
          <p:cNvSpPr>
            <a:spLocks xmlns:a="http://schemas.openxmlformats.org/drawingml/2006/main" noGrp="1"/>
          </p:cNvSpPr>
          <p:nvPr/>
        </p:nvSpPr>
        <p:spPr>
          <a:xfrm xmlns:a="http://schemas.openxmlformats.org/drawingml/2006/main">
            <a:off x="1524000" y="3162300"/>
            <a:ext cx="666750" cy="666750"/>
          </a:xfrm>
          <a:prstGeom xmlns:a="http://schemas.openxmlformats.org/drawingml/2006/main" prst="rect">
            <a:avLst/>
          </a:prstGeom>
          <a:solidFill xmlns:a="http://schemas.openxmlformats.org/drawingml/2006/main">
            <a:srgbClr val="DDE5FF"/>
          </a:solidFill>
          <a:ln xmlns:a="http://schemas.openxmlformats.org/drawingml/2006/main" w="0">
            <a:noFill/>
            <a:prstDash val="solid"/>
          </a:ln>
        </p:spPr>
      </p:sp>
      <p:sp>
        <p:nvSpPr>
          <p:cNvPr id="13" name="shape-54">
            <a:extLst xmlns:a="http://schemas.openxmlformats.org/drawingml/2006/main">
              <a:ext uri="{FF2B5EF4-FFF2-40B4-BE49-F238E27FC236}">
                <a16:creationId xmlns:a16="http://schemas.microsoft.com/office/drawing/2014/main" id="{63343A1D-22CC-49AF-A5D7-17B5B34707AC}"/>
              </a:ext>
            </a:extLst>
          </p:cNvPr>
          <p:cNvSpPr>
            <a:spLocks xmlns:a="http://schemas.openxmlformats.org/drawingml/2006/main" noGrp="1"/>
          </p:cNvSpPr>
          <p:nvPr/>
        </p:nvSpPr>
        <p:spPr>
          <a:xfrm xmlns:a="http://schemas.openxmlformats.org/drawingml/2006/main">
            <a:off x="2266950" y="3162300"/>
            <a:ext cx="666750" cy="666750"/>
          </a:xfrm>
          <a:prstGeom xmlns:a="http://schemas.openxmlformats.org/drawingml/2006/main" prst="rect">
            <a:avLst/>
          </a:prstGeom>
          <a:solidFill xmlns:a="http://schemas.openxmlformats.org/drawingml/2006/main">
            <a:srgbClr val="315EFB"/>
          </a:solidFill>
          <a:ln xmlns:a="http://schemas.openxmlformats.org/drawingml/2006/main" w="0">
            <a:noFill/>
            <a:prstDash val="solid"/>
          </a:ln>
        </p:spPr>
      </p:sp>
      <p:sp>
        <p:nvSpPr>
          <p:cNvPr id="14" name="shape-55">
            <a:extLst xmlns:a="http://schemas.openxmlformats.org/drawingml/2006/main">
              <a:ext uri="{FF2B5EF4-FFF2-40B4-BE49-F238E27FC236}">
                <a16:creationId xmlns:a16="http://schemas.microsoft.com/office/drawing/2014/main" id="{AC00B6FB-DF3D-43BB-8BF6-972D396B5BDE}"/>
              </a:ext>
            </a:extLst>
          </p:cNvPr>
          <p:cNvSpPr>
            <a:spLocks xmlns:a="http://schemas.openxmlformats.org/drawingml/2006/main" noGrp="1"/>
          </p:cNvSpPr>
          <p:nvPr/>
        </p:nvSpPr>
        <p:spPr>
          <a:xfrm xmlns:a="http://schemas.openxmlformats.org/drawingml/2006/main">
            <a:off x="3009900" y="3162300"/>
            <a:ext cx="666750" cy="666750"/>
          </a:xfrm>
          <a:prstGeom xmlns:a="http://schemas.openxmlformats.org/drawingml/2006/main" prst="rect">
            <a:avLst/>
          </a:prstGeom>
          <a:solidFill xmlns:a="http://schemas.openxmlformats.org/drawingml/2006/main">
            <a:srgbClr val="FFFEFA"/>
          </a:solidFill>
          <a:ln xmlns:a="http://schemas.openxmlformats.org/drawingml/2006/main" w="9525">
            <a:solidFill>
              <a:srgbClr val="D8D4CB"/>
            </a:solidFill>
            <a:prstDash val="solid"/>
          </a:ln>
        </p:spPr>
      </p:sp>
      <p:sp>
        <p:nvSpPr>
          <p:cNvPr id="15" name="shape-56">
            <a:extLst xmlns:a="http://schemas.openxmlformats.org/drawingml/2006/main">
              <a:ext uri="{FF2B5EF4-FFF2-40B4-BE49-F238E27FC236}">
                <a16:creationId xmlns:a16="http://schemas.microsoft.com/office/drawing/2014/main" id="{4CA2D2F5-F36E-4FA6-89D8-1E01D4F1C879}"/>
              </a:ext>
            </a:extLst>
          </p:cNvPr>
          <p:cNvSpPr>
            <a:spLocks xmlns:a="http://schemas.openxmlformats.org/drawingml/2006/main" noGrp="1"/>
          </p:cNvSpPr>
          <p:nvPr/>
        </p:nvSpPr>
        <p:spPr>
          <a:xfrm xmlns:a="http://schemas.openxmlformats.org/drawingml/2006/main">
            <a:off x="3752850" y="3162300"/>
            <a:ext cx="666750" cy="666750"/>
          </a:xfrm>
          <a:prstGeom xmlns:a="http://schemas.openxmlformats.org/drawingml/2006/main" prst="rect">
            <a:avLst/>
          </a:prstGeom>
          <a:solidFill xmlns:a="http://schemas.openxmlformats.org/drawingml/2006/main">
            <a:srgbClr val="FFFEFA"/>
          </a:solidFill>
          <a:ln xmlns:a="http://schemas.openxmlformats.org/drawingml/2006/main" w="9525">
            <a:solidFill>
              <a:srgbClr val="D8D4CB"/>
            </a:solidFill>
            <a:prstDash val="solid"/>
          </a:ln>
        </p:spPr>
      </p:sp>
      <p:sp>
        <p:nvSpPr>
          <p:cNvPr id="16" name="text-57">
            <a:extLst xmlns:a="http://schemas.openxmlformats.org/drawingml/2006/main">
              <a:ext uri="{FF2B5EF4-FFF2-40B4-BE49-F238E27FC236}">
                <a16:creationId xmlns:a16="http://schemas.microsoft.com/office/drawing/2014/main" id="{76F81FA9-5FB0-4D84-A4CC-B53A0E4E3413}"/>
              </a:ext>
            </a:extLst>
          </p:cNvPr>
          <p:cNvSpPr>
            <a:spLocks xmlns:a="http://schemas.openxmlformats.org/drawingml/2006/main" noGrp="1"/>
          </p:cNvSpPr>
          <p:nvPr/>
        </p:nvSpPr>
        <p:spPr>
          <a:xfrm xmlns:a="http://schemas.openxmlformats.org/drawingml/2006/main">
            <a:off x="704850" y="411480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05000"/>
              </a:lnSpc>
              <a:buNone/>
              <a:defRPr sz="1200" b="0" i="0">
                <a:solidFill>
                  <a:srgbClr val="6F716E"/>
                </a:solidFill>
              </a:defRPr>
            </a:pPr>
            <a:r>
              <a:rPr sz="1200" b="0" i="0">
                <a:solidFill>
                  <a:srgbClr val="6F716E"/>
                </a:solidFill>
              </a:rPr>
              <a:t>chunk 3</a:t>
            </a:r>
          </a:p>
        </p:txBody>
      </p:sp>
      <p:sp>
        <p:nvSpPr>
          <p:cNvPr id="17" name="shape-58">
            <a:extLst xmlns:a="http://schemas.openxmlformats.org/drawingml/2006/main">
              <a:ext uri="{FF2B5EF4-FFF2-40B4-BE49-F238E27FC236}">
                <a16:creationId xmlns:a16="http://schemas.microsoft.com/office/drawing/2014/main" id="{899E19F4-86BC-493D-980B-5BBB85C36325}"/>
              </a:ext>
            </a:extLst>
          </p:cNvPr>
          <p:cNvSpPr>
            <a:spLocks xmlns:a="http://schemas.openxmlformats.org/drawingml/2006/main" noGrp="1"/>
          </p:cNvSpPr>
          <p:nvPr/>
        </p:nvSpPr>
        <p:spPr>
          <a:xfrm xmlns:a="http://schemas.openxmlformats.org/drawingml/2006/main">
            <a:off x="1524000" y="3905250"/>
            <a:ext cx="666750" cy="666750"/>
          </a:xfrm>
          <a:prstGeom xmlns:a="http://schemas.openxmlformats.org/drawingml/2006/main" prst="rect">
            <a:avLst/>
          </a:prstGeom>
          <a:solidFill xmlns:a="http://schemas.openxmlformats.org/drawingml/2006/main">
            <a:srgbClr val="DDE5FF"/>
          </a:solidFill>
          <a:ln xmlns:a="http://schemas.openxmlformats.org/drawingml/2006/main" w="0">
            <a:noFill/>
            <a:prstDash val="solid"/>
          </a:ln>
        </p:spPr>
      </p:sp>
      <p:sp>
        <p:nvSpPr>
          <p:cNvPr id="18" name="shape-59">
            <a:extLst xmlns:a="http://schemas.openxmlformats.org/drawingml/2006/main">
              <a:ext uri="{FF2B5EF4-FFF2-40B4-BE49-F238E27FC236}">
                <a16:creationId xmlns:a16="http://schemas.microsoft.com/office/drawing/2014/main" id="{849690D7-2C01-493E-A7CA-137240A11554}"/>
              </a:ext>
            </a:extLst>
          </p:cNvPr>
          <p:cNvSpPr>
            <a:spLocks xmlns:a="http://schemas.openxmlformats.org/drawingml/2006/main" noGrp="1"/>
          </p:cNvSpPr>
          <p:nvPr/>
        </p:nvSpPr>
        <p:spPr>
          <a:xfrm xmlns:a="http://schemas.openxmlformats.org/drawingml/2006/main">
            <a:off x="2266950" y="3905250"/>
            <a:ext cx="666750" cy="666750"/>
          </a:xfrm>
          <a:prstGeom xmlns:a="http://schemas.openxmlformats.org/drawingml/2006/main" prst="rect">
            <a:avLst/>
          </a:prstGeom>
          <a:solidFill xmlns:a="http://schemas.openxmlformats.org/drawingml/2006/main">
            <a:srgbClr val="DDE5FF"/>
          </a:solidFill>
          <a:ln xmlns:a="http://schemas.openxmlformats.org/drawingml/2006/main" w="0">
            <a:noFill/>
            <a:prstDash val="solid"/>
          </a:ln>
        </p:spPr>
      </p:sp>
      <p:sp>
        <p:nvSpPr>
          <p:cNvPr id="19" name="shape-60">
            <a:extLst xmlns:a="http://schemas.openxmlformats.org/drawingml/2006/main">
              <a:ext uri="{FF2B5EF4-FFF2-40B4-BE49-F238E27FC236}">
                <a16:creationId xmlns:a16="http://schemas.microsoft.com/office/drawing/2014/main" id="{3F9530A8-FA2A-4BF4-AA77-18CA10974B8E}"/>
              </a:ext>
            </a:extLst>
          </p:cNvPr>
          <p:cNvSpPr>
            <a:spLocks xmlns:a="http://schemas.openxmlformats.org/drawingml/2006/main" noGrp="1"/>
          </p:cNvSpPr>
          <p:nvPr/>
        </p:nvSpPr>
        <p:spPr>
          <a:xfrm xmlns:a="http://schemas.openxmlformats.org/drawingml/2006/main">
            <a:off x="3009900" y="3905250"/>
            <a:ext cx="666750" cy="666750"/>
          </a:xfrm>
          <a:prstGeom xmlns:a="http://schemas.openxmlformats.org/drawingml/2006/main" prst="rect">
            <a:avLst/>
          </a:prstGeom>
          <a:solidFill xmlns:a="http://schemas.openxmlformats.org/drawingml/2006/main">
            <a:srgbClr val="315EFB"/>
          </a:solidFill>
          <a:ln xmlns:a="http://schemas.openxmlformats.org/drawingml/2006/main" w="0">
            <a:noFill/>
            <a:prstDash val="solid"/>
          </a:ln>
        </p:spPr>
      </p:sp>
      <p:sp>
        <p:nvSpPr>
          <p:cNvPr id="20" name="shape-61">
            <a:extLst xmlns:a="http://schemas.openxmlformats.org/drawingml/2006/main">
              <a:ext uri="{FF2B5EF4-FFF2-40B4-BE49-F238E27FC236}">
                <a16:creationId xmlns:a16="http://schemas.microsoft.com/office/drawing/2014/main" id="{AE55D8A4-0AFB-46F3-B340-609E9F339C88}"/>
              </a:ext>
            </a:extLst>
          </p:cNvPr>
          <p:cNvSpPr>
            <a:spLocks xmlns:a="http://schemas.openxmlformats.org/drawingml/2006/main" noGrp="1"/>
          </p:cNvSpPr>
          <p:nvPr/>
        </p:nvSpPr>
        <p:spPr>
          <a:xfrm xmlns:a="http://schemas.openxmlformats.org/drawingml/2006/main">
            <a:off x="3752850" y="3905250"/>
            <a:ext cx="666750" cy="666750"/>
          </a:xfrm>
          <a:prstGeom xmlns:a="http://schemas.openxmlformats.org/drawingml/2006/main" prst="rect">
            <a:avLst/>
          </a:prstGeom>
          <a:solidFill xmlns:a="http://schemas.openxmlformats.org/drawingml/2006/main">
            <a:srgbClr val="FFFEFA"/>
          </a:solidFill>
          <a:ln xmlns:a="http://schemas.openxmlformats.org/drawingml/2006/main" w="9525">
            <a:solidFill>
              <a:srgbClr val="D8D4CB"/>
            </a:solidFill>
            <a:prstDash val="solid"/>
          </a:ln>
        </p:spPr>
      </p:sp>
      <p:sp>
        <p:nvSpPr>
          <p:cNvPr id="21" name="text-62">
            <a:extLst xmlns:a="http://schemas.openxmlformats.org/drawingml/2006/main">
              <a:ext uri="{FF2B5EF4-FFF2-40B4-BE49-F238E27FC236}">
                <a16:creationId xmlns:a16="http://schemas.microsoft.com/office/drawing/2014/main" id="{9660B819-E915-4DD8-B708-CCF4D5D9B19B}"/>
              </a:ext>
            </a:extLst>
          </p:cNvPr>
          <p:cNvSpPr>
            <a:spLocks xmlns:a="http://schemas.openxmlformats.org/drawingml/2006/main" noGrp="1"/>
          </p:cNvSpPr>
          <p:nvPr/>
        </p:nvSpPr>
        <p:spPr>
          <a:xfrm xmlns:a="http://schemas.openxmlformats.org/drawingml/2006/main">
            <a:off x="704850" y="485775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05000"/>
              </a:lnSpc>
              <a:buNone/>
              <a:defRPr sz="1200" b="0" i="0">
                <a:solidFill>
                  <a:srgbClr val="6F716E"/>
                </a:solidFill>
              </a:defRPr>
            </a:pPr>
            <a:r>
              <a:rPr sz="1200" b="0" i="0">
                <a:solidFill>
                  <a:srgbClr val="6F716E"/>
                </a:solidFill>
              </a:rPr>
              <a:t>chunk 4</a:t>
            </a:r>
          </a:p>
        </p:txBody>
      </p:sp>
      <p:sp>
        <p:nvSpPr>
          <p:cNvPr id="22" name="shape-63">
            <a:extLst xmlns:a="http://schemas.openxmlformats.org/drawingml/2006/main">
              <a:ext uri="{FF2B5EF4-FFF2-40B4-BE49-F238E27FC236}">
                <a16:creationId xmlns:a16="http://schemas.microsoft.com/office/drawing/2014/main" id="{F588CC6A-12A0-40D8-A9B0-C22338186359}"/>
              </a:ext>
            </a:extLst>
          </p:cNvPr>
          <p:cNvSpPr>
            <a:spLocks xmlns:a="http://schemas.openxmlformats.org/drawingml/2006/main" noGrp="1"/>
          </p:cNvSpPr>
          <p:nvPr/>
        </p:nvSpPr>
        <p:spPr>
          <a:xfrm xmlns:a="http://schemas.openxmlformats.org/drawingml/2006/main">
            <a:off x="1524000" y="4648200"/>
            <a:ext cx="666750" cy="666750"/>
          </a:xfrm>
          <a:prstGeom xmlns:a="http://schemas.openxmlformats.org/drawingml/2006/main" prst="rect">
            <a:avLst/>
          </a:prstGeom>
          <a:solidFill xmlns:a="http://schemas.openxmlformats.org/drawingml/2006/main">
            <a:srgbClr val="DDE5FF"/>
          </a:solidFill>
          <a:ln xmlns:a="http://schemas.openxmlformats.org/drawingml/2006/main" w="0">
            <a:noFill/>
            <a:prstDash val="solid"/>
          </a:ln>
        </p:spPr>
      </p:sp>
      <p:sp>
        <p:nvSpPr>
          <p:cNvPr id="23" name="shape-64">
            <a:extLst xmlns:a="http://schemas.openxmlformats.org/drawingml/2006/main">
              <a:ext uri="{FF2B5EF4-FFF2-40B4-BE49-F238E27FC236}">
                <a16:creationId xmlns:a16="http://schemas.microsoft.com/office/drawing/2014/main" id="{01940522-463A-4E17-9AE8-75543B03F169}"/>
              </a:ext>
            </a:extLst>
          </p:cNvPr>
          <p:cNvSpPr>
            <a:spLocks xmlns:a="http://schemas.openxmlformats.org/drawingml/2006/main" noGrp="1"/>
          </p:cNvSpPr>
          <p:nvPr/>
        </p:nvSpPr>
        <p:spPr>
          <a:xfrm xmlns:a="http://schemas.openxmlformats.org/drawingml/2006/main">
            <a:off x="2266950" y="4648200"/>
            <a:ext cx="666750" cy="666750"/>
          </a:xfrm>
          <a:prstGeom xmlns:a="http://schemas.openxmlformats.org/drawingml/2006/main" prst="rect">
            <a:avLst/>
          </a:prstGeom>
          <a:solidFill xmlns:a="http://schemas.openxmlformats.org/drawingml/2006/main">
            <a:srgbClr val="DDE5FF"/>
          </a:solidFill>
          <a:ln xmlns:a="http://schemas.openxmlformats.org/drawingml/2006/main" w="0">
            <a:noFill/>
            <a:prstDash val="solid"/>
          </a:ln>
        </p:spPr>
      </p:sp>
      <p:sp>
        <p:nvSpPr>
          <p:cNvPr id="24" name="shape-65">
            <a:extLst xmlns:a="http://schemas.openxmlformats.org/drawingml/2006/main">
              <a:ext uri="{FF2B5EF4-FFF2-40B4-BE49-F238E27FC236}">
                <a16:creationId xmlns:a16="http://schemas.microsoft.com/office/drawing/2014/main" id="{45753CB0-BD6B-440F-8207-0D2095CCF3D5}"/>
              </a:ext>
            </a:extLst>
          </p:cNvPr>
          <p:cNvSpPr>
            <a:spLocks xmlns:a="http://schemas.openxmlformats.org/drawingml/2006/main" noGrp="1"/>
          </p:cNvSpPr>
          <p:nvPr/>
        </p:nvSpPr>
        <p:spPr>
          <a:xfrm xmlns:a="http://schemas.openxmlformats.org/drawingml/2006/main">
            <a:off x="3009900" y="4648200"/>
            <a:ext cx="666750" cy="666750"/>
          </a:xfrm>
          <a:prstGeom xmlns:a="http://schemas.openxmlformats.org/drawingml/2006/main" prst="rect">
            <a:avLst/>
          </a:prstGeom>
          <a:solidFill xmlns:a="http://schemas.openxmlformats.org/drawingml/2006/main">
            <a:srgbClr val="DDE5FF"/>
          </a:solidFill>
          <a:ln xmlns:a="http://schemas.openxmlformats.org/drawingml/2006/main" w="0">
            <a:noFill/>
            <a:prstDash val="solid"/>
          </a:ln>
        </p:spPr>
      </p:sp>
      <p:sp>
        <p:nvSpPr>
          <p:cNvPr id="25" name="shape-66">
            <a:extLst xmlns:a="http://schemas.openxmlformats.org/drawingml/2006/main">
              <a:ext uri="{FF2B5EF4-FFF2-40B4-BE49-F238E27FC236}">
                <a16:creationId xmlns:a16="http://schemas.microsoft.com/office/drawing/2014/main" id="{6ECEF044-000A-4530-9650-88719DB0D97E}"/>
              </a:ext>
            </a:extLst>
          </p:cNvPr>
          <p:cNvSpPr>
            <a:spLocks xmlns:a="http://schemas.openxmlformats.org/drawingml/2006/main" noGrp="1"/>
          </p:cNvSpPr>
          <p:nvPr/>
        </p:nvSpPr>
        <p:spPr>
          <a:xfrm xmlns:a="http://schemas.openxmlformats.org/drawingml/2006/main">
            <a:off x="3752850" y="4648200"/>
            <a:ext cx="666750" cy="666750"/>
          </a:xfrm>
          <a:prstGeom xmlns:a="http://schemas.openxmlformats.org/drawingml/2006/main" prst="rect">
            <a:avLst/>
          </a:prstGeom>
          <a:solidFill xmlns:a="http://schemas.openxmlformats.org/drawingml/2006/main">
            <a:srgbClr val="315EFB"/>
          </a:solidFill>
          <a:ln xmlns:a="http://schemas.openxmlformats.org/drawingml/2006/main" w="0">
            <a:noFill/>
            <a:prstDash val="solid"/>
          </a:ln>
        </p:spPr>
      </p:sp>
      <p:sp>
        <p:nvSpPr>
          <p:cNvPr id="26" name="text-67">
            <a:extLst xmlns:a="http://schemas.openxmlformats.org/drawingml/2006/main">
              <a:ext uri="{FF2B5EF4-FFF2-40B4-BE49-F238E27FC236}">
                <a16:creationId xmlns:a16="http://schemas.microsoft.com/office/drawing/2014/main" id="{7DDF742C-4996-4C14-BA0F-8CD578809F5D}"/>
              </a:ext>
            </a:extLst>
          </p:cNvPr>
          <p:cNvSpPr>
            <a:spLocks xmlns:a="http://schemas.openxmlformats.org/drawingml/2006/main" noGrp="1"/>
          </p:cNvSpPr>
          <p:nvPr/>
        </p:nvSpPr>
        <p:spPr>
          <a:xfrm xmlns:a="http://schemas.openxmlformats.org/drawingml/2006/main">
            <a:off x="2114550" y="20193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05000"/>
              </a:lnSpc>
              <a:buNone/>
              <a:defRPr sz="1200" b="0" i="0">
                <a:solidFill>
                  <a:srgbClr val="6F716E"/>
                </a:solidFill>
              </a:defRPr>
            </a:pPr>
            <a:r>
              <a:rPr sz="1200" b="0" i="0">
                <a:solidFill>
                  <a:srgbClr val="6F716E"/>
                </a:solidFill>
              </a:rPr>
              <a:t>keys / values →</a:t>
            </a:r>
          </a:p>
        </p:txBody>
      </p:sp>
      <p:sp>
        <p:nvSpPr>
          <p:cNvPr id="27" name="shape-68">
            <a:extLst xmlns:a="http://schemas.openxmlformats.org/drawingml/2006/main">
              <a:ext uri="{FF2B5EF4-FFF2-40B4-BE49-F238E27FC236}">
                <a16:creationId xmlns:a16="http://schemas.microsoft.com/office/drawing/2014/main" id="{E5EA8990-38CF-4070-BE02-3CDD4EA79083}"/>
              </a:ext>
            </a:extLst>
          </p:cNvPr>
          <p:cNvSpPr>
            <a:spLocks xmlns:a="http://schemas.openxmlformats.org/drawingml/2006/main" noGrp="1"/>
          </p:cNvSpPr>
          <p:nvPr/>
        </p:nvSpPr>
        <p:spPr>
          <a:xfrm xmlns:a="http://schemas.openxmlformats.org/drawingml/2006/main">
            <a:off x="5810250" y="2457450"/>
            <a:ext cx="47625" cy="876300"/>
          </a:xfrm>
          <a:prstGeom xmlns:a="http://schemas.openxmlformats.org/drawingml/2006/main" prst="rect">
            <a:avLst/>
          </a:prstGeom>
          <a:solidFill xmlns:a="http://schemas.openxmlformats.org/drawingml/2006/main">
            <a:srgbClr val="315EFB"/>
          </a:solidFill>
          <a:ln xmlns:a="http://schemas.openxmlformats.org/drawingml/2006/main" w="0">
            <a:noFill/>
            <a:prstDash val="solid"/>
          </a:ln>
        </p:spPr>
      </p:sp>
      <p:sp>
        <p:nvSpPr>
          <p:cNvPr id="28" name="text-69">
            <a:extLst xmlns:a="http://schemas.openxmlformats.org/drawingml/2006/main">
              <a:ext uri="{FF2B5EF4-FFF2-40B4-BE49-F238E27FC236}">
                <a16:creationId xmlns:a16="http://schemas.microsoft.com/office/drawing/2014/main" id="{B3C1CFEE-8CF8-466D-A46B-92516AD214F8}"/>
              </a:ext>
            </a:extLst>
          </p:cNvPr>
          <p:cNvSpPr>
            <a:spLocks xmlns:a="http://schemas.openxmlformats.org/drawingml/2006/main" noGrp="1"/>
          </p:cNvSpPr>
          <p:nvPr/>
        </p:nvSpPr>
        <p:spPr>
          <a:xfrm xmlns:a="http://schemas.openxmlformats.org/drawingml/2006/main">
            <a:off x="6038850" y="2419350"/>
            <a:ext cx="4724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5000"/>
              </a:lnSpc>
              <a:buNone/>
              <a:defRPr sz="1950" b="1" i="0">
                <a:solidFill>
                  <a:srgbClr val="171717"/>
                </a:solidFill>
              </a:defRPr>
            </a:pPr>
            <a:r>
              <a:rPr sz="1950" b="1" i="0">
                <a:solidFill>
                  <a:srgbClr val="171717"/>
                </a:solidFill>
              </a:rPr>
              <a:t>Within a chunk: bidirectional attention preserves local spatiotemporal modeling.</a:t>
            </a:r>
          </a:p>
        </p:txBody>
      </p:sp>
      <p:sp>
        <p:nvSpPr>
          <p:cNvPr id="29" name="shape-70">
            <a:extLst xmlns:a="http://schemas.openxmlformats.org/drawingml/2006/main">
              <a:ext uri="{FF2B5EF4-FFF2-40B4-BE49-F238E27FC236}">
                <a16:creationId xmlns:a16="http://schemas.microsoft.com/office/drawing/2014/main" id="{A4CE2174-00DD-42BB-9FBE-BE9C5B7777B2}"/>
              </a:ext>
            </a:extLst>
          </p:cNvPr>
          <p:cNvSpPr>
            <a:spLocks xmlns:a="http://schemas.openxmlformats.org/drawingml/2006/main" noGrp="1"/>
          </p:cNvSpPr>
          <p:nvPr/>
        </p:nvSpPr>
        <p:spPr>
          <a:xfrm xmlns:a="http://schemas.openxmlformats.org/drawingml/2006/main">
            <a:off x="5810250" y="3638550"/>
            <a:ext cx="47625" cy="876300"/>
          </a:xfrm>
          <a:prstGeom xmlns:a="http://schemas.openxmlformats.org/drawingml/2006/main" prst="rect">
            <a:avLst/>
          </a:prstGeom>
          <a:solidFill xmlns:a="http://schemas.openxmlformats.org/drawingml/2006/main">
            <a:srgbClr val="257B69"/>
          </a:solidFill>
          <a:ln xmlns:a="http://schemas.openxmlformats.org/drawingml/2006/main" w="0">
            <a:noFill/>
            <a:prstDash val="solid"/>
          </a:ln>
        </p:spPr>
      </p:sp>
      <p:sp>
        <p:nvSpPr>
          <p:cNvPr id="30" name="text-71">
            <a:extLst xmlns:a="http://schemas.openxmlformats.org/drawingml/2006/main">
              <a:ext uri="{FF2B5EF4-FFF2-40B4-BE49-F238E27FC236}">
                <a16:creationId xmlns:a16="http://schemas.microsoft.com/office/drawing/2014/main" id="{B5609244-4A3F-4707-898E-B6088AF7B36D}"/>
              </a:ext>
            </a:extLst>
          </p:cNvPr>
          <p:cNvSpPr>
            <a:spLocks xmlns:a="http://schemas.openxmlformats.org/drawingml/2006/main" noGrp="1"/>
          </p:cNvSpPr>
          <p:nvPr/>
        </p:nvSpPr>
        <p:spPr>
          <a:xfrm xmlns:a="http://schemas.openxmlformats.org/drawingml/2006/main">
            <a:off x="6038850" y="3600450"/>
            <a:ext cx="4724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5000"/>
              </a:lnSpc>
              <a:buNone/>
              <a:defRPr sz="1950" b="1" i="0">
                <a:solidFill>
                  <a:srgbClr val="171717"/>
                </a:solidFill>
              </a:defRPr>
            </a:pPr>
            <a:r>
              <a:rPr sz="1950" b="1" i="0">
                <a:solidFill>
                  <a:srgbClr val="171717"/>
                </a:solidFill>
              </a:rPr>
              <a:t>Across chunks: strict causality turns video generation into next-state prediction.</a:t>
            </a:r>
          </a:p>
        </p:txBody>
      </p:sp>
      <p:sp>
        <p:nvSpPr>
          <p:cNvPr id="31" name="text-72">
            <a:extLst xmlns:a="http://schemas.openxmlformats.org/drawingml/2006/main">
              <a:ext uri="{FF2B5EF4-FFF2-40B4-BE49-F238E27FC236}">
                <a16:creationId xmlns:a16="http://schemas.microsoft.com/office/drawing/2014/main" id="{4494F284-F783-453C-89F4-59FEE971A413}"/>
              </a:ext>
            </a:extLst>
          </p:cNvPr>
          <p:cNvSpPr>
            <a:spLocks xmlns:a="http://schemas.openxmlformats.org/drawingml/2006/main" noGrp="1"/>
          </p:cNvSpPr>
          <p:nvPr/>
        </p:nvSpPr>
        <p:spPr>
          <a:xfrm xmlns:a="http://schemas.openxmlformats.org/drawingml/2006/main">
            <a:off x="5810250" y="4972050"/>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1650" b="0" i="0">
                <a:solidFill>
                  <a:srgbClr val="6F716E"/>
                </a:solidFill>
              </a:defRPr>
            </a:pPr>
            <a:r>
              <a:rPr sz="1650" b="0" i="0">
                <a:solidFill>
                  <a:srgbClr val="6F716E"/>
                </a:solidFill>
              </a:rPr>
              <a:t>The architecture gives up future-chunk access, not rich context inside the current unit.</a:t>
            </a:r>
          </a:p>
        </p:txBody>
      </p:sp>
    </p:spTree>
    <p:extLst>
      <p:ext uri="{BB962C8B-B14F-4D97-AF65-F5344CB8AC3E}">
        <p14:creationId xmlns:p14="http://schemas.microsoft.com/office/powerpoint/2010/main" val="1767787720"/>
      </p:ext>
    </p:extLst>
  </p:cSld>
</p:sld>
</file>

<file path=ppt/slides/slide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4" name="text-73">
            <a:extLst xmlns:a="http://schemas.openxmlformats.org/drawingml/2006/main">
              <a:ext uri="{FF2B5EF4-FFF2-40B4-BE49-F238E27FC236}">
                <a16:creationId xmlns:a16="http://schemas.microsoft.com/office/drawing/2014/main" id="{3500C773-D629-4742-AD6B-40215BD71DAD}"/>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i="0">
                <a:solidFill>
                  <a:srgbClr val="315EFB"/>
                </a:solidFill>
              </a:defRPr>
            </a:pPr>
            <a:r>
              <a:rPr sz="1200" b="1" i="0">
                <a:solidFill>
                  <a:srgbClr val="315EFB"/>
                </a:solidFill>
              </a:rPr>
              <a:t>MECHANISM 2</a:t>
            </a:r>
          </a:p>
        </p:txBody>
      </p:sp>
      <p:sp>
        <p:nvSpPr>
          <p:cNvPr id="2" name="shape-74">
            <a:extLst xmlns:a="http://schemas.openxmlformats.org/drawingml/2006/main">
              <a:ext uri="{FF2B5EF4-FFF2-40B4-BE49-F238E27FC236}">
                <a16:creationId xmlns:a16="http://schemas.microsoft.com/office/drawing/2014/main" id="{393C340D-8B98-4300-A68E-E318850256B6}"/>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D8D4CB"/>
          </a:solidFill>
          <a:ln xmlns:a="http://schemas.openxmlformats.org/drawingml/2006/main" w="0">
            <a:noFill/>
            <a:prstDash val="solid"/>
          </a:ln>
        </p:spPr>
      </p:sp>
      <p:sp>
        <p:nvSpPr>
          <p:cNvPr id="3" name="text-75">
            <a:extLst xmlns:a="http://schemas.openxmlformats.org/drawingml/2006/main">
              <a:ext uri="{FF2B5EF4-FFF2-40B4-BE49-F238E27FC236}">
                <a16:creationId xmlns:a16="http://schemas.microsoft.com/office/drawing/2014/main" id="{6A38CEC7-A4B2-4E76-B547-F230EF510A36}"/>
              </a:ext>
            </a:extLst>
          </p:cNvPr>
          <p:cNvSpPr>
            <a:spLocks xmlns:a="http://schemas.openxmlformats.org/drawingml/2006/main" noGrp="1"/>
          </p:cNvSpPr>
          <p:nvPr/>
        </p:nvSpPr>
        <p:spPr>
          <a:xfrm xmlns:a="http://schemas.openxmlformats.org/drawingml/2006/main">
            <a:off x="685800" y="6496050"/>
            <a:ext cx="876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0" i="0">
                <a:solidFill>
                  <a:srgbClr val="6F716E"/>
                </a:solidFill>
              </a:defRPr>
            </a:pPr>
            <a:r>
              <a:rPr sz="1200" b="0" i="0">
                <a:solidFill>
                  <a:srgbClr val="6F716E"/>
                </a:solidFill>
              </a:rPr>
              <a:t>Paper §3.3, Eq. (4) · pp. 6-7</a:t>
            </a:r>
          </a:p>
        </p:txBody>
      </p:sp>
      <p:sp>
        <p:nvSpPr>
          <p:cNvPr id="4" name="text-76">
            <a:extLst xmlns:a="http://schemas.openxmlformats.org/drawingml/2006/main">
              <a:ext uri="{FF2B5EF4-FFF2-40B4-BE49-F238E27FC236}">
                <a16:creationId xmlns:a16="http://schemas.microsoft.com/office/drawing/2014/main" id="{3DB574B1-9D68-42EF-B2FF-22634982D7C7}"/>
              </a:ext>
            </a:extLst>
          </p:cNvPr>
          <p:cNvSpPr>
            <a:spLocks xmlns:a="http://schemas.openxmlformats.org/drawingml/2006/main" noGrp="1"/>
          </p:cNvSpPr>
          <p:nvPr/>
        </p:nvSpPr>
        <p:spPr>
          <a:xfrm xmlns:a="http://schemas.openxmlformats.org/drawingml/2006/main">
            <a:off x="10839450" y="64770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05000"/>
              </a:lnSpc>
              <a:buNone/>
              <a:defRPr sz="1200" b="1" i="0">
                <a:solidFill>
                  <a:srgbClr val="6F716E"/>
                </a:solidFill>
              </a:defRPr>
            </a:pPr>
            <a:r>
              <a:rPr sz="1200" b="1" i="0">
                <a:solidFill>
                  <a:srgbClr val="6F716E"/>
                </a:solidFill>
              </a:rPr>
              <a:t>05</a:t>
            </a:r>
          </a:p>
        </p:txBody>
      </p:sp>
      <p:sp>
        <p:nvSpPr>
          <p:cNvPr id="5" name="text-77">
            <a:extLst xmlns:a="http://schemas.openxmlformats.org/drawingml/2006/main">
              <a:ext uri="{FF2B5EF4-FFF2-40B4-BE49-F238E27FC236}">
                <a16:creationId xmlns:a16="http://schemas.microsoft.com/office/drawing/2014/main" id="{97164ACC-BEB8-45BC-9452-4AAE9643EEE0}"/>
              </a:ext>
            </a:extLst>
          </p:cNvPr>
          <p:cNvSpPr>
            <a:spLocks xmlns:a="http://schemas.openxmlformats.org/drawingml/2006/main" noGrp="1"/>
          </p:cNvSpPr>
          <p:nvPr/>
        </p:nvSpPr>
        <p:spPr>
          <a:xfrm xmlns:a="http://schemas.openxmlformats.org/drawingml/2006/main">
            <a:off x="685800" y="10668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95000"/>
              </a:lnSpc>
              <a:buNone/>
              <a:defRPr sz="3600" b="1" i="0">
                <a:solidFill>
                  <a:srgbClr val="171717"/>
                </a:solidFill>
              </a:defRPr>
            </a:pPr>
            <a:r>
              <a:rPr sz="3600" b="1" i="0">
                <a:solidFill>
                  <a:srgbClr val="171717"/>
                </a:solidFill>
              </a:rPr>
              <a:t>CoPP matches inference-time noise states</a:t>
            </a:r>
          </a:p>
        </p:txBody>
      </p:sp>
      <p:sp>
        <p:nvSpPr>
          <p:cNvPr id="6" name="text-78">
            <a:extLst xmlns:a="http://schemas.openxmlformats.org/drawingml/2006/main">
              <a:ext uri="{FF2B5EF4-FFF2-40B4-BE49-F238E27FC236}">
                <a16:creationId xmlns:a16="http://schemas.microsoft.com/office/drawing/2014/main" id="{A7E8C26D-DC59-4FAE-ACFC-8220A4CC15D0}"/>
              </a:ext>
            </a:extLst>
          </p:cNvPr>
          <p:cNvSpPr>
            <a:spLocks xmlns:a="http://schemas.openxmlformats.org/drawingml/2006/main" noGrp="1"/>
          </p:cNvSpPr>
          <p:nvPr/>
        </p:nvSpPr>
        <p:spPr>
          <a:xfrm xmlns:a="http://schemas.openxmlformats.org/drawingml/2006/main">
            <a:off x="685800" y="18859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950" b="0" i="0">
                <a:solidFill>
                  <a:srgbClr val="6F716E"/>
                </a:solidFill>
              </a:defRPr>
            </a:pPr>
            <a:r>
              <a:rPr sz="1950" b="0" i="0">
                <a:solidFill>
                  <a:srgbClr val="6F716E"/>
                </a:solidFill>
              </a:rPr>
              <a:t>A non-decreasing chunk schedule matches the partially denoised frontier seen during asynchronous generation.</a:t>
            </a:r>
          </a:p>
        </p:txBody>
      </p:sp>
      <p:sp>
        <p:nvSpPr>
          <p:cNvPr id="7" name="shape-79">
            <a:extLst xmlns:a="http://schemas.openxmlformats.org/drawingml/2006/main">
              <a:ext uri="{FF2B5EF4-FFF2-40B4-BE49-F238E27FC236}">
                <a16:creationId xmlns:a16="http://schemas.microsoft.com/office/drawing/2014/main" id="{E39F6590-0944-45CE-B0D4-F72D9E8E3FFE}"/>
              </a:ext>
            </a:extLst>
          </p:cNvPr>
          <p:cNvSpPr>
            <a:spLocks xmlns:a="http://schemas.openxmlformats.org/drawingml/2006/main" noGrp="1"/>
          </p:cNvSpPr>
          <p:nvPr/>
        </p:nvSpPr>
        <p:spPr>
          <a:xfrm xmlns:a="http://schemas.openxmlformats.org/drawingml/2006/main">
            <a:off x="933450" y="3009900"/>
            <a:ext cx="2190750" cy="1276350"/>
          </a:xfrm>
          <a:prstGeom xmlns:a="http://schemas.openxmlformats.org/drawingml/2006/main" prst="roundRect">
            <a:avLst>
              <a:gd name="adj" fmla="val 7463"/>
            </a:avLst>
          </a:prstGeom>
          <a:solidFill xmlns:a="http://schemas.openxmlformats.org/drawingml/2006/main">
            <a:srgbClr val="E8E1D4"/>
          </a:solidFill>
          <a:ln xmlns:a="http://schemas.openxmlformats.org/drawingml/2006/main" w="0">
            <a:noFill/>
            <a:prstDash val="solid"/>
          </a:ln>
        </p:spPr>
      </p:sp>
      <p:sp>
        <p:nvSpPr>
          <p:cNvPr id="8" name="text-80">
            <a:extLst xmlns:a="http://schemas.openxmlformats.org/drawingml/2006/main">
              <a:ext uri="{FF2B5EF4-FFF2-40B4-BE49-F238E27FC236}">
                <a16:creationId xmlns:a16="http://schemas.microsoft.com/office/drawing/2014/main" id="{C1B12334-FF99-4D65-A83D-C770EA308C37}"/>
              </a:ext>
            </a:extLst>
          </p:cNvPr>
          <p:cNvSpPr>
            <a:spLocks xmlns:a="http://schemas.openxmlformats.org/drawingml/2006/main" noGrp="1"/>
          </p:cNvSpPr>
          <p:nvPr/>
        </p:nvSpPr>
        <p:spPr>
          <a:xfrm xmlns:a="http://schemas.openxmlformats.org/drawingml/2006/main">
            <a:off x="1104900" y="320040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500" b="1" i="0">
                <a:solidFill>
                  <a:srgbClr val="171717"/>
                </a:solidFill>
              </a:defRPr>
            </a:pPr>
            <a:r>
              <a:rPr sz="1500" b="1" i="0">
                <a:solidFill>
                  <a:srgbClr val="171717"/>
                </a:solidFill>
              </a:rPr>
              <a:t>history</a:t>
            </a:r>
          </a:p>
        </p:txBody>
      </p:sp>
      <p:sp>
        <p:nvSpPr>
          <p:cNvPr id="9" name="text-81">
            <a:extLst xmlns:a="http://schemas.openxmlformats.org/drawingml/2006/main">
              <a:ext uri="{FF2B5EF4-FFF2-40B4-BE49-F238E27FC236}">
                <a16:creationId xmlns:a16="http://schemas.microsoft.com/office/drawing/2014/main" id="{8E6A425E-8E2E-4FC5-94DA-0F1A7DBBB6DF}"/>
              </a:ext>
            </a:extLst>
          </p:cNvPr>
          <p:cNvSpPr>
            <a:spLocks xmlns:a="http://schemas.openxmlformats.org/drawingml/2006/main" noGrp="1"/>
          </p:cNvSpPr>
          <p:nvPr/>
        </p:nvSpPr>
        <p:spPr>
          <a:xfrm xmlns:a="http://schemas.openxmlformats.org/drawingml/2006/main">
            <a:off x="1104900" y="36195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2175" b="1" i="0">
                <a:solidFill>
                  <a:srgbClr val="171717"/>
                </a:solidFill>
              </a:defRPr>
            </a:pPr>
            <a:r>
              <a:rPr sz="2175" b="1" i="0">
                <a:solidFill>
                  <a:srgbClr val="171717"/>
                </a:solidFill>
              </a:rPr>
              <a:t>τ₁ = 0.00</a:t>
            </a:r>
          </a:p>
        </p:txBody>
      </p:sp>
      <p:sp>
        <p:nvSpPr>
          <p:cNvPr id="10" name="text-82">
            <a:extLst xmlns:a="http://schemas.openxmlformats.org/drawingml/2006/main">
              <a:ext uri="{FF2B5EF4-FFF2-40B4-BE49-F238E27FC236}">
                <a16:creationId xmlns:a16="http://schemas.microsoft.com/office/drawing/2014/main" id="{FBFFCAF8-F6BA-41A9-84B3-FB44A86BDF93}"/>
              </a:ext>
            </a:extLst>
          </p:cNvPr>
          <p:cNvSpPr>
            <a:spLocks xmlns:a="http://schemas.openxmlformats.org/drawingml/2006/main" noGrp="1"/>
          </p:cNvSpPr>
          <p:nvPr/>
        </p:nvSpPr>
        <p:spPr>
          <a:xfrm xmlns:a="http://schemas.openxmlformats.org/drawingml/2006/main">
            <a:off x="3200400" y="3390900"/>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05000"/>
              </a:lnSpc>
              <a:buNone/>
              <a:defRPr sz="2550" b="1" i="0">
                <a:solidFill>
                  <a:srgbClr val="6F716E"/>
                </a:solidFill>
              </a:defRPr>
            </a:pPr>
            <a:r>
              <a:rPr sz="2550" b="1" i="0">
                <a:solidFill>
                  <a:srgbClr val="6F716E"/>
                </a:solidFill>
              </a:rPr>
              <a:t>≤</a:t>
            </a:r>
          </a:p>
        </p:txBody>
      </p:sp>
      <p:sp>
        <p:nvSpPr>
          <p:cNvPr id="11" name="shape-83">
            <a:extLst xmlns:a="http://schemas.openxmlformats.org/drawingml/2006/main">
              <a:ext uri="{FF2B5EF4-FFF2-40B4-BE49-F238E27FC236}">
                <a16:creationId xmlns:a16="http://schemas.microsoft.com/office/drawing/2014/main" id="{72325ABD-F224-4E15-A421-0AF79F45BB00}"/>
              </a:ext>
            </a:extLst>
          </p:cNvPr>
          <p:cNvSpPr>
            <a:spLocks xmlns:a="http://schemas.openxmlformats.org/drawingml/2006/main" noGrp="1"/>
          </p:cNvSpPr>
          <p:nvPr/>
        </p:nvSpPr>
        <p:spPr>
          <a:xfrm xmlns:a="http://schemas.openxmlformats.org/drawingml/2006/main">
            <a:off x="3648075" y="3009900"/>
            <a:ext cx="2190750" cy="1276350"/>
          </a:xfrm>
          <a:prstGeom xmlns:a="http://schemas.openxmlformats.org/drawingml/2006/main" prst="roundRect">
            <a:avLst>
              <a:gd name="adj" fmla="val 7463"/>
            </a:avLst>
          </a:prstGeom>
          <a:solidFill xmlns:a="http://schemas.openxmlformats.org/drawingml/2006/main">
            <a:srgbClr val="EEF2FF"/>
          </a:solidFill>
          <a:ln xmlns:a="http://schemas.openxmlformats.org/drawingml/2006/main" w="0">
            <a:noFill/>
            <a:prstDash val="solid"/>
          </a:ln>
        </p:spPr>
      </p:sp>
      <p:sp>
        <p:nvSpPr>
          <p:cNvPr id="12" name="text-84">
            <a:extLst xmlns:a="http://schemas.openxmlformats.org/drawingml/2006/main">
              <a:ext uri="{FF2B5EF4-FFF2-40B4-BE49-F238E27FC236}">
                <a16:creationId xmlns:a16="http://schemas.microsoft.com/office/drawing/2014/main" id="{7208E571-3A2D-41F5-BF75-A0CF67CD94D4}"/>
              </a:ext>
            </a:extLst>
          </p:cNvPr>
          <p:cNvSpPr>
            <a:spLocks xmlns:a="http://schemas.openxmlformats.org/drawingml/2006/main" noGrp="1"/>
          </p:cNvSpPr>
          <p:nvPr/>
        </p:nvSpPr>
        <p:spPr>
          <a:xfrm xmlns:a="http://schemas.openxmlformats.org/drawingml/2006/main">
            <a:off x="3819525" y="320040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500" b="1" i="0">
                <a:solidFill>
                  <a:srgbClr val="315EFB"/>
                </a:solidFill>
              </a:defRPr>
            </a:pPr>
            <a:r>
              <a:rPr sz="1500" b="1" i="0">
                <a:solidFill>
                  <a:srgbClr val="315EFB"/>
                </a:solidFill>
              </a:rPr>
              <a:t>committed</a:t>
            </a:r>
          </a:p>
        </p:txBody>
      </p:sp>
      <p:sp>
        <p:nvSpPr>
          <p:cNvPr id="13" name="text-85">
            <a:extLst xmlns:a="http://schemas.openxmlformats.org/drawingml/2006/main">
              <a:ext uri="{FF2B5EF4-FFF2-40B4-BE49-F238E27FC236}">
                <a16:creationId xmlns:a16="http://schemas.microsoft.com/office/drawing/2014/main" id="{782E556B-1C53-4DE1-8192-74E1DCE22090}"/>
              </a:ext>
            </a:extLst>
          </p:cNvPr>
          <p:cNvSpPr>
            <a:spLocks xmlns:a="http://schemas.openxmlformats.org/drawingml/2006/main" noGrp="1"/>
          </p:cNvSpPr>
          <p:nvPr/>
        </p:nvSpPr>
        <p:spPr>
          <a:xfrm xmlns:a="http://schemas.openxmlformats.org/drawingml/2006/main">
            <a:off x="3819525" y="36195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2175" b="1" i="0">
                <a:solidFill>
                  <a:srgbClr val="315EFB"/>
                </a:solidFill>
              </a:defRPr>
            </a:pPr>
            <a:r>
              <a:rPr sz="2175" b="1" i="0">
                <a:solidFill>
                  <a:srgbClr val="315EFB"/>
                </a:solidFill>
              </a:rPr>
              <a:t>τ₂ = 0.15</a:t>
            </a:r>
          </a:p>
        </p:txBody>
      </p:sp>
      <p:sp>
        <p:nvSpPr>
          <p:cNvPr id="14" name="text-86">
            <a:extLst xmlns:a="http://schemas.openxmlformats.org/drawingml/2006/main">
              <a:ext uri="{FF2B5EF4-FFF2-40B4-BE49-F238E27FC236}">
                <a16:creationId xmlns:a16="http://schemas.microsoft.com/office/drawing/2014/main" id="{ED5094F5-4DEA-44C2-A6BC-F02E2DC391F4}"/>
              </a:ext>
            </a:extLst>
          </p:cNvPr>
          <p:cNvSpPr>
            <a:spLocks xmlns:a="http://schemas.openxmlformats.org/drawingml/2006/main" noGrp="1"/>
          </p:cNvSpPr>
          <p:nvPr/>
        </p:nvSpPr>
        <p:spPr>
          <a:xfrm xmlns:a="http://schemas.openxmlformats.org/drawingml/2006/main">
            <a:off x="5915025" y="3390900"/>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05000"/>
              </a:lnSpc>
              <a:buNone/>
              <a:defRPr sz="2550" b="1" i="0">
                <a:solidFill>
                  <a:srgbClr val="6F716E"/>
                </a:solidFill>
              </a:defRPr>
            </a:pPr>
            <a:r>
              <a:rPr sz="2550" b="1" i="0">
                <a:solidFill>
                  <a:srgbClr val="6F716E"/>
                </a:solidFill>
              </a:rPr>
              <a:t>≤</a:t>
            </a:r>
          </a:p>
        </p:txBody>
      </p:sp>
      <p:sp>
        <p:nvSpPr>
          <p:cNvPr id="15" name="shape-87">
            <a:extLst xmlns:a="http://schemas.openxmlformats.org/drawingml/2006/main">
              <a:ext uri="{FF2B5EF4-FFF2-40B4-BE49-F238E27FC236}">
                <a16:creationId xmlns:a16="http://schemas.microsoft.com/office/drawing/2014/main" id="{5E41238B-FDE3-47E9-813B-74AD7D79D2EC}"/>
              </a:ext>
            </a:extLst>
          </p:cNvPr>
          <p:cNvSpPr>
            <a:spLocks xmlns:a="http://schemas.openxmlformats.org/drawingml/2006/main" noGrp="1"/>
          </p:cNvSpPr>
          <p:nvPr/>
        </p:nvSpPr>
        <p:spPr>
          <a:xfrm xmlns:a="http://schemas.openxmlformats.org/drawingml/2006/main">
            <a:off x="6362700" y="3009900"/>
            <a:ext cx="2190750" cy="1276350"/>
          </a:xfrm>
          <a:prstGeom xmlns:a="http://schemas.openxmlformats.org/drawingml/2006/main" prst="roundRect">
            <a:avLst>
              <a:gd name="adj" fmla="val 7463"/>
            </a:avLst>
          </a:prstGeom>
          <a:solidFill xmlns:a="http://schemas.openxmlformats.org/drawingml/2006/main">
            <a:srgbClr val="DDE5FF"/>
          </a:solidFill>
          <a:ln xmlns:a="http://schemas.openxmlformats.org/drawingml/2006/main" w="0">
            <a:noFill/>
            <a:prstDash val="solid"/>
          </a:ln>
        </p:spPr>
      </p:sp>
      <p:sp>
        <p:nvSpPr>
          <p:cNvPr id="16" name="text-88">
            <a:extLst xmlns:a="http://schemas.openxmlformats.org/drawingml/2006/main">
              <a:ext uri="{FF2B5EF4-FFF2-40B4-BE49-F238E27FC236}">
                <a16:creationId xmlns:a16="http://schemas.microsoft.com/office/drawing/2014/main" id="{5F9CCDAB-529B-4CE3-B236-642454E8BDB5}"/>
              </a:ext>
            </a:extLst>
          </p:cNvPr>
          <p:cNvSpPr>
            <a:spLocks xmlns:a="http://schemas.openxmlformats.org/drawingml/2006/main" noGrp="1"/>
          </p:cNvSpPr>
          <p:nvPr/>
        </p:nvSpPr>
        <p:spPr>
          <a:xfrm xmlns:a="http://schemas.openxmlformats.org/drawingml/2006/main">
            <a:off x="6534150" y="320040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500" b="1" i="0">
                <a:solidFill>
                  <a:srgbClr val="315EFB"/>
                </a:solidFill>
              </a:defRPr>
            </a:pPr>
            <a:r>
              <a:rPr sz="1500" b="1" i="0">
                <a:solidFill>
                  <a:srgbClr val="315EFB"/>
                </a:solidFill>
              </a:rPr>
              <a:t>active</a:t>
            </a:r>
          </a:p>
        </p:txBody>
      </p:sp>
      <p:sp>
        <p:nvSpPr>
          <p:cNvPr id="17" name="text-89">
            <a:extLst xmlns:a="http://schemas.openxmlformats.org/drawingml/2006/main">
              <a:ext uri="{FF2B5EF4-FFF2-40B4-BE49-F238E27FC236}">
                <a16:creationId xmlns:a16="http://schemas.microsoft.com/office/drawing/2014/main" id="{69C9AECA-E5B3-498C-A45F-BE40C5C08EAA}"/>
              </a:ext>
            </a:extLst>
          </p:cNvPr>
          <p:cNvSpPr>
            <a:spLocks xmlns:a="http://schemas.openxmlformats.org/drawingml/2006/main" noGrp="1"/>
          </p:cNvSpPr>
          <p:nvPr/>
        </p:nvSpPr>
        <p:spPr>
          <a:xfrm xmlns:a="http://schemas.openxmlformats.org/drawingml/2006/main">
            <a:off x="6534150" y="36195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2175" b="1" i="0">
                <a:solidFill>
                  <a:srgbClr val="315EFB"/>
                </a:solidFill>
              </a:defRPr>
            </a:pPr>
            <a:r>
              <a:rPr sz="2175" b="1" i="0">
                <a:solidFill>
                  <a:srgbClr val="315EFB"/>
                </a:solidFill>
              </a:rPr>
              <a:t>τ₃ = 0.55</a:t>
            </a:r>
          </a:p>
        </p:txBody>
      </p:sp>
      <p:sp>
        <p:nvSpPr>
          <p:cNvPr id="18" name="text-90">
            <a:extLst xmlns:a="http://schemas.openxmlformats.org/drawingml/2006/main">
              <a:ext uri="{FF2B5EF4-FFF2-40B4-BE49-F238E27FC236}">
                <a16:creationId xmlns:a16="http://schemas.microsoft.com/office/drawing/2014/main" id="{83E44F8C-05B1-408C-9482-BCBFF976B2E5}"/>
              </a:ext>
            </a:extLst>
          </p:cNvPr>
          <p:cNvSpPr>
            <a:spLocks xmlns:a="http://schemas.openxmlformats.org/drawingml/2006/main" noGrp="1"/>
          </p:cNvSpPr>
          <p:nvPr/>
        </p:nvSpPr>
        <p:spPr>
          <a:xfrm xmlns:a="http://schemas.openxmlformats.org/drawingml/2006/main">
            <a:off x="8629650" y="3390900"/>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05000"/>
              </a:lnSpc>
              <a:buNone/>
              <a:defRPr sz="2550" b="1" i="0">
                <a:solidFill>
                  <a:srgbClr val="6F716E"/>
                </a:solidFill>
              </a:defRPr>
            </a:pPr>
            <a:r>
              <a:rPr sz="2550" b="1" i="0">
                <a:solidFill>
                  <a:srgbClr val="6F716E"/>
                </a:solidFill>
              </a:rPr>
              <a:t>≤</a:t>
            </a:r>
          </a:p>
        </p:txBody>
      </p:sp>
      <p:sp>
        <p:nvSpPr>
          <p:cNvPr id="19" name="shape-91">
            <a:extLst xmlns:a="http://schemas.openxmlformats.org/drawingml/2006/main">
              <a:ext uri="{FF2B5EF4-FFF2-40B4-BE49-F238E27FC236}">
                <a16:creationId xmlns:a16="http://schemas.microsoft.com/office/drawing/2014/main" id="{F02420A1-4AB4-463D-A473-1D57D003D17D}"/>
              </a:ext>
            </a:extLst>
          </p:cNvPr>
          <p:cNvSpPr>
            <a:spLocks xmlns:a="http://schemas.openxmlformats.org/drawingml/2006/main" noGrp="1"/>
          </p:cNvSpPr>
          <p:nvPr/>
        </p:nvSpPr>
        <p:spPr>
          <a:xfrm xmlns:a="http://schemas.openxmlformats.org/drawingml/2006/main">
            <a:off x="9077325" y="3009900"/>
            <a:ext cx="2190750" cy="1276350"/>
          </a:xfrm>
          <a:prstGeom xmlns:a="http://schemas.openxmlformats.org/drawingml/2006/main" prst="roundRect">
            <a:avLst>
              <a:gd name="adj" fmla="val 7463"/>
            </a:avLst>
          </a:prstGeom>
          <a:solidFill xmlns:a="http://schemas.openxmlformats.org/drawingml/2006/main">
            <a:srgbClr val="315EFB"/>
          </a:solidFill>
          <a:ln xmlns:a="http://schemas.openxmlformats.org/drawingml/2006/main" w="0">
            <a:noFill/>
            <a:prstDash val="solid"/>
          </a:ln>
        </p:spPr>
      </p:sp>
      <p:sp>
        <p:nvSpPr>
          <p:cNvPr id="20" name="text-92">
            <a:extLst xmlns:a="http://schemas.openxmlformats.org/drawingml/2006/main">
              <a:ext uri="{FF2B5EF4-FFF2-40B4-BE49-F238E27FC236}">
                <a16:creationId xmlns:a16="http://schemas.microsoft.com/office/drawing/2014/main" id="{3D73709D-EEB7-4230-8943-DA6D28C402C6}"/>
              </a:ext>
            </a:extLst>
          </p:cNvPr>
          <p:cNvSpPr>
            <a:spLocks xmlns:a="http://schemas.openxmlformats.org/drawingml/2006/main" noGrp="1"/>
          </p:cNvSpPr>
          <p:nvPr/>
        </p:nvSpPr>
        <p:spPr>
          <a:xfrm xmlns:a="http://schemas.openxmlformats.org/drawingml/2006/main">
            <a:off x="9248775" y="320040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500" b="1" i="0">
                <a:solidFill>
                  <a:srgbClr val="FFFEFA"/>
                </a:solidFill>
              </a:defRPr>
            </a:pPr>
            <a:r>
              <a:rPr sz="1500" b="1" i="0">
                <a:solidFill>
                  <a:srgbClr val="FFFEFA"/>
                </a:solidFill>
              </a:rPr>
              <a:t>future</a:t>
            </a:r>
          </a:p>
        </p:txBody>
      </p:sp>
      <p:sp>
        <p:nvSpPr>
          <p:cNvPr id="21" name="text-93">
            <a:extLst xmlns:a="http://schemas.openxmlformats.org/drawingml/2006/main">
              <a:ext uri="{FF2B5EF4-FFF2-40B4-BE49-F238E27FC236}">
                <a16:creationId xmlns:a16="http://schemas.microsoft.com/office/drawing/2014/main" id="{1E9DE657-80C4-4393-85BA-04BED6A44790}"/>
              </a:ext>
            </a:extLst>
          </p:cNvPr>
          <p:cNvSpPr>
            <a:spLocks xmlns:a="http://schemas.openxmlformats.org/drawingml/2006/main" noGrp="1"/>
          </p:cNvSpPr>
          <p:nvPr/>
        </p:nvSpPr>
        <p:spPr>
          <a:xfrm xmlns:a="http://schemas.openxmlformats.org/drawingml/2006/main">
            <a:off x="9248775" y="36195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2175" b="1" i="0">
                <a:solidFill>
                  <a:srgbClr val="FFFEFA"/>
                </a:solidFill>
              </a:defRPr>
            </a:pPr>
            <a:r>
              <a:rPr sz="2175" b="1" i="0">
                <a:solidFill>
                  <a:srgbClr val="FFFEFA"/>
                </a:solidFill>
              </a:rPr>
              <a:t>τ₄ = 0.90</a:t>
            </a:r>
          </a:p>
        </p:txBody>
      </p:sp>
      <p:sp>
        <p:nvSpPr>
          <p:cNvPr id="22" name="shape-94">
            <a:extLst xmlns:a="http://schemas.openxmlformats.org/drawingml/2006/main">
              <a:ext uri="{FF2B5EF4-FFF2-40B4-BE49-F238E27FC236}">
                <a16:creationId xmlns:a16="http://schemas.microsoft.com/office/drawing/2014/main" id="{E57339B2-465D-4D22-BF25-A6D70DC67028}"/>
              </a:ext>
            </a:extLst>
          </p:cNvPr>
          <p:cNvSpPr>
            <a:spLocks xmlns:a="http://schemas.openxmlformats.org/drawingml/2006/main" noGrp="1"/>
          </p:cNvSpPr>
          <p:nvPr/>
        </p:nvSpPr>
        <p:spPr>
          <a:xfrm xmlns:a="http://schemas.openxmlformats.org/drawingml/2006/main">
            <a:off x="2305050" y="4933950"/>
            <a:ext cx="47625" cy="685800"/>
          </a:xfrm>
          <a:prstGeom xmlns:a="http://schemas.openxmlformats.org/drawingml/2006/main" prst="rect">
            <a:avLst/>
          </a:prstGeom>
          <a:solidFill xmlns:a="http://schemas.openxmlformats.org/drawingml/2006/main">
            <a:srgbClr val="315EFB"/>
          </a:solidFill>
          <a:ln xmlns:a="http://schemas.openxmlformats.org/drawingml/2006/main" w="0">
            <a:noFill/>
            <a:prstDash val="solid"/>
          </a:ln>
        </p:spPr>
      </p:sp>
      <p:sp>
        <p:nvSpPr>
          <p:cNvPr id="23" name="text-95">
            <a:extLst xmlns:a="http://schemas.openxmlformats.org/drawingml/2006/main">
              <a:ext uri="{FF2B5EF4-FFF2-40B4-BE49-F238E27FC236}">
                <a16:creationId xmlns:a16="http://schemas.microsoft.com/office/drawing/2014/main" id="{C634DED8-D346-4C9C-9260-EC8F663F45E7}"/>
              </a:ext>
            </a:extLst>
          </p:cNvPr>
          <p:cNvSpPr>
            <a:spLocks xmlns:a="http://schemas.openxmlformats.org/drawingml/2006/main" noGrp="1"/>
          </p:cNvSpPr>
          <p:nvPr/>
        </p:nvSpPr>
        <p:spPr>
          <a:xfrm xmlns:a="http://schemas.openxmlformats.org/drawingml/2006/main">
            <a:off x="2533650" y="4895850"/>
            <a:ext cx="7391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5000"/>
              </a:lnSpc>
              <a:buNone/>
              <a:defRPr sz="2025" b="1" i="0">
                <a:solidFill>
                  <a:srgbClr val="171717"/>
                </a:solidFill>
              </a:defRPr>
            </a:pPr>
            <a:r>
              <a:rPr sz="2025" b="1" i="0">
                <a:solidFill>
                  <a:srgbClr val="171717"/>
                </a:solidFill>
              </a:rPr>
              <a:t>Training now covers clean past, partially denoised present, and noisy future in one sample.</a:t>
            </a:r>
          </a:p>
        </p:txBody>
      </p:sp>
    </p:spTree>
    <p:extLst>
      <p:ext uri="{BB962C8B-B14F-4D97-AF65-F5344CB8AC3E}">
        <p14:creationId xmlns:p14="http://schemas.microsoft.com/office/powerpoint/2010/main" val="1820265726"/>
      </p:ext>
    </p:extLst>
  </p:cSld>
</p:sld>
</file>

<file path=ppt/slides/slide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30" name="text-96">
            <a:extLst xmlns:a="http://schemas.openxmlformats.org/drawingml/2006/main">
              <a:ext uri="{FF2B5EF4-FFF2-40B4-BE49-F238E27FC236}">
                <a16:creationId xmlns:a16="http://schemas.microsoft.com/office/drawing/2014/main" id="{6053D900-9ADC-4174-90DA-5D695E160AA7}"/>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i="0">
                <a:solidFill>
                  <a:srgbClr val="315EFB"/>
                </a:solidFill>
              </a:defRPr>
            </a:pPr>
            <a:r>
              <a:rPr sz="1200" b="1" i="0">
                <a:solidFill>
                  <a:srgbClr val="315EFB"/>
                </a:solidFill>
              </a:rPr>
              <a:t>STREAMING ENGINE</a:t>
            </a:r>
          </a:p>
        </p:txBody>
      </p:sp>
      <p:sp>
        <p:nvSpPr>
          <p:cNvPr id="2" name="shape-97">
            <a:extLst xmlns:a="http://schemas.openxmlformats.org/drawingml/2006/main">
              <a:ext uri="{FF2B5EF4-FFF2-40B4-BE49-F238E27FC236}">
                <a16:creationId xmlns:a16="http://schemas.microsoft.com/office/drawing/2014/main" id="{F962A7CF-3ADC-4038-B9F4-18C402C0EDB7}"/>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D8D4CB"/>
          </a:solidFill>
          <a:ln xmlns:a="http://schemas.openxmlformats.org/drawingml/2006/main" w="0">
            <a:noFill/>
            <a:prstDash val="solid"/>
          </a:ln>
        </p:spPr>
      </p:sp>
      <p:sp>
        <p:nvSpPr>
          <p:cNvPr id="3" name="text-98">
            <a:extLst xmlns:a="http://schemas.openxmlformats.org/drawingml/2006/main">
              <a:ext uri="{FF2B5EF4-FFF2-40B4-BE49-F238E27FC236}">
                <a16:creationId xmlns:a16="http://schemas.microsoft.com/office/drawing/2014/main" id="{4D162A67-7E2E-4579-9073-31FD6D3D9111}"/>
              </a:ext>
            </a:extLst>
          </p:cNvPr>
          <p:cNvSpPr>
            <a:spLocks xmlns:a="http://schemas.openxmlformats.org/drawingml/2006/main" noGrp="1"/>
          </p:cNvSpPr>
          <p:nvPr/>
        </p:nvSpPr>
        <p:spPr>
          <a:xfrm xmlns:a="http://schemas.openxmlformats.org/drawingml/2006/main">
            <a:off x="685800" y="6496050"/>
            <a:ext cx="876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0" i="0">
                <a:solidFill>
                  <a:srgbClr val="6F716E"/>
                </a:solidFill>
              </a:defRPr>
            </a:pPr>
            <a:r>
              <a:rPr sz="1200" b="0" i="0">
                <a:solidFill>
                  <a:srgbClr val="6F716E"/>
                </a:solidFill>
              </a:rPr>
              <a:t>Paper §3.5 · pp. 8-9</a:t>
            </a:r>
          </a:p>
        </p:txBody>
      </p:sp>
      <p:sp>
        <p:nvSpPr>
          <p:cNvPr id="4" name="text-99">
            <a:extLst xmlns:a="http://schemas.openxmlformats.org/drawingml/2006/main">
              <a:ext uri="{FF2B5EF4-FFF2-40B4-BE49-F238E27FC236}">
                <a16:creationId xmlns:a16="http://schemas.microsoft.com/office/drawing/2014/main" id="{13A96F78-AF19-45D0-9936-8F812C5CFF3F}"/>
              </a:ext>
            </a:extLst>
          </p:cNvPr>
          <p:cNvSpPr>
            <a:spLocks xmlns:a="http://schemas.openxmlformats.org/drawingml/2006/main" noGrp="1"/>
          </p:cNvSpPr>
          <p:nvPr/>
        </p:nvSpPr>
        <p:spPr>
          <a:xfrm xmlns:a="http://schemas.openxmlformats.org/drawingml/2006/main">
            <a:off x="10839450" y="64770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05000"/>
              </a:lnSpc>
              <a:buNone/>
              <a:defRPr sz="1200" b="1" i="0">
                <a:solidFill>
                  <a:srgbClr val="6F716E"/>
                </a:solidFill>
              </a:defRPr>
            </a:pPr>
            <a:r>
              <a:rPr sz="1200" b="1" i="0">
                <a:solidFill>
                  <a:srgbClr val="6F716E"/>
                </a:solidFill>
              </a:rPr>
              <a:t>06</a:t>
            </a:r>
          </a:p>
        </p:txBody>
      </p:sp>
      <p:sp>
        <p:nvSpPr>
          <p:cNvPr id="5" name="text-100">
            <a:extLst xmlns:a="http://schemas.openxmlformats.org/drawingml/2006/main">
              <a:ext uri="{FF2B5EF4-FFF2-40B4-BE49-F238E27FC236}">
                <a16:creationId xmlns:a16="http://schemas.microsoft.com/office/drawing/2014/main" id="{F4AFC543-4083-41E9-8C36-2514A4CD3315}"/>
              </a:ext>
            </a:extLst>
          </p:cNvPr>
          <p:cNvSpPr>
            <a:spLocks xmlns:a="http://schemas.openxmlformats.org/drawingml/2006/main" noGrp="1"/>
          </p:cNvSpPr>
          <p:nvPr/>
        </p:nvSpPr>
        <p:spPr>
          <a:xfrm xmlns:a="http://schemas.openxmlformats.org/drawingml/2006/main">
            <a:off x="685800" y="10668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95000"/>
              </a:lnSpc>
              <a:buNone/>
              <a:defRPr sz="3600" b="1" i="0">
                <a:solidFill>
                  <a:srgbClr val="171717"/>
                </a:solidFill>
              </a:defRPr>
            </a:pPr>
            <a:r>
              <a:rPr sz="3600" b="1" i="0">
                <a:solidFill>
                  <a:srgbClr val="171717"/>
                </a:solidFill>
              </a:rPr>
              <a:t>Denoise only the active window</a:t>
            </a:r>
          </a:p>
        </p:txBody>
      </p:sp>
      <p:sp>
        <p:nvSpPr>
          <p:cNvPr id="6" name="text-101">
            <a:extLst xmlns:a="http://schemas.openxmlformats.org/drawingml/2006/main">
              <a:ext uri="{FF2B5EF4-FFF2-40B4-BE49-F238E27FC236}">
                <a16:creationId xmlns:a16="http://schemas.microsoft.com/office/drawing/2014/main" id="{BD6DEF77-9AB4-47D7-A6DC-AB1F518CA14D}"/>
              </a:ext>
            </a:extLst>
          </p:cNvPr>
          <p:cNvSpPr>
            <a:spLocks xmlns:a="http://schemas.openxmlformats.org/drawingml/2006/main" noGrp="1"/>
          </p:cNvSpPr>
          <p:nvPr/>
        </p:nvSpPr>
        <p:spPr>
          <a:xfrm xmlns:a="http://schemas.openxmlformats.org/drawingml/2006/main">
            <a:off x="857250" y="20764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i="0">
                <a:solidFill>
                  <a:srgbClr val="315EFB"/>
                </a:solidFill>
              </a:defRPr>
            </a:pPr>
            <a:r>
              <a:rPr sz="1200" b="1" i="0">
                <a:solidFill>
                  <a:srgbClr val="315EFB"/>
                </a:solidFill>
              </a:rPr>
              <a:t>ROLLING STATE</a:t>
            </a:r>
          </a:p>
        </p:txBody>
      </p:sp>
      <p:sp>
        <p:nvSpPr>
          <p:cNvPr id="7" name="shape-102">
            <a:extLst xmlns:a="http://schemas.openxmlformats.org/drawingml/2006/main">
              <a:ext uri="{FF2B5EF4-FFF2-40B4-BE49-F238E27FC236}">
                <a16:creationId xmlns:a16="http://schemas.microsoft.com/office/drawing/2014/main" id="{F29DF502-9777-4086-99B6-ED40303D1850}"/>
              </a:ext>
            </a:extLst>
          </p:cNvPr>
          <p:cNvSpPr>
            <a:spLocks xmlns:a="http://schemas.openxmlformats.org/drawingml/2006/main" noGrp="1"/>
          </p:cNvSpPr>
          <p:nvPr/>
        </p:nvSpPr>
        <p:spPr>
          <a:xfrm xmlns:a="http://schemas.openxmlformats.org/drawingml/2006/main">
            <a:off x="857250" y="2609850"/>
            <a:ext cx="1028700" cy="800100"/>
          </a:xfrm>
          <a:prstGeom xmlns:a="http://schemas.openxmlformats.org/drawingml/2006/main" prst="roundRect">
            <a:avLst>
              <a:gd name="adj" fmla="val 11905"/>
            </a:avLst>
          </a:prstGeom>
          <a:solidFill xmlns:a="http://schemas.openxmlformats.org/drawingml/2006/main">
            <a:srgbClr val="E8E1D4"/>
          </a:solidFill>
          <a:ln xmlns:a="http://schemas.openxmlformats.org/drawingml/2006/main" w="0">
            <a:noFill/>
            <a:prstDash val="solid"/>
          </a:ln>
        </p:spPr>
      </p:sp>
      <p:sp>
        <p:nvSpPr>
          <p:cNvPr id="8" name="text-103">
            <a:extLst xmlns:a="http://schemas.openxmlformats.org/drawingml/2006/main">
              <a:ext uri="{FF2B5EF4-FFF2-40B4-BE49-F238E27FC236}">
                <a16:creationId xmlns:a16="http://schemas.microsoft.com/office/drawing/2014/main" id="{BEED22F3-1C47-4401-875D-77D0FF2504A1}"/>
              </a:ext>
            </a:extLst>
          </p:cNvPr>
          <p:cNvSpPr>
            <a:spLocks xmlns:a="http://schemas.openxmlformats.org/drawingml/2006/main" noGrp="1"/>
          </p:cNvSpPr>
          <p:nvPr/>
        </p:nvSpPr>
        <p:spPr>
          <a:xfrm xmlns:a="http://schemas.openxmlformats.org/drawingml/2006/main">
            <a:off x="857250" y="28384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5000"/>
              </a:lnSpc>
              <a:buNone/>
              <a:defRPr sz="1350" b="1" i="0">
                <a:solidFill>
                  <a:srgbClr val="171717"/>
                </a:solidFill>
              </a:defRPr>
            </a:pPr>
            <a:r>
              <a:rPr sz="1350" b="1" i="0">
                <a:solidFill>
                  <a:srgbClr val="171717"/>
                </a:solidFill>
              </a:rPr>
              <a:t>sink</a:t>
            </a:r>
          </a:p>
        </p:txBody>
      </p:sp>
      <p:sp>
        <p:nvSpPr>
          <p:cNvPr id="9" name="shape-104">
            <a:extLst xmlns:a="http://schemas.openxmlformats.org/drawingml/2006/main">
              <a:ext uri="{FF2B5EF4-FFF2-40B4-BE49-F238E27FC236}">
                <a16:creationId xmlns:a16="http://schemas.microsoft.com/office/drawing/2014/main" id="{1F86DF24-428A-4E5F-B70E-5AEBC8D3241A}"/>
              </a:ext>
            </a:extLst>
          </p:cNvPr>
          <p:cNvSpPr>
            <a:spLocks xmlns:a="http://schemas.openxmlformats.org/drawingml/2006/main" noGrp="1"/>
          </p:cNvSpPr>
          <p:nvPr/>
        </p:nvSpPr>
        <p:spPr>
          <a:xfrm xmlns:a="http://schemas.openxmlformats.org/drawingml/2006/main">
            <a:off x="2152650" y="2609850"/>
            <a:ext cx="1028700" cy="800100"/>
          </a:xfrm>
          <a:prstGeom xmlns:a="http://schemas.openxmlformats.org/drawingml/2006/main" prst="roundRect">
            <a:avLst>
              <a:gd name="adj" fmla="val 11905"/>
            </a:avLst>
          </a:prstGeom>
          <a:solidFill xmlns:a="http://schemas.openxmlformats.org/drawingml/2006/main">
            <a:srgbClr val="EEF2FF"/>
          </a:solidFill>
          <a:ln xmlns:a="http://schemas.openxmlformats.org/drawingml/2006/main" w="0">
            <a:noFill/>
            <a:prstDash val="solid"/>
          </a:ln>
        </p:spPr>
      </p:sp>
      <p:sp>
        <p:nvSpPr>
          <p:cNvPr id="10" name="text-105">
            <a:extLst xmlns:a="http://schemas.openxmlformats.org/drawingml/2006/main">
              <a:ext uri="{FF2B5EF4-FFF2-40B4-BE49-F238E27FC236}">
                <a16:creationId xmlns:a16="http://schemas.microsoft.com/office/drawing/2014/main" id="{AB78BFE7-7659-4032-B0B4-B3B9F3BA0EEB}"/>
              </a:ext>
            </a:extLst>
          </p:cNvPr>
          <p:cNvSpPr>
            <a:spLocks xmlns:a="http://schemas.openxmlformats.org/drawingml/2006/main" noGrp="1"/>
          </p:cNvSpPr>
          <p:nvPr/>
        </p:nvSpPr>
        <p:spPr>
          <a:xfrm xmlns:a="http://schemas.openxmlformats.org/drawingml/2006/main">
            <a:off x="2152650" y="28384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5000"/>
              </a:lnSpc>
              <a:buNone/>
              <a:defRPr sz="1350" b="1" i="0">
                <a:solidFill>
                  <a:srgbClr val="171717"/>
                </a:solidFill>
              </a:defRPr>
            </a:pPr>
            <a:r>
              <a:rPr sz="1350" b="1" i="0">
                <a:solidFill>
                  <a:srgbClr val="171717"/>
                </a:solidFill>
              </a:rPr>
              <a:t>cached</a:t>
            </a:r>
          </a:p>
        </p:txBody>
      </p:sp>
      <p:sp>
        <p:nvSpPr>
          <p:cNvPr id="11" name="shape-106">
            <a:extLst xmlns:a="http://schemas.openxmlformats.org/drawingml/2006/main">
              <a:ext uri="{FF2B5EF4-FFF2-40B4-BE49-F238E27FC236}">
                <a16:creationId xmlns:a16="http://schemas.microsoft.com/office/drawing/2014/main" id="{C4B5FC66-B39C-49B2-A762-DAD3B42CE904}"/>
              </a:ext>
            </a:extLst>
          </p:cNvPr>
          <p:cNvSpPr>
            <a:spLocks xmlns:a="http://schemas.openxmlformats.org/drawingml/2006/main" noGrp="1"/>
          </p:cNvSpPr>
          <p:nvPr/>
        </p:nvSpPr>
        <p:spPr>
          <a:xfrm xmlns:a="http://schemas.openxmlformats.org/drawingml/2006/main">
            <a:off x="3448050" y="2609850"/>
            <a:ext cx="1028700" cy="800100"/>
          </a:xfrm>
          <a:prstGeom xmlns:a="http://schemas.openxmlformats.org/drawingml/2006/main" prst="roundRect">
            <a:avLst>
              <a:gd name="adj" fmla="val 11905"/>
            </a:avLst>
          </a:prstGeom>
          <a:solidFill xmlns:a="http://schemas.openxmlformats.org/drawingml/2006/main">
            <a:srgbClr val="EEF2FF"/>
          </a:solidFill>
          <a:ln xmlns:a="http://schemas.openxmlformats.org/drawingml/2006/main" w="0">
            <a:noFill/>
            <a:prstDash val="solid"/>
          </a:ln>
        </p:spPr>
      </p:sp>
      <p:sp>
        <p:nvSpPr>
          <p:cNvPr id="12" name="text-107">
            <a:extLst xmlns:a="http://schemas.openxmlformats.org/drawingml/2006/main">
              <a:ext uri="{FF2B5EF4-FFF2-40B4-BE49-F238E27FC236}">
                <a16:creationId xmlns:a16="http://schemas.microsoft.com/office/drawing/2014/main" id="{568C0A28-06B8-4A72-88A1-CE8DAFC6653C}"/>
              </a:ext>
            </a:extLst>
          </p:cNvPr>
          <p:cNvSpPr>
            <a:spLocks xmlns:a="http://schemas.openxmlformats.org/drawingml/2006/main" noGrp="1"/>
          </p:cNvSpPr>
          <p:nvPr/>
        </p:nvSpPr>
        <p:spPr>
          <a:xfrm xmlns:a="http://schemas.openxmlformats.org/drawingml/2006/main">
            <a:off x="3448050" y="28384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5000"/>
              </a:lnSpc>
              <a:buNone/>
              <a:defRPr sz="1350" b="1" i="0">
                <a:solidFill>
                  <a:srgbClr val="171717"/>
                </a:solidFill>
              </a:defRPr>
            </a:pPr>
            <a:r>
              <a:rPr sz="1350" b="1" i="0">
                <a:solidFill>
                  <a:srgbClr val="171717"/>
                </a:solidFill>
              </a:rPr>
              <a:t>cached</a:t>
            </a:r>
          </a:p>
        </p:txBody>
      </p:sp>
      <p:sp>
        <p:nvSpPr>
          <p:cNvPr id="13" name="shape-108">
            <a:extLst xmlns:a="http://schemas.openxmlformats.org/drawingml/2006/main">
              <a:ext uri="{FF2B5EF4-FFF2-40B4-BE49-F238E27FC236}">
                <a16:creationId xmlns:a16="http://schemas.microsoft.com/office/drawing/2014/main" id="{372F6B84-208F-4D10-88D3-BD379FE93F9C}"/>
              </a:ext>
            </a:extLst>
          </p:cNvPr>
          <p:cNvSpPr>
            <a:spLocks xmlns:a="http://schemas.openxmlformats.org/drawingml/2006/main" noGrp="1"/>
          </p:cNvSpPr>
          <p:nvPr/>
        </p:nvSpPr>
        <p:spPr>
          <a:xfrm xmlns:a="http://schemas.openxmlformats.org/drawingml/2006/main">
            <a:off x="4743450" y="2609850"/>
            <a:ext cx="1028700" cy="800100"/>
          </a:xfrm>
          <a:prstGeom xmlns:a="http://schemas.openxmlformats.org/drawingml/2006/main" prst="roundRect">
            <a:avLst>
              <a:gd name="adj" fmla="val 11905"/>
            </a:avLst>
          </a:prstGeom>
          <a:solidFill xmlns:a="http://schemas.openxmlformats.org/drawingml/2006/main">
            <a:srgbClr val="EEF2FF"/>
          </a:solidFill>
          <a:ln xmlns:a="http://schemas.openxmlformats.org/drawingml/2006/main" w="0">
            <a:noFill/>
            <a:prstDash val="solid"/>
          </a:ln>
        </p:spPr>
      </p:sp>
      <p:sp>
        <p:nvSpPr>
          <p:cNvPr id="14" name="text-109">
            <a:extLst xmlns:a="http://schemas.openxmlformats.org/drawingml/2006/main">
              <a:ext uri="{FF2B5EF4-FFF2-40B4-BE49-F238E27FC236}">
                <a16:creationId xmlns:a16="http://schemas.microsoft.com/office/drawing/2014/main" id="{4EEB4B30-6E6A-4779-8E06-795A80127638}"/>
              </a:ext>
            </a:extLst>
          </p:cNvPr>
          <p:cNvSpPr>
            <a:spLocks xmlns:a="http://schemas.openxmlformats.org/drawingml/2006/main" noGrp="1"/>
          </p:cNvSpPr>
          <p:nvPr/>
        </p:nvSpPr>
        <p:spPr>
          <a:xfrm xmlns:a="http://schemas.openxmlformats.org/drawingml/2006/main">
            <a:off x="4743450" y="28384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5000"/>
              </a:lnSpc>
              <a:buNone/>
              <a:defRPr sz="1350" b="1" i="0">
                <a:solidFill>
                  <a:srgbClr val="171717"/>
                </a:solidFill>
              </a:defRPr>
            </a:pPr>
            <a:r>
              <a:rPr sz="1350" b="1" i="0">
                <a:solidFill>
                  <a:srgbClr val="171717"/>
                </a:solidFill>
              </a:rPr>
              <a:t>cached</a:t>
            </a:r>
          </a:p>
        </p:txBody>
      </p:sp>
      <p:sp>
        <p:nvSpPr>
          <p:cNvPr id="15" name="shape-110">
            <a:extLst xmlns:a="http://schemas.openxmlformats.org/drawingml/2006/main">
              <a:ext uri="{FF2B5EF4-FFF2-40B4-BE49-F238E27FC236}">
                <a16:creationId xmlns:a16="http://schemas.microsoft.com/office/drawing/2014/main" id="{4C898D53-F4F6-4C0D-A718-68EB9EA6531B}"/>
              </a:ext>
            </a:extLst>
          </p:cNvPr>
          <p:cNvSpPr>
            <a:spLocks xmlns:a="http://schemas.openxmlformats.org/drawingml/2006/main" noGrp="1"/>
          </p:cNvSpPr>
          <p:nvPr/>
        </p:nvSpPr>
        <p:spPr>
          <a:xfrm xmlns:a="http://schemas.openxmlformats.org/drawingml/2006/main">
            <a:off x="6038850" y="2609850"/>
            <a:ext cx="1028700" cy="800100"/>
          </a:xfrm>
          <a:prstGeom xmlns:a="http://schemas.openxmlformats.org/drawingml/2006/main" prst="roundRect">
            <a:avLst>
              <a:gd name="adj" fmla="val 11905"/>
            </a:avLst>
          </a:prstGeom>
          <a:solidFill xmlns:a="http://schemas.openxmlformats.org/drawingml/2006/main">
            <a:srgbClr val="315EFB"/>
          </a:solidFill>
          <a:ln xmlns:a="http://schemas.openxmlformats.org/drawingml/2006/main" w="0">
            <a:noFill/>
            <a:prstDash val="solid"/>
          </a:ln>
        </p:spPr>
      </p:sp>
      <p:sp>
        <p:nvSpPr>
          <p:cNvPr id="16" name="text-111">
            <a:extLst xmlns:a="http://schemas.openxmlformats.org/drawingml/2006/main">
              <a:ext uri="{FF2B5EF4-FFF2-40B4-BE49-F238E27FC236}">
                <a16:creationId xmlns:a16="http://schemas.microsoft.com/office/drawing/2014/main" id="{8AC3F81D-8303-4AFA-9BAF-125C2063469B}"/>
              </a:ext>
            </a:extLst>
          </p:cNvPr>
          <p:cNvSpPr>
            <a:spLocks xmlns:a="http://schemas.openxmlformats.org/drawingml/2006/main" noGrp="1"/>
          </p:cNvSpPr>
          <p:nvPr/>
        </p:nvSpPr>
        <p:spPr>
          <a:xfrm xmlns:a="http://schemas.openxmlformats.org/drawingml/2006/main">
            <a:off x="6038850" y="28384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5000"/>
              </a:lnSpc>
              <a:buNone/>
              <a:defRPr sz="1350" b="1" i="0">
                <a:solidFill>
                  <a:srgbClr val="FFFEFA"/>
                </a:solidFill>
              </a:defRPr>
            </a:pPr>
            <a:r>
              <a:rPr sz="1350" b="1" i="0">
                <a:solidFill>
                  <a:srgbClr val="FFFEFA"/>
                </a:solidFill>
              </a:rPr>
              <a:t>active</a:t>
            </a:r>
          </a:p>
        </p:txBody>
      </p:sp>
      <p:sp>
        <p:nvSpPr>
          <p:cNvPr id="17" name="shape-112">
            <a:extLst xmlns:a="http://schemas.openxmlformats.org/drawingml/2006/main">
              <a:ext uri="{FF2B5EF4-FFF2-40B4-BE49-F238E27FC236}">
                <a16:creationId xmlns:a16="http://schemas.microsoft.com/office/drawing/2014/main" id="{8B9F57DC-40F8-4A22-B60B-1012D323A1AD}"/>
              </a:ext>
            </a:extLst>
          </p:cNvPr>
          <p:cNvSpPr>
            <a:spLocks xmlns:a="http://schemas.openxmlformats.org/drawingml/2006/main" noGrp="1"/>
          </p:cNvSpPr>
          <p:nvPr/>
        </p:nvSpPr>
        <p:spPr>
          <a:xfrm xmlns:a="http://schemas.openxmlformats.org/drawingml/2006/main">
            <a:off x="7334250" y="2609850"/>
            <a:ext cx="1028700" cy="800100"/>
          </a:xfrm>
          <a:prstGeom xmlns:a="http://schemas.openxmlformats.org/drawingml/2006/main" prst="roundRect">
            <a:avLst>
              <a:gd name="adj" fmla="val 11905"/>
            </a:avLst>
          </a:prstGeom>
          <a:solidFill xmlns:a="http://schemas.openxmlformats.org/drawingml/2006/main">
            <a:srgbClr val="315EFB"/>
          </a:solidFill>
          <a:ln xmlns:a="http://schemas.openxmlformats.org/drawingml/2006/main" w="0">
            <a:noFill/>
            <a:prstDash val="solid"/>
          </a:ln>
        </p:spPr>
      </p:sp>
      <p:sp>
        <p:nvSpPr>
          <p:cNvPr id="18" name="text-113">
            <a:extLst xmlns:a="http://schemas.openxmlformats.org/drawingml/2006/main">
              <a:ext uri="{FF2B5EF4-FFF2-40B4-BE49-F238E27FC236}">
                <a16:creationId xmlns:a16="http://schemas.microsoft.com/office/drawing/2014/main" id="{4BB74376-286A-4080-947B-D557D9910E8F}"/>
              </a:ext>
            </a:extLst>
          </p:cNvPr>
          <p:cNvSpPr>
            <a:spLocks xmlns:a="http://schemas.openxmlformats.org/drawingml/2006/main" noGrp="1"/>
          </p:cNvSpPr>
          <p:nvPr/>
        </p:nvSpPr>
        <p:spPr>
          <a:xfrm xmlns:a="http://schemas.openxmlformats.org/drawingml/2006/main">
            <a:off x="7334250" y="28384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5000"/>
              </a:lnSpc>
              <a:buNone/>
              <a:defRPr sz="1350" b="1" i="0">
                <a:solidFill>
                  <a:srgbClr val="FFFEFA"/>
                </a:solidFill>
              </a:defRPr>
            </a:pPr>
            <a:r>
              <a:rPr sz="1350" b="1" i="0">
                <a:solidFill>
                  <a:srgbClr val="FFFEFA"/>
                </a:solidFill>
              </a:rPr>
              <a:t>active</a:t>
            </a:r>
          </a:p>
        </p:txBody>
      </p:sp>
      <p:sp>
        <p:nvSpPr>
          <p:cNvPr id="19" name="shape-114">
            <a:extLst xmlns:a="http://schemas.openxmlformats.org/drawingml/2006/main">
              <a:ext uri="{FF2B5EF4-FFF2-40B4-BE49-F238E27FC236}">
                <a16:creationId xmlns:a16="http://schemas.microsoft.com/office/drawing/2014/main" id="{ADDC1F77-EBEF-4680-86F1-E95D25D70367}"/>
              </a:ext>
            </a:extLst>
          </p:cNvPr>
          <p:cNvSpPr>
            <a:spLocks xmlns:a="http://schemas.openxmlformats.org/drawingml/2006/main" noGrp="1"/>
          </p:cNvSpPr>
          <p:nvPr/>
        </p:nvSpPr>
        <p:spPr>
          <a:xfrm xmlns:a="http://schemas.openxmlformats.org/drawingml/2006/main">
            <a:off x="8629650" y="2609850"/>
            <a:ext cx="1028700" cy="800100"/>
          </a:xfrm>
          <a:prstGeom xmlns:a="http://schemas.openxmlformats.org/drawingml/2006/main" prst="roundRect">
            <a:avLst>
              <a:gd name="adj" fmla="val 11905"/>
            </a:avLst>
          </a:prstGeom>
          <a:solidFill xmlns:a="http://schemas.openxmlformats.org/drawingml/2006/main">
            <a:srgbClr val="315EFB"/>
          </a:solidFill>
          <a:ln xmlns:a="http://schemas.openxmlformats.org/drawingml/2006/main" w="0">
            <a:noFill/>
            <a:prstDash val="solid"/>
          </a:ln>
        </p:spPr>
      </p:sp>
      <p:sp>
        <p:nvSpPr>
          <p:cNvPr id="20" name="text-115">
            <a:extLst xmlns:a="http://schemas.openxmlformats.org/drawingml/2006/main">
              <a:ext uri="{FF2B5EF4-FFF2-40B4-BE49-F238E27FC236}">
                <a16:creationId xmlns:a16="http://schemas.microsoft.com/office/drawing/2014/main" id="{12F5D5A2-973A-4B33-8215-8C24EADFDF17}"/>
              </a:ext>
            </a:extLst>
          </p:cNvPr>
          <p:cNvSpPr>
            <a:spLocks xmlns:a="http://schemas.openxmlformats.org/drawingml/2006/main" noGrp="1"/>
          </p:cNvSpPr>
          <p:nvPr/>
        </p:nvSpPr>
        <p:spPr>
          <a:xfrm xmlns:a="http://schemas.openxmlformats.org/drawingml/2006/main">
            <a:off x="8629650" y="28384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5000"/>
              </a:lnSpc>
              <a:buNone/>
              <a:defRPr sz="1350" b="1" i="0">
                <a:solidFill>
                  <a:srgbClr val="FFFEFA"/>
                </a:solidFill>
              </a:defRPr>
            </a:pPr>
            <a:r>
              <a:rPr sz="1350" b="1" i="0">
                <a:solidFill>
                  <a:srgbClr val="FFFEFA"/>
                </a:solidFill>
              </a:rPr>
              <a:t>active</a:t>
            </a:r>
          </a:p>
        </p:txBody>
      </p:sp>
      <p:sp>
        <p:nvSpPr>
          <p:cNvPr id="21" name="shape-116">
            <a:extLst xmlns:a="http://schemas.openxmlformats.org/drawingml/2006/main">
              <a:ext uri="{FF2B5EF4-FFF2-40B4-BE49-F238E27FC236}">
                <a16:creationId xmlns:a16="http://schemas.microsoft.com/office/drawing/2014/main" id="{AC6D00C8-0D9C-4142-AC42-44BB2CD67BFD}"/>
              </a:ext>
            </a:extLst>
          </p:cNvPr>
          <p:cNvSpPr>
            <a:spLocks xmlns:a="http://schemas.openxmlformats.org/drawingml/2006/main" noGrp="1"/>
          </p:cNvSpPr>
          <p:nvPr/>
        </p:nvSpPr>
        <p:spPr>
          <a:xfrm xmlns:a="http://schemas.openxmlformats.org/drawingml/2006/main">
            <a:off x="9925050" y="2609850"/>
            <a:ext cx="1028700" cy="800100"/>
          </a:xfrm>
          <a:prstGeom xmlns:a="http://schemas.openxmlformats.org/drawingml/2006/main" prst="roundRect">
            <a:avLst>
              <a:gd name="adj" fmla="val 11905"/>
            </a:avLst>
          </a:prstGeom>
          <a:solidFill xmlns:a="http://schemas.openxmlformats.org/drawingml/2006/main">
            <a:srgbClr val="D8D4CB"/>
          </a:solidFill>
          <a:ln xmlns:a="http://schemas.openxmlformats.org/drawingml/2006/main" w="0">
            <a:noFill/>
            <a:prstDash val="solid"/>
          </a:ln>
        </p:spPr>
      </p:sp>
      <p:sp>
        <p:nvSpPr>
          <p:cNvPr id="22" name="text-117">
            <a:extLst xmlns:a="http://schemas.openxmlformats.org/drawingml/2006/main">
              <a:ext uri="{FF2B5EF4-FFF2-40B4-BE49-F238E27FC236}">
                <a16:creationId xmlns:a16="http://schemas.microsoft.com/office/drawing/2014/main" id="{3887DDDA-6064-4C2F-80A3-C41800E27C6B}"/>
              </a:ext>
            </a:extLst>
          </p:cNvPr>
          <p:cNvSpPr>
            <a:spLocks xmlns:a="http://schemas.openxmlformats.org/drawingml/2006/main" noGrp="1"/>
          </p:cNvSpPr>
          <p:nvPr/>
        </p:nvSpPr>
        <p:spPr>
          <a:xfrm xmlns:a="http://schemas.openxmlformats.org/drawingml/2006/main">
            <a:off x="9925050" y="28384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5000"/>
              </a:lnSpc>
              <a:buNone/>
              <a:defRPr sz="1350" b="1" i="0">
                <a:solidFill>
                  <a:srgbClr val="6F716E"/>
                </a:solidFill>
              </a:defRPr>
            </a:pPr>
            <a:r>
              <a:rPr sz="1350" b="1" i="0">
                <a:solidFill>
                  <a:srgbClr val="6F716E"/>
                </a:solidFill>
              </a:rPr>
              <a:t>noise</a:t>
            </a:r>
          </a:p>
        </p:txBody>
      </p:sp>
      <p:sp>
        <p:nvSpPr>
          <p:cNvPr id="23" name="shape-118">
            <a:extLst xmlns:a="http://schemas.openxmlformats.org/drawingml/2006/main">
              <a:ext uri="{FF2B5EF4-FFF2-40B4-BE49-F238E27FC236}">
                <a16:creationId xmlns:a16="http://schemas.microsoft.com/office/drawing/2014/main" id="{11D96290-CF4D-4D1B-9BA3-EC5640502A09}"/>
              </a:ext>
            </a:extLst>
          </p:cNvPr>
          <p:cNvSpPr>
            <a:spLocks xmlns:a="http://schemas.openxmlformats.org/drawingml/2006/main" noGrp="1"/>
          </p:cNvSpPr>
          <p:nvPr/>
        </p:nvSpPr>
        <p:spPr>
          <a:xfrm xmlns:a="http://schemas.openxmlformats.org/drawingml/2006/main">
            <a:off x="5772150" y="3600450"/>
            <a:ext cx="3619500" cy="38100"/>
          </a:xfrm>
          <a:prstGeom xmlns:a="http://schemas.openxmlformats.org/drawingml/2006/main" prst="rect">
            <a:avLst/>
          </a:prstGeom>
          <a:solidFill xmlns:a="http://schemas.openxmlformats.org/drawingml/2006/main">
            <a:srgbClr val="315EFB"/>
          </a:solidFill>
          <a:ln xmlns:a="http://schemas.openxmlformats.org/drawingml/2006/main" w="0">
            <a:noFill/>
            <a:prstDash val="solid"/>
          </a:ln>
        </p:spPr>
      </p:sp>
      <p:sp>
        <p:nvSpPr>
          <p:cNvPr id="24" name="text-119">
            <a:extLst xmlns:a="http://schemas.openxmlformats.org/drawingml/2006/main">
              <a:ext uri="{FF2B5EF4-FFF2-40B4-BE49-F238E27FC236}">
                <a16:creationId xmlns:a16="http://schemas.microsoft.com/office/drawing/2014/main" id="{737422B6-7B94-4D6A-A275-A626FC77CACF}"/>
              </a:ext>
            </a:extLst>
          </p:cNvPr>
          <p:cNvSpPr>
            <a:spLocks xmlns:a="http://schemas.openxmlformats.org/drawingml/2006/main" noGrp="1"/>
          </p:cNvSpPr>
          <p:nvPr/>
        </p:nvSpPr>
        <p:spPr>
          <a:xfrm xmlns:a="http://schemas.openxmlformats.org/drawingml/2006/main">
            <a:off x="6438900" y="37528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05000"/>
              </a:lnSpc>
              <a:buNone/>
              <a:defRPr sz="1350" b="1" i="0">
                <a:solidFill>
                  <a:srgbClr val="315EFB"/>
                </a:solidFill>
              </a:defRPr>
            </a:pPr>
            <a:r>
              <a:rPr sz="1350" b="1" i="0">
                <a:solidFill>
                  <a:srgbClr val="315EFB"/>
                </a:solidFill>
              </a:rPr>
              <a:t>online DiT compute</a:t>
            </a:r>
          </a:p>
        </p:txBody>
      </p:sp>
      <p:sp>
        <p:nvSpPr>
          <p:cNvPr id="25" name="shape-120">
            <a:extLst xmlns:a="http://schemas.openxmlformats.org/drawingml/2006/main">
              <a:ext uri="{FF2B5EF4-FFF2-40B4-BE49-F238E27FC236}">
                <a16:creationId xmlns:a16="http://schemas.microsoft.com/office/drawing/2014/main" id="{C61E17F4-D1F7-45E4-BAF0-DD1600C185D9}"/>
              </a:ext>
            </a:extLst>
          </p:cNvPr>
          <p:cNvSpPr>
            <a:spLocks xmlns:a="http://schemas.openxmlformats.org/drawingml/2006/main" noGrp="1"/>
          </p:cNvSpPr>
          <p:nvPr/>
        </p:nvSpPr>
        <p:spPr>
          <a:xfrm xmlns:a="http://schemas.openxmlformats.org/drawingml/2006/main">
            <a:off x="971550" y="4476750"/>
            <a:ext cx="47625" cy="685800"/>
          </a:xfrm>
          <a:prstGeom xmlns:a="http://schemas.openxmlformats.org/drawingml/2006/main" prst="rect">
            <a:avLst/>
          </a:prstGeom>
          <a:solidFill xmlns:a="http://schemas.openxmlformats.org/drawingml/2006/main">
            <a:srgbClr val="257B69"/>
          </a:solidFill>
          <a:ln xmlns:a="http://schemas.openxmlformats.org/drawingml/2006/main" w="0">
            <a:noFill/>
            <a:prstDash val="solid"/>
          </a:ln>
        </p:spPr>
      </p:sp>
      <p:sp>
        <p:nvSpPr>
          <p:cNvPr id="26" name="text-121">
            <a:extLst xmlns:a="http://schemas.openxmlformats.org/drawingml/2006/main">
              <a:ext uri="{FF2B5EF4-FFF2-40B4-BE49-F238E27FC236}">
                <a16:creationId xmlns:a16="http://schemas.microsoft.com/office/drawing/2014/main" id="{CBB162F6-E370-4CE9-889B-2EA4A4EB67FB}"/>
              </a:ext>
            </a:extLst>
          </p:cNvPr>
          <p:cNvSpPr>
            <a:spLocks xmlns:a="http://schemas.openxmlformats.org/drawingml/2006/main" noGrp="1"/>
          </p:cNvSpPr>
          <p:nvPr/>
        </p:nvSpPr>
        <p:spPr>
          <a:xfrm xmlns:a="http://schemas.openxmlformats.org/drawingml/2006/main">
            <a:off x="1200150" y="4438650"/>
            <a:ext cx="4248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5000"/>
              </a:lnSpc>
              <a:buNone/>
              <a:defRPr sz="2025" b="1" i="0">
                <a:solidFill>
                  <a:srgbClr val="171717"/>
                </a:solidFill>
              </a:defRPr>
            </a:pPr>
            <a:r>
              <a:rPr sz="2025" b="1" i="0">
                <a:solidFill>
                  <a:srgbClr val="171717"/>
                </a:solidFill>
              </a:rPr>
              <a:t>Finished chunks are frozen and reused.</a:t>
            </a:r>
          </a:p>
        </p:txBody>
      </p:sp>
      <p:sp>
        <p:nvSpPr>
          <p:cNvPr id="27" name="shape-122">
            <a:extLst xmlns:a="http://schemas.openxmlformats.org/drawingml/2006/main">
              <a:ext uri="{FF2B5EF4-FFF2-40B4-BE49-F238E27FC236}">
                <a16:creationId xmlns:a16="http://schemas.microsoft.com/office/drawing/2014/main" id="{72FD3F48-CE42-410B-828E-DA69BD78F2E0}"/>
              </a:ext>
            </a:extLst>
          </p:cNvPr>
          <p:cNvSpPr>
            <a:spLocks xmlns:a="http://schemas.openxmlformats.org/drawingml/2006/main" noGrp="1"/>
          </p:cNvSpPr>
          <p:nvPr/>
        </p:nvSpPr>
        <p:spPr>
          <a:xfrm xmlns:a="http://schemas.openxmlformats.org/drawingml/2006/main">
            <a:off x="6286500" y="4476750"/>
            <a:ext cx="47625" cy="685800"/>
          </a:xfrm>
          <a:prstGeom xmlns:a="http://schemas.openxmlformats.org/drawingml/2006/main" prst="rect">
            <a:avLst/>
          </a:prstGeom>
          <a:solidFill xmlns:a="http://schemas.openxmlformats.org/drawingml/2006/main">
            <a:srgbClr val="315EFB"/>
          </a:solidFill>
          <a:ln xmlns:a="http://schemas.openxmlformats.org/drawingml/2006/main" w="0">
            <a:noFill/>
            <a:prstDash val="solid"/>
          </a:ln>
        </p:spPr>
      </p:sp>
      <p:sp>
        <p:nvSpPr>
          <p:cNvPr id="28" name="text-123">
            <a:extLst xmlns:a="http://schemas.openxmlformats.org/drawingml/2006/main">
              <a:ext uri="{FF2B5EF4-FFF2-40B4-BE49-F238E27FC236}">
                <a16:creationId xmlns:a16="http://schemas.microsoft.com/office/drawing/2014/main" id="{A397D090-5853-40F8-BAEB-D19EAB456FEB}"/>
              </a:ext>
            </a:extLst>
          </p:cNvPr>
          <p:cNvSpPr>
            <a:spLocks xmlns:a="http://schemas.openxmlformats.org/drawingml/2006/main" noGrp="1"/>
          </p:cNvSpPr>
          <p:nvPr/>
        </p:nvSpPr>
        <p:spPr>
          <a:xfrm xmlns:a="http://schemas.openxmlformats.org/drawingml/2006/main">
            <a:off x="6515100" y="4438650"/>
            <a:ext cx="4533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5000"/>
              </a:lnSpc>
              <a:buNone/>
              <a:defRPr sz="2025" b="1" i="0">
                <a:solidFill>
                  <a:srgbClr val="171717"/>
                </a:solidFill>
              </a:defRPr>
            </a:pPr>
            <a:r>
              <a:rPr sz="2025" b="1" i="0">
                <a:solidFill>
                  <a:srgbClr val="171717"/>
                </a:solidFill>
              </a:rPr>
              <a:t>Only a bounded in-flight window keeps denoising.</a:t>
            </a:r>
          </a:p>
        </p:txBody>
      </p:sp>
      <p:sp>
        <p:nvSpPr>
          <p:cNvPr id="29" name="text-124">
            <a:extLst xmlns:a="http://schemas.openxmlformats.org/drawingml/2006/main">
              <a:ext uri="{FF2B5EF4-FFF2-40B4-BE49-F238E27FC236}">
                <a16:creationId xmlns:a16="http://schemas.microsoft.com/office/drawing/2014/main" id="{59BD8449-76A9-4AF6-B66D-6E49851A6F5C}"/>
              </a:ext>
            </a:extLst>
          </p:cNvPr>
          <p:cNvSpPr>
            <a:spLocks xmlns:a="http://schemas.openxmlformats.org/drawingml/2006/main" noGrp="1"/>
          </p:cNvSpPr>
          <p:nvPr/>
        </p:nvSpPr>
        <p:spPr>
          <a:xfrm xmlns:a="http://schemas.openxmlformats.org/drawingml/2006/main">
            <a:off x="2266950" y="5467350"/>
            <a:ext cx="781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05000"/>
              </a:lnSpc>
              <a:buNone/>
              <a:defRPr sz="1575" b="0" i="0">
                <a:solidFill>
                  <a:srgbClr val="6F716E"/>
                </a:solidFill>
              </a:defRPr>
            </a:pPr>
            <a:r>
              <a:rPr sz="1575" b="0" i="0">
                <a:solidFill>
                  <a:srgbClr val="6F716E"/>
                </a:solidFill>
              </a:rPr>
              <a:t>RoPE re-shifting keeps retained keys inside the trained position range after eviction.</a:t>
            </a:r>
          </a:p>
        </p:txBody>
      </p:sp>
    </p:spTree>
    <p:extLst>
      <p:ext uri="{BB962C8B-B14F-4D97-AF65-F5344CB8AC3E}">
        <p14:creationId xmlns:p14="http://schemas.microsoft.com/office/powerpoint/2010/main" val="848476271"/>
      </p:ext>
    </p:extLst>
  </p:cSld>
</p:sld>
</file>

<file path=ppt/slides/slide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8" name="text-125">
            <a:extLst xmlns:a="http://schemas.openxmlformats.org/drawingml/2006/main">
              <a:ext uri="{FF2B5EF4-FFF2-40B4-BE49-F238E27FC236}">
                <a16:creationId xmlns:a16="http://schemas.microsoft.com/office/drawing/2014/main" id="{E7AD1C63-747C-4F6D-8B7A-3400364938B4}"/>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i="0">
                <a:solidFill>
                  <a:srgbClr val="315EFB"/>
                </a:solidFill>
              </a:defRPr>
            </a:pPr>
            <a:r>
              <a:rPr sz="1200" b="1" i="0">
                <a:solidFill>
                  <a:srgbClr val="315EFB"/>
                </a:solidFill>
              </a:rPr>
              <a:t>EVALUATION</a:t>
            </a:r>
          </a:p>
        </p:txBody>
      </p:sp>
      <p:sp>
        <p:nvSpPr>
          <p:cNvPr id="2" name="shape-126">
            <a:extLst xmlns:a="http://schemas.openxmlformats.org/drawingml/2006/main">
              <a:ext uri="{FF2B5EF4-FFF2-40B4-BE49-F238E27FC236}">
                <a16:creationId xmlns:a16="http://schemas.microsoft.com/office/drawing/2014/main" id="{404F1497-B9E5-475A-8A74-53D3769A4FDD}"/>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D8D4CB"/>
          </a:solidFill>
          <a:ln xmlns:a="http://schemas.openxmlformats.org/drawingml/2006/main" w="0">
            <a:noFill/>
            <a:prstDash val="solid"/>
          </a:ln>
        </p:spPr>
      </p:sp>
      <p:sp>
        <p:nvSpPr>
          <p:cNvPr id="3" name="text-127">
            <a:extLst xmlns:a="http://schemas.openxmlformats.org/drawingml/2006/main">
              <a:ext uri="{FF2B5EF4-FFF2-40B4-BE49-F238E27FC236}">
                <a16:creationId xmlns:a16="http://schemas.microsoft.com/office/drawing/2014/main" id="{C8B92A30-8F66-4910-B152-2CA94780D7A7}"/>
              </a:ext>
            </a:extLst>
          </p:cNvPr>
          <p:cNvSpPr>
            <a:spLocks xmlns:a="http://schemas.openxmlformats.org/drawingml/2006/main" noGrp="1"/>
          </p:cNvSpPr>
          <p:nvPr/>
        </p:nvSpPr>
        <p:spPr>
          <a:xfrm xmlns:a="http://schemas.openxmlformats.org/drawingml/2006/main">
            <a:off x="685800" y="6496050"/>
            <a:ext cx="876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0" i="0">
                <a:solidFill>
                  <a:srgbClr val="6F716E"/>
                </a:solidFill>
              </a:defRPr>
            </a:pPr>
            <a:r>
              <a:rPr sz="1200" b="0" i="0">
                <a:solidFill>
                  <a:srgbClr val="6F716E"/>
                </a:solidFill>
              </a:rPr>
              <a:t>Paper §4.1 · pp. 9-10</a:t>
            </a:r>
          </a:p>
        </p:txBody>
      </p:sp>
      <p:sp>
        <p:nvSpPr>
          <p:cNvPr id="4" name="text-128">
            <a:extLst xmlns:a="http://schemas.openxmlformats.org/drawingml/2006/main">
              <a:ext uri="{FF2B5EF4-FFF2-40B4-BE49-F238E27FC236}">
                <a16:creationId xmlns:a16="http://schemas.microsoft.com/office/drawing/2014/main" id="{022B5A19-F650-4B60-B567-230A5BD74534}"/>
              </a:ext>
            </a:extLst>
          </p:cNvPr>
          <p:cNvSpPr>
            <a:spLocks xmlns:a="http://schemas.openxmlformats.org/drawingml/2006/main" noGrp="1"/>
          </p:cNvSpPr>
          <p:nvPr/>
        </p:nvSpPr>
        <p:spPr>
          <a:xfrm xmlns:a="http://schemas.openxmlformats.org/drawingml/2006/main">
            <a:off x="10839450" y="64770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05000"/>
              </a:lnSpc>
              <a:buNone/>
              <a:defRPr sz="1200" b="1" i="0">
                <a:solidFill>
                  <a:srgbClr val="6F716E"/>
                </a:solidFill>
              </a:defRPr>
            </a:pPr>
            <a:r>
              <a:rPr sz="1200" b="1" i="0">
                <a:solidFill>
                  <a:srgbClr val="6F716E"/>
                </a:solidFill>
              </a:rPr>
              <a:t>07</a:t>
            </a:r>
          </a:p>
        </p:txBody>
      </p:sp>
      <p:sp>
        <p:nvSpPr>
          <p:cNvPr id="5" name="text-129">
            <a:extLst xmlns:a="http://schemas.openxmlformats.org/drawingml/2006/main">
              <a:ext uri="{FF2B5EF4-FFF2-40B4-BE49-F238E27FC236}">
                <a16:creationId xmlns:a16="http://schemas.microsoft.com/office/drawing/2014/main" id="{32615160-0333-4186-83AA-4A72D579042F}"/>
              </a:ext>
            </a:extLst>
          </p:cNvPr>
          <p:cNvSpPr>
            <a:spLocks xmlns:a="http://schemas.openxmlformats.org/drawingml/2006/main" noGrp="1"/>
          </p:cNvSpPr>
          <p:nvPr/>
        </p:nvSpPr>
        <p:spPr>
          <a:xfrm xmlns:a="http://schemas.openxmlformats.org/drawingml/2006/main">
            <a:off x="685800" y="10668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95000"/>
              </a:lnSpc>
              <a:buNone/>
              <a:defRPr sz="3600" b="1" i="0">
                <a:solidFill>
                  <a:srgbClr val="171717"/>
                </a:solidFill>
              </a:defRPr>
            </a:pPr>
            <a:r>
              <a:rPr sz="3600" b="1" i="0">
                <a:solidFill>
                  <a:srgbClr val="171717"/>
                </a:solidFill>
              </a:rPr>
              <a:t>Test action and camera-conditioned dynamics</a:t>
            </a:r>
          </a:p>
        </p:txBody>
      </p:sp>
      <p:sp>
        <p:nvSpPr>
          <p:cNvPr id="6" name="shape-130">
            <a:extLst xmlns:a="http://schemas.openxmlformats.org/drawingml/2006/main">
              <a:ext uri="{FF2B5EF4-FFF2-40B4-BE49-F238E27FC236}">
                <a16:creationId xmlns:a16="http://schemas.microsoft.com/office/drawing/2014/main" id="{7BCC7309-C315-48F3-A20E-7B9981216068}"/>
              </a:ext>
            </a:extLst>
          </p:cNvPr>
          <p:cNvSpPr>
            <a:spLocks xmlns:a="http://schemas.openxmlformats.org/drawingml/2006/main" noGrp="1"/>
          </p:cNvSpPr>
          <p:nvPr/>
        </p:nvSpPr>
        <p:spPr>
          <a:xfrm xmlns:a="http://schemas.openxmlformats.org/drawingml/2006/main">
            <a:off x="6096000" y="2133600"/>
            <a:ext cx="19050" cy="3105150"/>
          </a:xfrm>
          <a:prstGeom xmlns:a="http://schemas.openxmlformats.org/drawingml/2006/main" prst="rect">
            <a:avLst/>
          </a:prstGeom>
          <a:solidFill xmlns:a="http://schemas.openxmlformats.org/drawingml/2006/main">
            <a:srgbClr val="D8D4CB"/>
          </a:solidFill>
          <a:ln xmlns:a="http://schemas.openxmlformats.org/drawingml/2006/main" w="0">
            <a:noFill/>
            <a:prstDash val="solid"/>
          </a:ln>
        </p:spPr>
      </p:sp>
      <p:sp>
        <p:nvSpPr>
          <p:cNvPr id="7" name="text-131">
            <a:extLst xmlns:a="http://schemas.openxmlformats.org/drawingml/2006/main">
              <a:ext uri="{FF2B5EF4-FFF2-40B4-BE49-F238E27FC236}">
                <a16:creationId xmlns:a16="http://schemas.microsoft.com/office/drawing/2014/main" id="{74649060-C15B-44F3-88F2-7A700C24F779}"/>
              </a:ext>
            </a:extLst>
          </p:cNvPr>
          <p:cNvSpPr>
            <a:spLocks xmlns:a="http://schemas.openxmlformats.org/drawingml/2006/main" noGrp="1"/>
          </p:cNvSpPr>
          <p:nvPr/>
        </p:nvSpPr>
        <p:spPr>
          <a:xfrm xmlns:a="http://schemas.openxmlformats.org/drawingml/2006/main">
            <a:off x="952500" y="2190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i="0">
                <a:solidFill>
                  <a:srgbClr val="315EFB"/>
                </a:solidFill>
              </a:defRPr>
            </a:pPr>
            <a:r>
              <a:rPr sz="1200" b="1" i="0">
                <a:solidFill>
                  <a:srgbClr val="315EFB"/>
                </a:solidFill>
              </a:rPr>
              <a:t>DROID</a:t>
            </a:r>
          </a:p>
        </p:txBody>
      </p:sp>
      <p:sp>
        <p:nvSpPr>
          <p:cNvPr id="8" name="text-132">
            <a:extLst xmlns:a="http://schemas.openxmlformats.org/drawingml/2006/main">
              <a:ext uri="{FF2B5EF4-FFF2-40B4-BE49-F238E27FC236}">
                <a16:creationId xmlns:a16="http://schemas.microsoft.com/office/drawing/2014/main" id="{28034558-E0D9-406B-AB06-A3852B288048}"/>
              </a:ext>
            </a:extLst>
          </p:cNvPr>
          <p:cNvSpPr>
            <a:spLocks xmlns:a="http://schemas.openxmlformats.org/drawingml/2006/main" noGrp="1"/>
          </p:cNvSpPr>
          <p:nvPr/>
        </p:nvSpPr>
        <p:spPr>
          <a:xfrm xmlns:a="http://schemas.openxmlformats.org/drawingml/2006/main">
            <a:off x="952500" y="25717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2400" b="1" i="0">
                <a:solidFill>
                  <a:srgbClr val="171717"/>
                </a:solidFill>
              </a:defRPr>
            </a:pPr>
            <a:r>
              <a:rPr sz="2400" b="1" i="0">
                <a:solidFill>
                  <a:srgbClr val="171717"/>
                </a:solidFill>
              </a:rPr>
              <a:t>Robot manipulation</a:t>
            </a:r>
          </a:p>
        </p:txBody>
      </p:sp>
      <p:sp>
        <p:nvSpPr>
          <p:cNvPr id="9" name="text-133">
            <a:extLst xmlns:a="http://schemas.openxmlformats.org/drawingml/2006/main">
              <a:ext uri="{FF2B5EF4-FFF2-40B4-BE49-F238E27FC236}">
                <a16:creationId xmlns:a16="http://schemas.microsoft.com/office/drawing/2014/main" id="{45668482-499D-405D-A0F1-A7B90C2AF455}"/>
              </a:ext>
            </a:extLst>
          </p:cNvPr>
          <p:cNvSpPr>
            <a:spLocks xmlns:a="http://schemas.openxmlformats.org/drawingml/2006/main" noGrp="1"/>
          </p:cNvSpPr>
          <p:nvPr/>
        </p:nvSpPr>
        <p:spPr>
          <a:xfrm xmlns:a="http://schemas.openxmlformats.org/drawingml/2006/main">
            <a:off x="952500" y="3162300"/>
            <a:ext cx="40957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8000"/>
              </a:lnSpc>
              <a:buNone/>
              <a:defRPr sz="1800" b="0" i="0">
                <a:solidFill>
                  <a:srgbClr val="6F716E"/>
                </a:solidFill>
              </a:defRPr>
            </a:pPr>
            <a:r>
              <a:rPr sz="1800" b="0" i="0">
                <a:solidFill>
                  <a:srgbClr val="6F716E"/>
                </a:solidFill>
              </a:rPr>
              <a:t>7-D end-effector + gripper control</a:t>
            </a:r>
          </a:p>
          <a:p xmlns:a="http://schemas.openxmlformats.org/drawingml/2006/main">
            <a:pPr algn="l">
              <a:lnSpc>
                <a:spcPct val="118000"/>
              </a:lnSpc>
              <a:buNone/>
              <a:defRPr sz="1800" b="0" i="0">
                <a:solidFill>
                  <a:srgbClr val="6F716E"/>
                </a:solidFill>
              </a:defRPr>
            </a:pPr>
            <a:r>
              <a:rPr sz="1800" b="0" i="0">
                <a:solidFill>
                  <a:srgbClr val="6F716E"/>
                </a:solidFill>
              </a:rPr>
              <a:t>Single observed frame</a:t>
            </a:r>
          </a:p>
          <a:p xmlns:a="http://schemas.openxmlformats.org/drawingml/2006/main">
            <a:pPr algn="l">
              <a:lnSpc>
                <a:spcPct val="118000"/>
              </a:lnSpc>
              <a:buNone/>
              <a:defRPr sz="1800" b="0" i="0">
                <a:solidFill>
                  <a:srgbClr val="6F716E"/>
                </a:solidFill>
              </a:defRPr>
            </a:pPr>
            <a:r>
              <a:rPr sz="1800" b="0" i="0">
                <a:solidFill>
                  <a:srgbClr val="6F716E"/>
                </a:solidFill>
              </a:rPr>
              <a:t>253-frame streaming rollout</a:t>
            </a:r>
          </a:p>
        </p:txBody>
      </p:sp>
      <p:sp>
        <p:nvSpPr>
          <p:cNvPr id="10" name="shape-134">
            <a:extLst xmlns:a="http://schemas.openxmlformats.org/drawingml/2006/main">
              <a:ext uri="{FF2B5EF4-FFF2-40B4-BE49-F238E27FC236}">
                <a16:creationId xmlns:a16="http://schemas.microsoft.com/office/drawing/2014/main" id="{31976BEB-5B4B-4F04-BED9-BF74C3C0BBE6}"/>
              </a:ext>
            </a:extLst>
          </p:cNvPr>
          <p:cNvSpPr>
            <a:spLocks xmlns:a="http://schemas.openxmlformats.org/drawingml/2006/main" noGrp="1"/>
          </p:cNvSpPr>
          <p:nvPr/>
        </p:nvSpPr>
        <p:spPr>
          <a:xfrm xmlns:a="http://schemas.openxmlformats.org/drawingml/2006/main">
            <a:off x="952500" y="4800600"/>
            <a:ext cx="47625" cy="609600"/>
          </a:xfrm>
          <a:prstGeom xmlns:a="http://schemas.openxmlformats.org/drawingml/2006/main" prst="rect">
            <a:avLst/>
          </a:prstGeom>
          <a:solidFill xmlns:a="http://schemas.openxmlformats.org/drawingml/2006/main">
            <a:srgbClr val="315EFB"/>
          </a:solidFill>
          <a:ln xmlns:a="http://schemas.openxmlformats.org/drawingml/2006/main" w="0">
            <a:noFill/>
            <a:prstDash val="solid"/>
          </a:ln>
        </p:spPr>
      </p:sp>
      <p:sp>
        <p:nvSpPr>
          <p:cNvPr id="11" name="text-135">
            <a:extLst xmlns:a="http://schemas.openxmlformats.org/drawingml/2006/main">
              <a:ext uri="{FF2B5EF4-FFF2-40B4-BE49-F238E27FC236}">
                <a16:creationId xmlns:a16="http://schemas.microsoft.com/office/drawing/2014/main" id="{39E9E6BF-AE36-4EE0-96BE-B79BADE568C7}"/>
              </a:ext>
            </a:extLst>
          </p:cNvPr>
          <p:cNvSpPr>
            <a:spLocks xmlns:a="http://schemas.openxmlformats.org/drawingml/2006/main" noGrp="1"/>
          </p:cNvSpPr>
          <p:nvPr/>
        </p:nvSpPr>
        <p:spPr>
          <a:xfrm xmlns:a="http://schemas.openxmlformats.org/drawingml/2006/main">
            <a:off x="1181100" y="4762500"/>
            <a:ext cx="3867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5000"/>
              </a:lnSpc>
              <a:buNone/>
              <a:defRPr sz="1725" b="1" i="0">
                <a:solidFill>
                  <a:srgbClr val="171717"/>
                </a:solidFill>
              </a:defRPr>
            </a:pPr>
            <a:r>
              <a:rPr sz="1725" b="1" i="0">
                <a:solidFill>
                  <a:srgbClr val="171717"/>
                </a:solidFill>
              </a:rPr>
              <a:t>Does geometry and action consistency survive autoregression?</a:t>
            </a:r>
          </a:p>
        </p:txBody>
      </p:sp>
      <p:sp>
        <p:nvSpPr>
          <p:cNvPr id="12" name="text-136">
            <a:extLst xmlns:a="http://schemas.openxmlformats.org/drawingml/2006/main">
              <a:ext uri="{FF2B5EF4-FFF2-40B4-BE49-F238E27FC236}">
                <a16:creationId xmlns:a16="http://schemas.microsoft.com/office/drawing/2014/main" id="{F35D8A80-ACB6-4CE3-812A-25A130572BB7}"/>
              </a:ext>
            </a:extLst>
          </p:cNvPr>
          <p:cNvSpPr>
            <a:spLocks xmlns:a="http://schemas.openxmlformats.org/drawingml/2006/main" noGrp="1"/>
          </p:cNvSpPr>
          <p:nvPr/>
        </p:nvSpPr>
        <p:spPr>
          <a:xfrm xmlns:a="http://schemas.openxmlformats.org/drawingml/2006/main">
            <a:off x="6858000" y="2190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i="0">
                <a:solidFill>
                  <a:srgbClr val="257B69"/>
                </a:solidFill>
              </a:defRPr>
            </a:pPr>
            <a:r>
              <a:rPr sz="1200" b="1" i="0">
                <a:solidFill>
                  <a:srgbClr val="257B69"/>
                </a:solidFill>
              </a:rPr>
              <a:t>REALESTATE10K</a:t>
            </a:r>
          </a:p>
        </p:txBody>
      </p:sp>
      <p:sp>
        <p:nvSpPr>
          <p:cNvPr id="13" name="text-137">
            <a:extLst xmlns:a="http://schemas.openxmlformats.org/drawingml/2006/main">
              <a:ext uri="{FF2B5EF4-FFF2-40B4-BE49-F238E27FC236}">
                <a16:creationId xmlns:a16="http://schemas.microsoft.com/office/drawing/2014/main" id="{10CABACC-600C-4C54-9DE4-55A6C13676A6}"/>
              </a:ext>
            </a:extLst>
          </p:cNvPr>
          <p:cNvSpPr>
            <a:spLocks xmlns:a="http://schemas.openxmlformats.org/drawingml/2006/main" noGrp="1"/>
          </p:cNvSpPr>
          <p:nvPr/>
        </p:nvSpPr>
        <p:spPr>
          <a:xfrm xmlns:a="http://schemas.openxmlformats.org/drawingml/2006/main">
            <a:off x="6858000" y="25717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2400" b="1" i="0">
                <a:solidFill>
                  <a:srgbClr val="171717"/>
                </a:solidFill>
              </a:defRPr>
            </a:pPr>
            <a:r>
              <a:rPr sz="2400" b="1" i="0">
                <a:solidFill>
                  <a:srgbClr val="171717"/>
                </a:solidFill>
              </a:rPr>
              <a:t>Camera-controlled scenes</a:t>
            </a:r>
          </a:p>
        </p:txBody>
      </p:sp>
      <p:sp>
        <p:nvSpPr>
          <p:cNvPr id="14" name="text-138">
            <a:extLst xmlns:a="http://schemas.openxmlformats.org/drawingml/2006/main">
              <a:ext uri="{FF2B5EF4-FFF2-40B4-BE49-F238E27FC236}">
                <a16:creationId xmlns:a16="http://schemas.microsoft.com/office/drawing/2014/main" id="{BCBAE6CB-ADD7-426D-BC7E-CEC2E6C77C90}"/>
              </a:ext>
            </a:extLst>
          </p:cNvPr>
          <p:cNvSpPr>
            <a:spLocks xmlns:a="http://schemas.openxmlformats.org/drawingml/2006/main" noGrp="1"/>
          </p:cNvSpPr>
          <p:nvPr/>
        </p:nvSpPr>
        <p:spPr>
          <a:xfrm xmlns:a="http://schemas.openxmlformats.org/drawingml/2006/main">
            <a:off x="6858000" y="3162300"/>
            <a:ext cx="40957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8000"/>
              </a:lnSpc>
              <a:buNone/>
              <a:defRPr sz="1800" b="0" i="0">
                <a:solidFill>
                  <a:srgbClr val="6F716E"/>
                </a:solidFill>
              </a:defRPr>
            </a:pPr>
            <a:r>
              <a:rPr sz="1800" b="0" i="0">
                <a:solidFill>
                  <a:srgbClr val="6F716E"/>
                </a:solidFill>
              </a:rPr>
              <a:t>Pose rays as spatial conditioning</a:t>
            </a:r>
          </a:p>
          <a:p xmlns:a="http://schemas.openxmlformats.org/drawingml/2006/main">
            <a:pPr algn="l">
              <a:lnSpc>
                <a:spcPct val="118000"/>
              </a:lnSpc>
              <a:buNone/>
              <a:defRPr sz="1800" b="0" i="0">
                <a:solidFill>
                  <a:srgbClr val="6F716E"/>
                </a:solidFill>
              </a:defRPr>
            </a:pPr>
            <a:r>
              <a:rPr sz="1800" b="0" i="0">
                <a:solidFill>
                  <a:srgbClr val="6F716E"/>
                </a:solidFill>
              </a:rPr>
              <a:t>Single observed frame</a:t>
            </a:r>
          </a:p>
          <a:p xmlns:a="http://schemas.openxmlformats.org/drawingml/2006/main">
            <a:pPr algn="l">
              <a:lnSpc>
                <a:spcPct val="118000"/>
              </a:lnSpc>
              <a:buNone/>
              <a:defRPr sz="1800" b="0" i="0">
                <a:solidFill>
                  <a:srgbClr val="6F716E"/>
                </a:solidFill>
              </a:defRPr>
            </a:pPr>
            <a:r>
              <a:rPr sz="1800" b="0" i="0">
                <a:solidFill>
                  <a:srgbClr val="6F716E"/>
                </a:solidFill>
              </a:rPr>
              <a:t>Same streaming architecture</a:t>
            </a:r>
          </a:p>
        </p:txBody>
      </p:sp>
      <p:sp>
        <p:nvSpPr>
          <p:cNvPr id="15" name="shape-139">
            <a:extLst xmlns:a="http://schemas.openxmlformats.org/drawingml/2006/main">
              <a:ext uri="{FF2B5EF4-FFF2-40B4-BE49-F238E27FC236}">
                <a16:creationId xmlns:a16="http://schemas.microsoft.com/office/drawing/2014/main" id="{E1D3ED28-8F89-4D62-9ABB-D1DD7BE517FF}"/>
              </a:ext>
            </a:extLst>
          </p:cNvPr>
          <p:cNvSpPr>
            <a:spLocks xmlns:a="http://schemas.openxmlformats.org/drawingml/2006/main" noGrp="1"/>
          </p:cNvSpPr>
          <p:nvPr/>
        </p:nvSpPr>
        <p:spPr>
          <a:xfrm xmlns:a="http://schemas.openxmlformats.org/drawingml/2006/main">
            <a:off x="6858000" y="4800600"/>
            <a:ext cx="47625" cy="609600"/>
          </a:xfrm>
          <a:prstGeom xmlns:a="http://schemas.openxmlformats.org/drawingml/2006/main" prst="rect">
            <a:avLst/>
          </a:prstGeom>
          <a:solidFill xmlns:a="http://schemas.openxmlformats.org/drawingml/2006/main">
            <a:srgbClr val="257B69"/>
          </a:solidFill>
          <a:ln xmlns:a="http://schemas.openxmlformats.org/drawingml/2006/main" w="0">
            <a:noFill/>
            <a:prstDash val="solid"/>
          </a:ln>
        </p:spPr>
      </p:sp>
      <p:sp>
        <p:nvSpPr>
          <p:cNvPr id="16" name="text-140">
            <a:extLst xmlns:a="http://schemas.openxmlformats.org/drawingml/2006/main">
              <a:ext uri="{FF2B5EF4-FFF2-40B4-BE49-F238E27FC236}">
                <a16:creationId xmlns:a16="http://schemas.microsoft.com/office/drawing/2014/main" id="{459E07F0-1046-49A3-8B7A-BF9F9096EBF5}"/>
              </a:ext>
            </a:extLst>
          </p:cNvPr>
          <p:cNvSpPr>
            <a:spLocks xmlns:a="http://schemas.openxmlformats.org/drawingml/2006/main" noGrp="1"/>
          </p:cNvSpPr>
          <p:nvPr/>
        </p:nvSpPr>
        <p:spPr>
          <a:xfrm xmlns:a="http://schemas.openxmlformats.org/drawingml/2006/main">
            <a:off x="7086600" y="4762500"/>
            <a:ext cx="3867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5000"/>
              </a:lnSpc>
              <a:buNone/>
              <a:defRPr sz="1725" b="1" i="0">
                <a:solidFill>
                  <a:srgbClr val="171717"/>
                </a:solidFill>
              </a:defRPr>
            </a:pPr>
            <a:r>
              <a:rPr sz="1725" b="1" i="0">
                <a:solidFill>
                  <a:srgbClr val="171717"/>
                </a:solidFill>
              </a:rPr>
              <a:t>Does the recipe transfer beyond robot interaction?</a:t>
            </a:r>
          </a:p>
        </p:txBody>
      </p:sp>
      <p:sp>
        <p:nvSpPr>
          <p:cNvPr id="17" name="text-141">
            <a:extLst xmlns:a="http://schemas.openxmlformats.org/drawingml/2006/main">
              <a:ext uri="{FF2B5EF4-FFF2-40B4-BE49-F238E27FC236}">
                <a16:creationId xmlns:a16="http://schemas.microsoft.com/office/drawing/2014/main" id="{2798E280-837F-4CED-89EF-F7EB050113E8}"/>
              </a:ext>
            </a:extLst>
          </p:cNvPr>
          <p:cNvSpPr>
            <a:spLocks xmlns:a="http://schemas.openxmlformats.org/drawingml/2006/main" noGrp="1"/>
          </p:cNvSpPr>
          <p:nvPr/>
        </p:nvSpPr>
        <p:spPr>
          <a:xfrm xmlns:a="http://schemas.openxmlformats.org/drawingml/2006/main">
            <a:off x="1638300" y="5848350"/>
            <a:ext cx="893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05000"/>
              </a:lnSpc>
              <a:buNone/>
              <a:defRPr sz="1425" b="0" i="0">
                <a:solidFill>
                  <a:srgbClr val="6F716E"/>
                </a:solidFill>
              </a:defRPr>
            </a:pPr>
            <a:r>
              <a:rPr sz="1425" b="0" i="0">
                <a:solidFill>
                  <a:srgbClr val="6F716E"/>
                </a:solidFill>
              </a:rPr>
              <a:t>Main comparison: fixed 29-frame bidirectional sliding-window baseline, normalized to 1.</a:t>
            </a:r>
          </a:p>
        </p:txBody>
      </p:sp>
    </p:spTree>
    <p:extLst>
      <p:ext uri="{BB962C8B-B14F-4D97-AF65-F5344CB8AC3E}">
        <p14:creationId xmlns:p14="http://schemas.microsoft.com/office/powerpoint/2010/main" val="872393689"/>
      </p:ext>
    </p:extLst>
  </p:cSld>
</p:sld>
</file>

<file path=ppt/slides/slide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text-142">
            <a:extLst xmlns:a="http://schemas.openxmlformats.org/drawingml/2006/main">
              <a:ext uri="{FF2B5EF4-FFF2-40B4-BE49-F238E27FC236}">
                <a16:creationId xmlns:a16="http://schemas.microsoft.com/office/drawing/2014/main" id="{9D6ED8C6-7719-411A-9708-FD353B5C9F2C}"/>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i="0">
                <a:solidFill>
                  <a:srgbClr val="315EFB"/>
                </a:solidFill>
              </a:defRPr>
            </a:pPr>
            <a:r>
              <a:rPr sz="1200" b="1" i="0">
                <a:solidFill>
                  <a:srgbClr val="315EFB"/>
                </a:solidFill>
              </a:rPr>
              <a:t>EVIDENCE</a:t>
            </a:r>
          </a:p>
        </p:txBody>
      </p:sp>
      <p:sp>
        <p:nvSpPr>
          <p:cNvPr id="2" name="shape-143">
            <a:extLst xmlns:a="http://schemas.openxmlformats.org/drawingml/2006/main">
              <a:ext uri="{FF2B5EF4-FFF2-40B4-BE49-F238E27FC236}">
                <a16:creationId xmlns:a16="http://schemas.microsoft.com/office/drawing/2014/main" id="{89617E0F-159F-40D5-B13F-664379530A2B}"/>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D8D4CB"/>
          </a:solidFill>
          <a:ln xmlns:a="http://schemas.openxmlformats.org/drawingml/2006/main" w="0">
            <a:noFill/>
            <a:prstDash val="solid"/>
          </a:ln>
        </p:spPr>
      </p:sp>
      <p:sp>
        <p:nvSpPr>
          <p:cNvPr id="3" name="text-144">
            <a:extLst xmlns:a="http://schemas.openxmlformats.org/drawingml/2006/main">
              <a:ext uri="{FF2B5EF4-FFF2-40B4-BE49-F238E27FC236}">
                <a16:creationId xmlns:a16="http://schemas.microsoft.com/office/drawing/2014/main" id="{8D76FA9A-1CAA-4DBA-B0C5-D6235979FFF7}"/>
              </a:ext>
            </a:extLst>
          </p:cNvPr>
          <p:cNvSpPr>
            <a:spLocks xmlns:a="http://schemas.openxmlformats.org/drawingml/2006/main" noGrp="1"/>
          </p:cNvSpPr>
          <p:nvPr/>
        </p:nvSpPr>
        <p:spPr>
          <a:xfrm xmlns:a="http://schemas.openxmlformats.org/drawingml/2006/main">
            <a:off x="685800" y="6496050"/>
            <a:ext cx="876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0" i="0">
                <a:solidFill>
                  <a:srgbClr val="6F716E"/>
                </a:solidFill>
              </a:defRPr>
            </a:pPr>
            <a:r>
              <a:rPr sz="1200" b="0" i="0">
                <a:solidFill>
                  <a:srgbClr val="6F716E"/>
                </a:solidFill>
              </a:rPr>
              <a:t>Paper Fig. 2 · p. 11</a:t>
            </a:r>
          </a:p>
        </p:txBody>
      </p:sp>
      <p:sp>
        <p:nvSpPr>
          <p:cNvPr id="4" name="text-145">
            <a:extLst xmlns:a="http://schemas.openxmlformats.org/drawingml/2006/main">
              <a:ext uri="{FF2B5EF4-FFF2-40B4-BE49-F238E27FC236}">
                <a16:creationId xmlns:a16="http://schemas.microsoft.com/office/drawing/2014/main" id="{9CFC8ED2-79B5-48C1-925C-FE38C080358A}"/>
              </a:ext>
            </a:extLst>
          </p:cNvPr>
          <p:cNvSpPr>
            <a:spLocks xmlns:a="http://schemas.openxmlformats.org/drawingml/2006/main" noGrp="1"/>
          </p:cNvSpPr>
          <p:nvPr/>
        </p:nvSpPr>
        <p:spPr>
          <a:xfrm xmlns:a="http://schemas.openxmlformats.org/drawingml/2006/main">
            <a:off x="10839450" y="64770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05000"/>
              </a:lnSpc>
              <a:buNone/>
              <a:defRPr sz="1200" b="1" i="0">
                <a:solidFill>
                  <a:srgbClr val="6F716E"/>
                </a:solidFill>
              </a:defRPr>
            </a:pPr>
            <a:r>
              <a:rPr sz="1200" b="1" i="0">
                <a:solidFill>
                  <a:srgbClr val="6F716E"/>
                </a:solidFill>
              </a:rPr>
              <a:t>08</a:t>
            </a:r>
          </a:p>
        </p:txBody>
      </p:sp>
      <p:sp>
        <p:nvSpPr>
          <p:cNvPr id="5" name="text-146">
            <a:extLst xmlns:a="http://schemas.openxmlformats.org/drawingml/2006/main">
              <a:ext uri="{FF2B5EF4-FFF2-40B4-BE49-F238E27FC236}">
                <a16:creationId xmlns:a16="http://schemas.microsoft.com/office/drawing/2014/main" id="{80009A41-3F9D-4B6A-996E-A669BF5AFDCD}"/>
              </a:ext>
            </a:extLst>
          </p:cNvPr>
          <p:cNvSpPr>
            <a:spLocks xmlns:a="http://schemas.openxmlformats.org/drawingml/2006/main" noGrp="1"/>
          </p:cNvSpPr>
          <p:nvPr/>
        </p:nvSpPr>
        <p:spPr>
          <a:xfrm xmlns:a="http://schemas.openxmlformats.org/drawingml/2006/main">
            <a:off x="685800" y="10668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95000"/>
              </a:lnSpc>
              <a:buNone/>
              <a:defRPr sz="3600" b="1" i="0">
                <a:solidFill>
                  <a:srgbClr val="171717"/>
                </a:solidFill>
              </a:defRPr>
            </a:pPr>
            <a:r>
              <a:rPr sz="3600" b="1" i="0">
                <a:solidFill>
                  <a:srgbClr val="171717"/>
                </a:solidFill>
              </a:rPr>
              <a:t>Quality gains transfer across control domains</a:t>
            </a:r>
          </a:p>
        </p:txBody>
      </p:sp>
      <p:sp>
        <p:nvSpPr>
          <p:cNvPr id="6" name="shape-147">
            <a:extLst xmlns:a="http://schemas.openxmlformats.org/drawingml/2006/main">
              <a:ext uri="{FF2B5EF4-FFF2-40B4-BE49-F238E27FC236}">
                <a16:creationId xmlns:a16="http://schemas.microsoft.com/office/drawing/2014/main" id="{920AA1A0-A07B-413F-96B4-DDF752A7955B}"/>
              </a:ext>
            </a:extLst>
          </p:cNvPr>
          <p:cNvSpPr>
            <a:spLocks xmlns:a="http://schemas.openxmlformats.org/drawingml/2006/main" noGrp="1"/>
          </p:cNvSpPr>
          <p:nvPr/>
        </p:nvSpPr>
        <p:spPr>
          <a:xfrm xmlns:a="http://schemas.openxmlformats.org/drawingml/2006/main">
            <a:off x="781050" y="1790700"/>
            <a:ext cx="10629900" cy="4152900"/>
          </a:xfrm>
          <a:prstGeom xmlns:a="http://schemas.openxmlformats.org/drawingml/2006/main" prst="rect">
            <a:avLst/>
          </a:prstGeom>
          <a:solidFill xmlns:a="http://schemas.openxmlformats.org/drawingml/2006/main">
            <a:srgbClr val="FFFEFA"/>
          </a:solidFill>
          <a:ln xmlns:a="http://schemas.openxmlformats.org/drawingml/2006/main" w="9525">
            <a:solidFill>
              <a:srgbClr val="D8D4CB"/>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26c945858434d5e"/>
          <a:stretch xmlns:a="http://schemas.openxmlformats.org/drawingml/2006/main"/>
        </p:blipFill>
        <p:spPr>
          <a:xfrm xmlns:a="http://schemas.openxmlformats.org/drawingml/2006/main">
            <a:off x="2875258" y="1866900"/>
            <a:ext cx="6441483" cy="4000500"/>
          </a:xfrm>
          <a:prstGeom xmlns:a="http://schemas.openxmlformats.org/drawingml/2006/main" prst="rect">
            <a:avLst/>
          </a:prstGeom>
        </p:spPr>
      </p:pic>
      <p:sp>
        <p:nvSpPr>
          <p:cNvPr id="8" name="text-148">
            <a:extLst xmlns:a="http://schemas.openxmlformats.org/drawingml/2006/main">
              <a:ext uri="{FF2B5EF4-FFF2-40B4-BE49-F238E27FC236}">
                <a16:creationId xmlns:a16="http://schemas.microsoft.com/office/drawing/2014/main" id="{560B3667-9D27-4EB3-BACF-C65175897D21}"/>
              </a:ext>
            </a:extLst>
          </p:cNvPr>
          <p:cNvSpPr>
            <a:spLocks xmlns:a="http://schemas.openxmlformats.org/drawingml/2006/main" noGrp="1"/>
          </p:cNvSpPr>
          <p:nvPr/>
        </p:nvSpPr>
        <p:spPr>
          <a:xfrm xmlns:a="http://schemas.openxmlformats.org/drawingml/2006/main">
            <a:off x="1143000" y="601980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05000"/>
              </a:lnSpc>
              <a:buNone/>
              <a:defRPr sz="1275" b="0" i="0">
                <a:solidFill>
                  <a:srgbClr val="6F716E"/>
                </a:solidFill>
              </a:defRPr>
            </a:pPr>
            <a:r>
              <a:rPr sz="1275" b="0" i="0">
                <a:solidFill>
                  <a:srgbClr val="6F716E"/>
                </a:solidFill>
              </a:rPr>
              <a:t>All values are relative; the bidirectional 29-frame baseline is 1.0, and error ratios are inverted.</a:t>
            </a:r>
          </a:p>
        </p:txBody>
      </p:sp>
    </p:spTree>
    <p:extLst>
      <p:ext uri="{BB962C8B-B14F-4D97-AF65-F5344CB8AC3E}">
        <p14:creationId xmlns:p14="http://schemas.microsoft.com/office/powerpoint/2010/main" val="745500505"/>
      </p:ext>
    </p:extLst>
  </p:cSld>
</p:sld>
</file>

<file path=ppt/slides/slide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text-149">
            <a:extLst xmlns:a="http://schemas.openxmlformats.org/drawingml/2006/main">
              <a:ext uri="{FF2B5EF4-FFF2-40B4-BE49-F238E27FC236}">
                <a16:creationId xmlns:a16="http://schemas.microsoft.com/office/drawing/2014/main" id="{6E83B5D3-9CAD-44BA-9235-7CA570D1E8EB}"/>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i="0">
                <a:solidFill>
                  <a:srgbClr val="315EFB"/>
                </a:solidFill>
              </a:defRPr>
            </a:pPr>
            <a:r>
              <a:rPr sz="1200" b="1" i="0">
                <a:solidFill>
                  <a:srgbClr val="315EFB"/>
                </a:solidFill>
              </a:rPr>
              <a:t>ABLATION</a:t>
            </a:r>
          </a:p>
        </p:txBody>
      </p:sp>
      <p:sp>
        <p:nvSpPr>
          <p:cNvPr id="2" name="shape-150">
            <a:extLst xmlns:a="http://schemas.openxmlformats.org/drawingml/2006/main">
              <a:ext uri="{FF2B5EF4-FFF2-40B4-BE49-F238E27FC236}">
                <a16:creationId xmlns:a16="http://schemas.microsoft.com/office/drawing/2014/main" id="{7901A1A6-EE1A-4C36-905D-FEAD516B2EE2}"/>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D8D4CB"/>
          </a:solidFill>
          <a:ln xmlns:a="http://schemas.openxmlformats.org/drawingml/2006/main" w="0">
            <a:noFill/>
            <a:prstDash val="solid"/>
          </a:ln>
        </p:spPr>
      </p:sp>
      <p:sp>
        <p:nvSpPr>
          <p:cNvPr id="3" name="text-151">
            <a:extLst xmlns:a="http://schemas.openxmlformats.org/drawingml/2006/main">
              <a:ext uri="{FF2B5EF4-FFF2-40B4-BE49-F238E27FC236}">
                <a16:creationId xmlns:a16="http://schemas.microsoft.com/office/drawing/2014/main" id="{9799C556-2C9B-4A35-B84E-6262EEA5565B}"/>
              </a:ext>
            </a:extLst>
          </p:cNvPr>
          <p:cNvSpPr>
            <a:spLocks xmlns:a="http://schemas.openxmlformats.org/drawingml/2006/main" noGrp="1"/>
          </p:cNvSpPr>
          <p:nvPr/>
        </p:nvSpPr>
        <p:spPr>
          <a:xfrm xmlns:a="http://schemas.openxmlformats.org/drawingml/2006/main">
            <a:off x="685800" y="6496050"/>
            <a:ext cx="876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0" i="0">
                <a:solidFill>
                  <a:srgbClr val="6F716E"/>
                </a:solidFill>
              </a:defRPr>
            </a:pPr>
            <a:r>
              <a:rPr sz="1200" b="0" i="0">
                <a:solidFill>
                  <a:srgbClr val="6F716E"/>
                </a:solidFill>
              </a:rPr>
              <a:t>Paper Fig. 3 · p. 12</a:t>
            </a:r>
          </a:p>
        </p:txBody>
      </p:sp>
      <p:sp>
        <p:nvSpPr>
          <p:cNvPr id="4" name="text-152">
            <a:extLst xmlns:a="http://schemas.openxmlformats.org/drawingml/2006/main">
              <a:ext uri="{FF2B5EF4-FFF2-40B4-BE49-F238E27FC236}">
                <a16:creationId xmlns:a16="http://schemas.microsoft.com/office/drawing/2014/main" id="{D4FB5CC8-8287-4751-8A49-806993DBCD96}"/>
              </a:ext>
            </a:extLst>
          </p:cNvPr>
          <p:cNvSpPr>
            <a:spLocks xmlns:a="http://schemas.openxmlformats.org/drawingml/2006/main" noGrp="1"/>
          </p:cNvSpPr>
          <p:nvPr/>
        </p:nvSpPr>
        <p:spPr>
          <a:xfrm xmlns:a="http://schemas.openxmlformats.org/drawingml/2006/main">
            <a:off x="10839450" y="64770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05000"/>
              </a:lnSpc>
              <a:buNone/>
              <a:defRPr sz="1200" b="1" i="0">
                <a:solidFill>
                  <a:srgbClr val="6F716E"/>
                </a:solidFill>
              </a:defRPr>
            </a:pPr>
            <a:r>
              <a:rPr sz="1200" b="1" i="0">
                <a:solidFill>
                  <a:srgbClr val="6F716E"/>
                </a:solidFill>
              </a:rPr>
              <a:t>09</a:t>
            </a:r>
          </a:p>
        </p:txBody>
      </p:sp>
      <p:sp>
        <p:nvSpPr>
          <p:cNvPr id="5" name="text-153">
            <a:extLst xmlns:a="http://schemas.openxmlformats.org/drawingml/2006/main">
              <a:ext uri="{FF2B5EF4-FFF2-40B4-BE49-F238E27FC236}">
                <a16:creationId xmlns:a16="http://schemas.microsoft.com/office/drawing/2014/main" id="{2283B91C-A270-4B48-A3DD-C361C6A8AFB5}"/>
              </a:ext>
            </a:extLst>
          </p:cNvPr>
          <p:cNvSpPr>
            <a:spLocks xmlns:a="http://schemas.openxmlformats.org/drawingml/2006/main" noGrp="1"/>
          </p:cNvSpPr>
          <p:nvPr/>
        </p:nvSpPr>
        <p:spPr>
          <a:xfrm xmlns:a="http://schemas.openxmlformats.org/drawingml/2006/main">
            <a:off x="685800" y="10668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95000"/>
              </a:lnSpc>
              <a:buNone/>
              <a:defRPr sz="3600" b="1" i="0">
                <a:solidFill>
                  <a:srgbClr val="171717"/>
                </a:solidFill>
              </a:defRPr>
            </a:pPr>
            <a:r>
              <a:rPr sz="3600" b="1" i="0">
                <a:solidFill>
                  <a:srgbClr val="171717"/>
                </a:solidFill>
              </a:rPr>
              <a:t>Eight active chunks keep quality nearly flat</a:t>
            </a:r>
          </a:p>
        </p:txBody>
      </p:sp>
      <p:sp>
        <p:nvSpPr>
          <p:cNvPr id="6" name="shape-154">
            <a:extLst xmlns:a="http://schemas.openxmlformats.org/drawingml/2006/main">
              <a:ext uri="{FF2B5EF4-FFF2-40B4-BE49-F238E27FC236}">
                <a16:creationId xmlns:a16="http://schemas.microsoft.com/office/drawing/2014/main" id="{F3EB2AF5-33A6-4C15-A570-B476BF9FC16F}"/>
              </a:ext>
            </a:extLst>
          </p:cNvPr>
          <p:cNvSpPr>
            <a:spLocks xmlns:a="http://schemas.openxmlformats.org/drawingml/2006/main" noGrp="1"/>
          </p:cNvSpPr>
          <p:nvPr/>
        </p:nvSpPr>
        <p:spPr>
          <a:xfrm xmlns:a="http://schemas.openxmlformats.org/drawingml/2006/main">
            <a:off x="704850" y="1771650"/>
            <a:ext cx="10782300" cy="3867150"/>
          </a:xfrm>
          <a:prstGeom xmlns:a="http://schemas.openxmlformats.org/drawingml/2006/main" prst="rect">
            <a:avLst/>
          </a:prstGeom>
          <a:solidFill xmlns:a="http://schemas.openxmlformats.org/drawingml/2006/main">
            <a:srgbClr val="FFFEFA"/>
          </a:solidFill>
          <a:ln xmlns:a="http://schemas.openxmlformats.org/drawingml/2006/main" w="9525">
            <a:solidFill>
              <a:srgbClr val="D8D4CB"/>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33f068be7a740e2"/>
          <a:stretch xmlns:a="http://schemas.openxmlformats.org/drawingml/2006/main"/>
        </p:blipFill>
        <p:spPr>
          <a:xfrm xmlns:a="http://schemas.openxmlformats.org/drawingml/2006/main">
            <a:off x="2688678" y="1847850"/>
            <a:ext cx="6814645" cy="3714750"/>
          </a:xfrm>
          <a:prstGeom xmlns:a="http://schemas.openxmlformats.org/drawingml/2006/main" prst="rect">
            <a:avLst/>
          </a:prstGeom>
        </p:spPr>
      </p:pic>
      <p:sp>
        <p:nvSpPr>
          <p:cNvPr id="8" name="text-155">
            <a:extLst xmlns:a="http://schemas.openxmlformats.org/drawingml/2006/main">
              <a:ext uri="{FF2B5EF4-FFF2-40B4-BE49-F238E27FC236}">
                <a16:creationId xmlns:a16="http://schemas.microsoft.com/office/drawing/2014/main" id="{675CD23B-5A44-400D-9E06-FA845EAA4CCA}"/>
              </a:ext>
            </a:extLst>
          </p:cNvPr>
          <p:cNvSpPr>
            <a:spLocks xmlns:a="http://schemas.openxmlformats.org/drawingml/2006/main" noGrp="1"/>
          </p:cNvSpPr>
          <p:nvPr/>
        </p:nvSpPr>
        <p:spPr>
          <a:xfrm xmlns:a="http://schemas.openxmlformats.org/drawingml/2006/main">
            <a:off x="1238250" y="57531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950" b="1" i="0">
                <a:solidFill>
                  <a:srgbClr val="315EFB"/>
                </a:solidFill>
              </a:defRPr>
            </a:pPr>
            <a:r>
              <a:rPr sz="1950" b="1" i="0">
                <a:solidFill>
                  <a:srgbClr val="315EFB"/>
                </a:solidFill>
              </a:rPr>
              <a:t>32 → 8 active chunks</a:t>
            </a:r>
          </a:p>
        </p:txBody>
      </p:sp>
      <p:sp>
        <p:nvSpPr>
          <p:cNvPr id="9" name="text-156">
            <a:extLst xmlns:a="http://schemas.openxmlformats.org/drawingml/2006/main">
              <a:ext uri="{FF2B5EF4-FFF2-40B4-BE49-F238E27FC236}">
                <a16:creationId xmlns:a16="http://schemas.microsoft.com/office/drawing/2014/main" id="{D4A6980D-3868-417F-8A1E-C15D30CCCEDA}"/>
              </a:ext>
            </a:extLst>
          </p:cNvPr>
          <p:cNvSpPr>
            <a:spLocks xmlns:a="http://schemas.openxmlformats.org/drawingml/2006/main" noGrp="1"/>
          </p:cNvSpPr>
          <p:nvPr/>
        </p:nvSpPr>
        <p:spPr>
          <a:xfrm xmlns:a="http://schemas.openxmlformats.org/drawingml/2006/main">
            <a:off x="1238250" y="60960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350" b="0" i="0">
                <a:solidFill>
                  <a:srgbClr val="6F716E"/>
                </a:solidFill>
              </a:defRPr>
            </a:pPr>
            <a:r>
              <a:rPr sz="1350" b="0" i="0">
                <a:solidFill>
                  <a:srgbClr val="6F716E"/>
                </a:solidFill>
              </a:rPr>
              <a:t>quality stays within a few percent</a:t>
            </a:r>
          </a:p>
        </p:txBody>
      </p:sp>
      <p:sp>
        <p:nvSpPr>
          <p:cNvPr id="10" name="text-157">
            <a:extLst xmlns:a="http://schemas.openxmlformats.org/drawingml/2006/main">
              <a:ext uri="{FF2B5EF4-FFF2-40B4-BE49-F238E27FC236}">
                <a16:creationId xmlns:a16="http://schemas.microsoft.com/office/drawing/2014/main" id="{57F648B7-3E04-4719-B6BB-7EEF6D4AFEC9}"/>
              </a:ext>
            </a:extLst>
          </p:cNvPr>
          <p:cNvSpPr>
            <a:spLocks xmlns:a="http://schemas.openxmlformats.org/drawingml/2006/main" noGrp="1"/>
          </p:cNvSpPr>
          <p:nvPr/>
        </p:nvSpPr>
        <p:spPr>
          <a:xfrm xmlns:a="http://schemas.openxmlformats.org/drawingml/2006/main">
            <a:off x="6572250" y="57531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950" b="1" i="0">
                <a:solidFill>
                  <a:srgbClr val="257B69"/>
                </a:solidFill>
              </a:defRPr>
            </a:pPr>
            <a:r>
              <a:rPr sz="1950" b="1" i="0">
                <a:solidFill>
                  <a:srgbClr val="257B69"/>
                </a:solidFill>
              </a:rPr>
              <a:t>24 → 12 cached chunks</a:t>
            </a:r>
          </a:p>
        </p:txBody>
      </p:sp>
      <p:sp>
        <p:nvSpPr>
          <p:cNvPr id="11" name="text-158">
            <a:extLst xmlns:a="http://schemas.openxmlformats.org/drawingml/2006/main">
              <a:ext uri="{FF2B5EF4-FFF2-40B4-BE49-F238E27FC236}">
                <a16:creationId xmlns:a16="http://schemas.microsoft.com/office/drawing/2014/main" id="{C1B037A8-5EF3-4777-A8F6-F4FB9D9A0B6E}"/>
              </a:ext>
            </a:extLst>
          </p:cNvPr>
          <p:cNvSpPr>
            <a:spLocks xmlns:a="http://schemas.openxmlformats.org/drawingml/2006/main" noGrp="1"/>
          </p:cNvSpPr>
          <p:nvPr/>
        </p:nvSpPr>
        <p:spPr>
          <a:xfrm xmlns:a="http://schemas.openxmlformats.org/drawingml/2006/main">
            <a:off x="6572250" y="60960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350" b="0" i="0">
                <a:solidFill>
                  <a:srgbClr val="6F716E"/>
                </a:solidFill>
              </a:defRPr>
            </a:pPr>
            <a:r>
              <a:rPr sz="1350" b="0" i="0">
                <a:solidFill>
                  <a:srgbClr val="6F716E"/>
                </a:solidFill>
              </a:rPr>
              <a:t>nearly indistinguishable at this horizon</a:t>
            </a:r>
          </a:p>
        </p:txBody>
      </p:sp>
    </p:spTree>
    <p:extLst>
      <p:ext uri="{BB962C8B-B14F-4D97-AF65-F5344CB8AC3E}">
        <p14:creationId xmlns:p14="http://schemas.microsoft.com/office/powerpoint/2010/main" val="305551899"/>
      </p:ext>
    </p:extLst>
  </p:cSld>
</p:sld>
</file>

<file path=ppt/slides/slide1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5" name="text-159">
            <a:extLst xmlns:a="http://schemas.openxmlformats.org/drawingml/2006/main">
              <a:ext uri="{FF2B5EF4-FFF2-40B4-BE49-F238E27FC236}">
                <a16:creationId xmlns:a16="http://schemas.microsoft.com/office/drawing/2014/main" id="{13B66C4E-591F-45F6-BE44-B5D062FC4EA3}"/>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i="0">
                <a:solidFill>
                  <a:srgbClr val="315EFB"/>
                </a:solidFill>
              </a:defRPr>
            </a:pPr>
            <a:r>
              <a:rPr sz="1200" b="1" i="0">
                <a:solidFill>
                  <a:srgbClr val="315EFB"/>
                </a:solidFill>
              </a:rPr>
              <a:t>SYSTEMS RESULT</a:t>
            </a:r>
          </a:p>
        </p:txBody>
      </p:sp>
      <p:sp>
        <p:nvSpPr>
          <p:cNvPr id="2" name="shape-160">
            <a:extLst xmlns:a="http://schemas.openxmlformats.org/drawingml/2006/main">
              <a:ext uri="{FF2B5EF4-FFF2-40B4-BE49-F238E27FC236}">
                <a16:creationId xmlns:a16="http://schemas.microsoft.com/office/drawing/2014/main" id="{34B3E9CD-7D02-4029-BF5B-48AC943240AE}"/>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D8D4CB"/>
          </a:solidFill>
          <a:ln xmlns:a="http://schemas.openxmlformats.org/drawingml/2006/main" w="0">
            <a:noFill/>
            <a:prstDash val="solid"/>
          </a:ln>
        </p:spPr>
      </p:sp>
      <p:sp>
        <p:nvSpPr>
          <p:cNvPr id="3" name="text-161">
            <a:extLst xmlns:a="http://schemas.openxmlformats.org/drawingml/2006/main">
              <a:ext uri="{FF2B5EF4-FFF2-40B4-BE49-F238E27FC236}">
                <a16:creationId xmlns:a16="http://schemas.microsoft.com/office/drawing/2014/main" id="{1AED7406-665F-4615-AD58-939BB9B46AC8}"/>
              </a:ext>
            </a:extLst>
          </p:cNvPr>
          <p:cNvSpPr>
            <a:spLocks xmlns:a="http://schemas.openxmlformats.org/drawingml/2006/main" noGrp="1"/>
          </p:cNvSpPr>
          <p:nvPr/>
        </p:nvSpPr>
        <p:spPr>
          <a:xfrm xmlns:a="http://schemas.openxmlformats.org/drawingml/2006/main">
            <a:off x="685800" y="6496050"/>
            <a:ext cx="876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0" i="0">
                <a:solidFill>
                  <a:srgbClr val="6F716E"/>
                </a:solidFill>
              </a:defRPr>
            </a:pPr>
            <a:r>
              <a:rPr sz="1200" b="0" i="0">
                <a:solidFill>
                  <a:srgbClr val="6F716E"/>
                </a:solidFill>
              </a:rPr>
              <a:t>Paper Fig. 4b · p. 13</a:t>
            </a:r>
          </a:p>
        </p:txBody>
      </p:sp>
      <p:sp>
        <p:nvSpPr>
          <p:cNvPr id="4" name="text-162">
            <a:extLst xmlns:a="http://schemas.openxmlformats.org/drawingml/2006/main">
              <a:ext uri="{FF2B5EF4-FFF2-40B4-BE49-F238E27FC236}">
                <a16:creationId xmlns:a16="http://schemas.microsoft.com/office/drawing/2014/main" id="{16E42587-A74A-46F0-A2D8-D29D8F60A692}"/>
              </a:ext>
            </a:extLst>
          </p:cNvPr>
          <p:cNvSpPr>
            <a:spLocks xmlns:a="http://schemas.openxmlformats.org/drawingml/2006/main" noGrp="1"/>
          </p:cNvSpPr>
          <p:nvPr/>
        </p:nvSpPr>
        <p:spPr>
          <a:xfrm xmlns:a="http://schemas.openxmlformats.org/drawingml/2006/main">
            <a:off x="10839450" y="64770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05000"/>
              </a:lnSpc>
              <a:buNone/>
              <a:defRPr sz="1200" b="1" i="0">
                <a:solidFill>
                  <a:srgbClr val="6F716E"/>
                </a:solidFill>
              </a:defRPr>
            </a:pPr>
            <a:r>
              <a:rPr sz="1200" b="1" i="0">
                <a:solidFill>
                  <a:srgbClr val="6F716E"/>
                </a:solidFill>
              </a:rPr>
              <a:t>10</a:t>
            </a:r>
          </a:p>
        </p:txBody>
      </p:sp>
      <p:sp>
        <p:nvSpPr>
          <p:cNvPr id="5" name="text-163">
            <a:extLst xmlns:a="http://schemas.openxmlformats.org/drawingml/2006/main">
              <a:ext uri="{FF2B5EF4-FFF2-40B4-BE49-F238E27FC236}">
                <a16:creationId xmlns:a16="http://schemas.microsoft.com/office/drawing/2014/main" id="{4455DC7C-9378-4920-A670-316C33E7BA52}"/>
              </a:ext>
            </a:extLst>
          </p:cNvPr>
          <p:cNvSpPr>
            <a:spLocks xmlns:a="http://schemas.openxmlformats.org/drawingml/2006/main" noGrp="1"/>
          </p:cNvSpPr>
          <p:nvPr/>
        </p:nvSpPr>
        <p:spPr>
          <a:xfrm xmlns:a="http://schemas.openxmlformats.org/drawingml/2006/main">
            <a:off x="685800" y="10668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95000"/>
              </a:lnSpc>
              <a:buNone/>
              <a:defRPr sz="3600" b="1" i="0">
                <a:solidFill>
                  <a:srgbClr val="171717"/>
                </a:solidFill>
              </a:defRPr>
            </a:pPr>
            <a:r>
              <a:rPr sz="3600" b="1" i="0">
                <a:solidFill>
                  <a:srgbClr val="171717"/>
                </a:solidFill>
              </a:rPr>
              <a:t>KV caching doubles FPS and cuts latency 15.2x</a:t>
            </a:r>
          </a:p>
        </p:txBody>
      </p:sp>
      <p:sp>
        <p:nvSpPr>
          <p:cNvPr id="6" name="shape-164">
            <a:extLst xmlns:a="http://schemas.openxmlformats.org/drawingml/2006/main">
              <a:ext uri="{FF2B5EF4-FFF2-40B4-BE49-F238E27FC236}">
                <a16:creationId xmlns:a16="http://schemas.microsoft.com/office/drawing/2014/main" id="{2E62E517-C920-480C-9CB0-1B6A12EB4929}"/>
              </a:ext>
            </a:extLst>
          </p:cNvPr>
          <p:cNvSpPr>
            <a:spLocks xmlns:a="http://schemas.openxmlformats.org/drawingml/2006/main" noGrp="1"/>
          </p:cNvSpPr>
          <p:nvPr/>
        </p:nvSpPr>
        <p:spPr>
          <a:xfrm xmlns:a="http://schemas.openxmlformats.org/drawingml/2006/main">
            <a:off x="571500" y="1866900"/>
            <a:ext cx="7010400" cy="3486150"/>
          </a:xfrm>
          <a:prstGeom xmlns:a="http://schemas.openxmlformats.org/drawingml/2006/main" prst="rect">
            <a:avLst/>
          </a:prstGeom>
          <a:solidFill xmlns:a="http://schemas.openxmlformats.org/drawingml/2006/main">
            <a:srgbClr val="FFFEFA"/>
          </a:solidFill>
          <a:ln xmlns:a="http://schemas.openxmlformats.org/drawingml/2006/main" w="9525">
            <a:solidFill>
              <a:srgbClr val="D8D4CB"/>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9b93787ec00458a"/>
          <a:stretch xmlns:a="http://schemas.openxmlformats.org/drawingml/2006/main"/>
        </p:blipFill>
        <p:spPr>
          <a:xfrm xmlns:a="http://schemas.openxmlformats.org/drawingml/2006/main">
            <a:off x="647700" y="2367732"/>
            <a:ext cx="6858000" cy="2484485"/>
          </a:xfrm>
          <a:prstGeom xmlns:a="http://schemas.openxmlformats.org/drawingml/2006/main" prst="rect">
            <a:avLst/>
          </a:prstGeom>
        </p:spPr>
      </p:pic>
      <p:sp>
        <p:nvSpPr>
          <p:cNvPr id="8" name="text-165">
            <a:extLst xmlns:a="http://schemas.openxmlformats.org/drawingml/2006/main">
              <a:ext uri="{FF2B5EF4-FFF2-40B4-BE49-F238E27FC236}">
                <a16:creationId xmlns:a16="http://schemas.microsoft.com/office/drawing/2014/main" id="{FC28D1F7-EEE3-4DC1-9380-C51C6A945565}"/>
              </a:ext>
            </a:extLst>
          </p:cNvPr>
          <p:cNvSpPr>
            <a:spLocks xmlns:a="http://schemas.openxmlformats.org/drawingml/2006/main" noGrp="1"/>
          </p:cNvSpPr>
          <p:nvPr/>
        </p:nvSpPr>
        <p:spPr>
          <a:xfrm xmlns:a="http://schemas.openxmlformats.org/drawingml/2006/main">
            <a:off x="8096250" y="2190750"/>
            <a:ext cx="266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5000"/>
              </a:lnSpc>
              <a:buNone/>
              <a:defRPr sz="4350" b="1" i="0">
                <a:solidFill>
                  <a:srgbClr val="315EFB"/>
                </a:solidFill>
              </a:defRPr>
            </a:pPr>
            <a:r>
              <a:rPr sz="4350" b="1" i="0">
                <a:solidFill>
                  <a:srgbClr val="315EFB"/>
                </a:solidFill>
              </a:rPr>
              <a:t>7.29</a:t>
            </a:r>
          </a:p>
        </p:txBody>
      </p:sp>
      <p:sp>
        <p:nvSpPr>
          <p:cNvPr id="9" name="text-166">
            <a:extLst xmlns:a="http://schemas.openxmlformats.org/drawingml/2006/main">
              <a:ext uri="{FF2B5EF4-FFF2-40B4-BE49-F238E27FC236}">
                <a16:creationId xmlns:a16="http://schemas.microsoft.com/office/drawing/2014/main" id="{A4E1DCE2-8F67-4664-8F56-927C395CB249}"/>
              </a:ext>
            </a:extLst>
          </p:cNvPr>
          <p:cNvSpPr>
            <a:spLocks xmlns:a="http://schemas.openxmlformats.org/drawingml/2006/main" noGrp="1"/>
          </p:cNvSpPr>
          <p:nvPr/>
        </p:nvSpPr>
        <p:spPr>
          <a:xfrm xmlns:a="http://schemas.openxmlformats.org/drawingml/2006/main">
            <a:off x="8096250" y="287655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500" b="0" i="0">
                <a:solidFill>
                  <a:srgbClr val="6F716E"/>
                </a:solidFill>
              </a:defRPr>
            </a:pPr>
            <a:r>
              <a:rPr sz="1500" b="0" i="0">
                <a:solidFill>
                  <a:srgbClr val="6F716E"/>
                </a:solidFill>
              </a:rPr>
              <a:t>output FPS</a:t>
            </a:r>
          </a:p>
          <a:p xmlns:a="http://schemas.openxmlformats.org/drawingml/2006/main">
            <a:pPr algn="l">
              <a:lnSpc>
                <a:spcPct val="110000"/>
              </a:lnSpc>
              <a:buNone/>
              <a:defRPr sz="1500" b="0" i="0">
                <a:solidFill>
                  <a:srgbClr val="6F716E"/>
                </a:solidFill>
              </a:defRPr>
            </a:pPr>
            <a:r>
              <a:rPr sz="1500" b="0" i="0">
                <a:solidFill>
                  <a:srgbClr val="6F716E"/>
                </a:solidFill>
              </a:rPr>
              <a:t>vs. 3.31 full-window</a:t>
            </a:r>
          </a:p>
        </p:txBody>
      </p:sp>
      <p:sp>
        <p:nvSpPr>
          <p:cNvPr id="10" name="text-167">
            <a:extLst xmlns:a="http://schemas.openxmlformats.org/drawingml/2006/main">
              <a:ext uri="{FF2B5EF4-FFF2-40B4-BE49-F238E27FC236}">
                <a16:creationId xmlns:a16="http://schemas.microsoft.com/office/drawing/2014/main" id="{30165CA1-B585-4DD4-BDD8-426168553AE4}"/>
              </a:ext>
            </a:extLst>
          </p:cNvPr>
          <p:cNvSpPr>
            <a:spLocks xmlns:a="http://schemas.openxmlformats.org/drawingml/2006/main" noGrp="1"/>
          </p:cNvSpPr>
          <p:nvPr/>
        </p:nvSpPr>
        <p:spPr>
          <a:xfrm xmlns:a="http://schemas.openxmlformats.org/drawingml/2006/main">
            <a:off x="8096250" y="3714750"/>
            <a:ext cx="266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5000"/>
              </a:lnSpc>
              <a:buNone/>
              <a:defRPr sz="4350" b="1" i="0">
                <a:solidFill>
                  <a:srgbClr val="257B69"/>
                </a:solidFill>
              </a:defRPr>
            </a:pPr>
            <a:r>
              <a:rPr sz="4350" b="1" i="0">
                <a:solidFill>
                  <a:srgbClr val="257B69"/>
                </a:solidFill>
              </a:rPr>
              <a:t>4.86 s</a:t>
            </a:r>
          </a:p>
        </p:txBody>
      </p:sp>
      <p:sp>
        <p:nvSpPr>
          <p:cNvPr id="11" name="text-168">
            <a:extLst xmlns:a="http://schemas.openxmlformats.org/drawingml/2006/main">
              <a:ext uri="{FF2B5EF4-FFF2-40B4-BE49-F238E27FC236}">
                <a16:creationId xmlns:a16="http://schemas.microsoft.com/office/drawing/2014/main" id="{57C2EBD3-1E29-4951-A647-AE41C97E13D1}"/>
              </a:ext>
            </a:extLst>
          </p:cNvPr>
          <p:cNvSpPr>
            <a:spLocks xmlns:a="http://schemas.openxmlformats.org/drawingml/2006/main" noGrp="1"/>
          </p:cNvSpPr>
          <p:nvPr/>
        </p:nvSpPr>
        <p:spPr>
          <a:xfrm xmlns:a="http://schemas.openxmlformats.org/drawingml/2006/main">
            <a:off x="8096250" y="440055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500" b="0" i="0">
                <a:solidFill>
                  <a:srgbClr val="6F716E"/>
                </a:solidFill>
              </a:defRPr>
            </a:pPr>
            <a:r>
              <a:rPr sz="1500" b="0" i="0">
                <a:solidFill>
                  <a:srgbClr val="6F716E"/>
                </a:solidFill>
              </a:rPr>
              <a:t>first chunk</a:t>
            </a:r>
          </a:p>
          <a:p xmlns:a="http://schemas.openxmlformats.org/drawingml/2006/main">
            <a:pPr algn="l">
              <a:lnSpc>
                <a:spcPct val="110000"/>
              </a:lnSpc>
              <a:buNone/>
              <a:defRPr sz="1500" b="0" i="0">
                <a:solidFill>
                  <a:srgbClr val="6F716E"/>
                </a:solidFill>
              </a:defRPr>
            </a:pPr>
            <a:r>
              <a:rPr sz="1500" b="0" i="0">
                <a:solidFill>
                  <a:srgbClr val="6F716E"/>
                </a:solidFill>
              </a:rPr>
              <a:t>vs. 74.0 s</a:t>
            </a:r>
          </a:p>
        </p:txBody>
      </p:sp>
      <p:sp>
        <p:nvSpPr>
          <p:cNvPr id="12" name="text-169">
            <a:extLst xmlns:a="http://schemas.openxmlformats.org/drawingml/2006/main">
              <a:ext uri="{FF2B5EF4-FFF2-40B4-BE49-F238E27FC236}">
                <a16:creationId xmlns:a16="http://schemas.microsoft.com/office/drawing/2014/main" id="{F097746C-E61C-45A9-9BFF-414925E2400C}"/>
              </a:ext>
            </a:extLst>
          </p:cNvPr>
          <p:cNvSpPr>
            <a:spLocks xmlns:a="http://schemas.openxmlformats.org/drawingml/2006/main" noGrp="1"/>
          </p:cNvSpPr>
          <p:nvPr/>
        </p:nvSpPr>
        <p:spPr>
          <a:xfrm xmlns:a="http://schemas.openxmlformats.org/drawingml/2006/main">
            <a:off x="8096250" y="525780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350" b="0" i="0">
                <a:solidFill>
                  <a:srgbClr val="6F716E"/>
                </a:solidFill>
              </a:defRPr>
            </a:pPr>
            <a:r>
              <a:rPr sz="1350" b="0" i="0">
                <a:solidFill>
                  <a:srgbClr val="6F716E"/>
                </a:solidFill>
              </a:rPr>
              <a:t>1B model · DROID · cfg=1 · 3 warmups + 20 timed clips</a:t>
            </a:r>
          </a:p>
        </p:txBody>
      </p:sp>
      <p:sp>
        <p:nvSpPr>
          <p:cNvPr id="13" name="shape-170">
            <a:extLst xmlns:a="http://schemas.openxmlformats.org/drawingml/2006/main">
              <a:ext uri="{FF2B5EF4-FFF2-40B4-BE49-F238E27FC236}">
                <a16:creationId xmlns:a16="http://schemas.microsoft.com/office/drawing/2014/main" id="{A65A73B7-B4E6-4E49-884D-10AE8F9E4624}"/>
              </a:ext>
            </a:extLst>
          </p:cNvPr>
          <p:cNvSpPr>
            <a:spLocks xmlns:a="http://schemas.openxmlformats.org/drawingml/2006/main" noGrp="1"/>
          </p:cNvSpPr>
          <p:nvPr/>
        </p:nvSpPr>
        <p:spPr>
          <a:xfrm xmlns:a="http://schemas.openxmlformats.org/drawingml/2006/main">
            <a:off x="1771650" y="5829300"/>
            <a:ext cx="47625" cy="457200"/>
          </a:xfrm>
          <a:prstGeom xmlns:a="http://schemas.openxmlformats.org/drawingml/2006/main" prst="rect">
            <a:avLst/>
          </a:prstGeom>
          <a:solidFill xmlns:a="http://schemas.openxmlformats.org/drawingml/2006/main">
            <a:srgbClr val="315EFB"/>
          </a:solidFill>
          <a:ln xmlns:a="http://schemas.openxmlformats.org/drawingml/2006/main" w="0">
            <a:noFill/>
            <a:prstDash val="solid"/>
          </a:ln>
        </p:spPr>
      </p:sp>
      <p:sp>
        <p:nvSpPr>
          <p:cNvPr id="14" name="text-171">
            <a:extLst xmlns:a="http://schemas.openxmlformats.org/drawingml/2006/main">
              <a:ext uri="{FF2B5EF4-FFF2-40B4-BE49-F238E27FC236}">
                <a16:creationId xmlns:a16="http://schemas.microsoft.com/office/drawing/2014/main" id="{DB963DB6-07FF-4F51-8400-460A61AD5A16}"/>
              </a:ext>
            </a:extLst>
          </p:cNvPr>
          <p:cNvSpPr>
            <a:spLocks xmlns:a="http://schemas.openxmlformats.org/drawingml/2006/main" noGrp="1"/>
          </p:cNvSpPr>
          <p:nvPr/>
        </p:nvSpPr>
        <p:spPr>
          <a:xfrm xmlns:a="http://schemas.openxmlformats.org/drawingml/2006/main">
            <a:off x="2000250" y="5791200"/>
            <a:ext cx="834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5000"/>
              </a:lnSpc>
              <a:buNone/>
              <a:defRPr sz="1650" b="1" i="0">
                <a:solidFill>
                  <a:srgbClr val="171717"/>
                </a:solidFill>
              </a:defRPr>
            </a:pPr>
            <a:r>
              <a:rPr sz="1650" b="1" i="0">
                <a:solidFill>
                  <a:srgbClr val="171717"/>
                </a:solidFill>
              </a:rPr>
              <a:t>The gain comes from bounding DiT recomputation - VAE is not the bottleneck.</a:t>
            </a:r>
          </a:p>
        </p:txBody>
      </p:sp>
    </p:spTree>
    <p:extLst>
      <p:ext uri="{BB962C8B-B14F-4D97-AF65-F5344CB8AC3E}">
        <p14:creationId xmlns:p14="http://schemas.microsoft.com/office/powerpoint/2010/main" val="133903987"/>
      </p:ext>
    </p:extLst>
  </p:cSld>
</p:sld>
</file>

<file path=ppt/slides/slide1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5" name="text-172">
            <a:extLst xmlns:a="http://schemas.openxmlformats.org/drawingml/2006/main">
              <a:ext uri="{FF2B5EF4-FFF2-40B4-BE49-F238E27FC236}">
                <a16:creationId xmlns:a16="http://schemas.microsoft.com/office/drawing/2014/main" id="{00655384-332E-432B-B9CC-FAE510B87164}"/>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i="0">
                <a:solidFill>
                  <a:srgbClr val="315EFB"/>
                </a:solidFill>
              </a:defRPr>
            </a:pPr>
            <a:r>
              <a:rPr sz="1200" b="1" i="0">
                <a:solidFill>
                  <a:srgbClr val="315EFB"/>
                </a:solidFill>
              </a:rPr>
              <a:t>LIMITS</a:t>
            </a:r>
          </a:p>
        </p:txBody>
      </p:sp>
      <p:sp>
        <p:nvSpPr>
          <p:cNvPr id="2" name="shape-173">
            <a:extLst xmlns:a="http://schemas.openxmlformats.org/drawingml/2006/main">
              <a:ext uri="{FF2B5EF4-FFF2-40B4-BE49-F238E27FC236}">
                <a16:creationId xmlns:a16="http://schemas.microsoft.com/office/drawing/2014/main" id="{8AD0ACD9-9A52-4DC6-94CA-0FD15094A314}"/>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D8D4CB"/>
          </a:solidFill>
          <a:ln xmlns:a="http://schemas.openxmlformats.org/drawingml/2006/main" w="0">
            <a:noFill/>
            <a:prstDash val="solid"/>
          </a:ln>
        </p:spPr>
      </p:sp>
      <p:sp>
        <p:nvSpPr>
          <p:cNvPr id="3" name="text-174">
            <a:extLst xmlns:a="http://schemas.openxmlformats.org/drawingml/2006/main">
              <a:ext uri="{FF2B5EF4-FFF2-40B4-BE49-F238E27FC236}">
                <a16:creationId xmlns:a16="http://schemas.microsoft.com/office/drawing/2014/main" id="{78DAF8FF-BA1B-4A76-AF59-C0A399F0F82B}"/>
              </a:ext>
            </a:extLst>
          </p:cNvPr>
          <p:cNvSpPr>
            <a:spLocks xmlns:a="http://schemas.openxmlformats.org/drawingml/2006/main" noGrp="1"/>
          </p:cNvSpPr>
          <p:nvPr/>
        </p:nvSpPr>
        <p:spPr>
          <a:xfrm xmlns:a="http://schemas.openxmlformats.org/drawingml/2006/main">
            <a:off x="685800" y="6496050"/>
            <a:ext cx="876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0" i="0">
                <a:solidFill>
                  <a:srgbClr val="6F716E"/>
                </a:solidFill>
              </a:defRPr>
            </a:pPr>
            <a:r>
              <a:rPr sz="1200" b="0" i="0">
                <a:solidFill>
                  <a:srgbClr val="6F716E"/>
                </a:solidFill>
              </a:rPr>
              <a:t>Paper §5 · pp. 13-14</a:t>
            </a:r>
          </a:p>
        </p:txBody>
      </p:sp>
      <p:sp>
        <p:nvSpPr>
          <p:cNvPr id="4" name="text-175">
            <a:extLst xmlns:a="http://schemas.openxmlformats.org/drawingml/2006/main">
              <a:ext uri="{FF2B5EF4-FFF2-40B4-BE49-F238E27FC236}">
                <a16:creationId xmlns:a16="http://schemas.microsoft.com/office/drawing/2014/main" id="{0B6EACAC-3A14-4BCD-B2C3-09BBD284885F}"/>
              </a:ext>
            </a:extLst>
          </p:cNvPr>
          <p:cNvSpPr>
            <a:spLocks xmlns:a="http://schemas.openxmlformats.org/drawingml/2006/main" noGrp="1"/>
          </p:cNvSpPr>
          <p:nvPr/>
        </p:nvSpPr>
        <p:spPr>
          <a:xfrm xmlns:a="http://schemas.openxmlformats.org/drawingml/2006/main">
            <a:off x="10839450" y="64770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05000"/>
              </a:lnSpc>
              <a:buNone/>
              <a:defRPr sz="1200" b="1" i="0">
                <a:solidFill>
                  <a:srgbClr val="6F716E"/>
                </a:solidFill>
              </a:defRPr>
            </a:pPr>
            <a:r>
              <a:rPr sz="1200" b="1" i="0">
                <a:solidFill>
                  <a:srgbClr val="6F716E"/>
                </a:solidFill>
              </a:rPr>
              <a:t>11</a:t>
            </a:r>
          </a:p>
        </p:txBody>
      </p:sp>
      <p:sp>
        <p:nvSpPr>
          <p:cNvPr id="5" name="text-176">
            <a:extLst xmlns:a="http://schemas.openxmlformats.org/drawingml/2006/main">
              <a:ext uri="{FF2B5EF4-FFF2-40B4-BE49-F238E27FC236}">
                <a16:creationId xmlns:a16="http://schemas.microsoft.com/office/drawing/2014/main" id="{26EC4364-7C6F-451C-BF22-AA7A74A5EAFC}"/>
              </a:ext>
            </a:extLst>
          </p:cNvPr>
          <p:cNvSpPr>
            <a:spLocks xmlns:a="http://schemas.openxmlformats.org/drawingml/2006/main" noGrp="1"/>
          </p:cNvSpPr>
          <p:nvPr/>
        </p:nvSpPr>
        <p:spPr>
          <a:xfrm xmlns:a="http://schemas.openxmlformats.org/drawingml/2006/main">
            <a:off x="685800" y="10668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95000"/>
              </a:lnSpc>
              <a:buNone/>
              <a:defRPr sz="3600" b="1" i="0">
                <a:solidFill>
                  <a:srgbClr val="171717"/>
                </a:solidFill>
              </a:defRPr>
            </a:pPr>
            <a:r>
              <a:rPr sz="3600" b="1" i="0">
                <a:solidFill>
                  <a:srgbClr val="171717"/>
                </a:solidFill>
              </a:rPr>
              <a:t>Bounded compute is not persistent memory</a:t>
            </a:r>
          </a:p>
        </p:txBody>
      </p:sp>
      <p:sp>
        <p:nvSpPr>
          <p:cNvPr id="6" name="text-177">
            <a:extLst xmlns:a="http://schemas.openxmlformats.org/drawingml/2006/main">
              <a:ext uri="{FF2B5EF4-FFF2-40B4-BE49-F238E27FC236}">
                <a16:creationId xmlns:a16="http://schemas.microsoft.com/office/drawing/2014/main" id="{EFA778FB-9D7D-4454-B948-B89FDDB48B99}"/>
              </a:ext>
            </a:extLst>
          </p:cNvPr>
          <p:cNvSpPr>
            <a:spLocks xmlns:a="http://schemas.openxmlformats.org/drawingml/2006/main" noGrp="1"/>
          </p:cNvSpPr>
          <p:nvPr/>
        </p:nvSpPr>
        <p:spPr>
          <a:xfrm xmlns:a="http://schemas.openxmlformats.org/drawingml/2006/main">
            <a:off x="876300" y="2133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i="0">
                <a:solidFill>
                  <a:srgbClr val="257B69"/>
                </a:solidFill>
              </a:defRPr>
            </a:pPr>
            <a:r>
              <a:rPr sz="1200" b="1" i="0">
                <a:solidFill>
                  <a:srgbClr val="257B69"/>
                </a:solidFill>
              </a:rPr>
              <a:t>ESTABLISHED</a:t>
            </a:r>
          </a:p>
        </p:txBody>
      </p:sp>
      <p:sp>
        <p:nvSpPr>
          <p:cNvPr id="7" name="text-178">
            <a:extLst xmlns:a="http://schemas.openxmlformats.org/drawingml/2006/main">
              <a:ext uri="{FF2B5EF4-FFF2-40B4-BE49-F238E27FC236}">
                <a16:creationId xmlns:a16="http://schemas.microsoft.com/office/drawing/2014/main" id="{1DD893FD-8975-41C6-A29F-3B4F6FB8752D}"/>
              </a:ext>
            </a:extLst>
          </p:cNvPr>
          <p:cNvSpPr>
            <a:spLocks xmlns:a="http://schemas.openxmlformats.org/drawingml/2006/main" noGrp="1"/>
          </p:cNvSpPr>
          <p:nvPr/>
        </p:nvSpPr>
        <p:spPr>
          <a:xfrm xmlns:a="http://schemas.openxmlformats.org/drawingml/2006/main">
            <a:off x="876300" y="247650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2025" b="1" i="0">
                <a:solidFill>
                  <a:srgbClr val="171717"/>
                </a:solidFill>
              </a:defRPr>
            </a:pPr>
            <a:r>
              <a:rPr sz="2025" b="1" i="0">
                <a:solidFill>
                  <a:srgbClr val="171717"/>
                </a:solidFill>
              </a:rPr>
              <a:t>Online DiT work can remain bounded while preserving current benchmark quality.</a:t>
            </a:r>
          </a:p>
        </p:txBody>
      </p:sp>
      <p:sp>
        <p:nvSpPr>
          <p:cNvPr id="8" name="shape-179">
            <a:extLst xmlns:a="http://schemas.openxmlformats.org/drawingml/2006/main">
              <a:ext uri="{FF2B5EF4-FFF2-40B4-BE49-F238E27FC236}">
                <a16:creationId xmlns:a16="http://schemas.microsoft.com/office/drawing/2014/main" id="{5D357801-238D-4346-81FD-948726CB618F}"/>
              </a:ext>
            </a:extLst>
          </p:cNvPr>
          <p:cNvSpPr>
            <a:spLocks xmlns:a="http://schemas.openxmlformats.org/drawingml/2006/main" noGrp="1"/>
          </p:cNvSpPr>
          <p:nvPr/>
        </p:nvSpPr>
        <p:spPr>
          <a:xfrm xmlns:a="http://schemas.openxmlformats.org/drawingml/2006/main">
            <a:off x="876300" y="3143250"/>
            <a:ext cx="10287000" cy="9525"/>
          </a:xfrm>
          <a:prstGeom xmlns:a="http://schemas.openxmlformats.org/drawingml/2006/main" prst="rect">
            <a:avLst/>
          </a:prstGeom>
          <a:solidFill xmlns:a="http://schemas.openxmlformats.org/drawingml/2006/main">
            <a:srgbClr val="D8D4CB"/>
          </a:solidFill>
          <a:ln xmlns:a="http://schemas.openxmlformats.org/drawingml/2006/main" w="0">
            <a:noFill/>
            <a:prstDash val="solid"/>
          </a:ln>
        </p:spPr>
      </p:sp>
      <p:sp>
        <p:nvSpPr>
          <p:cNvPr id="9" name="text-180">
            <a:extLst xmlns:a="http://schemas.openxmlformats.org/drawingml/2006/main">
              <a:ext uri="{FF2B5EF4-FFF2-40B4-BE49-F238E27FC236}">
                <a16:creationId xmlns:a16="http://schemas.microsoft.com/office/drawing/2014/main" id="{04AB1495-BE7A-4C95-9280-A3E6E7D4BA6F}"/>
              </a:ext>
            </a:extLst>
          </p:cNvPr>
          <p:cNvSpPr>
            <a:spLocks xmlns:a="http://schemas.openxmlformats.org/drawingml/2006/main" noGrp="1"/>
          </p:cNvSpPr>
          <p:nvPr/>
        </p:nvSpPr>
        <p:spPr>
          <a:xfrm xmlns:a="http://schemas.openxmlformats.org/drawingml/2006/main">
            <a:off x="876300" y="34861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i="0">
                <a:solidFill>
                  <a:srgbClr val="9A642A"/>
                </a:solidFill>
              </a:defRPr>
            </a:pPr>
            <a:r>
              <a:rPr sz="1200" b="1" i="0">
                <a:solidFill>
                  <a:srgbClr val="9A642A"/>
                </a:solidFill>
              </a:rPr>
              <a:t>SUGGESTIVE</a:t>
            </a:r>
          </a:p>
        </p:txBody>
      </p:sp>
      <p:sp>
        <p:nvSpPr>
          <p:cNvPr id="10" name="text-181">
            <a:extLst xmlns:a="http://schemas.openxmlformats.org/drawingml/2006/main">
              <a:ext uri="{FF2B5EF4-FFF2-40B4-BE49-F238E27FC236}">
                <a16:creationId xmlns:a16="http://schemas.microsoft.com/office/drawing/2014/main" id="{25B1DA8A-8272-4F77-9018-CE51EC2BE9F8}"/>
              </a:ext>
            </a:extLst>
          </p:cNvPr>
          <p:cNvSpPr>
            <a:spLocks xmlns:a="http://schemas.openxmlformats.org/drawingml/2006/main" noGrp="1"/>
          </p:cNvSpPr>
          <p:nvPr/>
        </p:nvSpPr>
        <p:spPr>
          <a:xfrm xmlns:a="http://schemas.openxmlformats.org/drawingml/2006/main">
            <a:off x="876300" y="38290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2025" b="1" i="0">
                <a:solidFill>
                  <a:srgbClr val="171717"/>
                </a:solidFill>
              </a:defRPr>
            </a:pPr>
            <a:r>
              <a:rPr sz="2025" b="1" i="0">
                <a:solidFill>
                  <a:srgbClr val="171717"/>
                </a:solidFill>
              </a:rPr>
              <a:t>A shorter cache is sufficient for the tested 253-381 frame regime.</a:t>
            </a:r>
          </a:p>
        </p:txBody>
      </p:sp>
      <p:sp>
        <p:nvSpPr>
          <p:cNvPr id="11" name="shape-182">
            <a:extLst xmlns:a="http://schemas.openxmlformats.org/drawingml/2006/main">
              <a:ext uri="{FF2B5EF4-FFF2-40B4-BE49-F238E27FC236}">
                <a16:creationId xmlns:a16="http://schemas.microsoft.com/office/drawing/2014/main" id="{BFE22A3F-C7EF-4268-AC7A-036E235252CE}"/>
              </a:ext>
            </a:extLst>
          </p:cNvPr>
          <p:cNvSpPr>
            <a:spLocks xmlns:a="http://schemas.openxmlformats.org/drawingml/2006/main" noGrp="1"/>
          </p:cNvSpPr>
          <p:nvPr/>
        </p:nvSpPr>
        <p:spPr>
          <a:xfrm xmlns:a="http://schemas.openxmlformats.org/drawingml/2006/main">
            <a:off x="876300" y="4495800"/>
            <a:ext cx="10287000" cy="9525"/>
          </a:xfrm>
          <a:prstGeom xmlns:a="http://schemas.openxmlformats.org/drawingml/2006/main" prst="rect">
            <a:avLst/>
          </a:prstGeom>
          <a:solidFill xmlns:a="http://schemas.openxmlformats.org/drawingml/2006/main">
            <a:srgbClr val="D8D4CB"/>
          </a:solidFill>
          <a:ln xmlns:a="http://schemas.openxmlformats.org/drawingml/2006/main" w="0">
            <a:noFill/>
            <a:prstDash val="solid"/>
          </a:ln>
        </p:spPr>
      </p:sp>
      <p:sp>
        <p:nvSpPr>
          <p:cNvPr id="12" name="text-183">
            <a:extLst xmlns:a="http://schemas.openxmlformats.org/drawingml/2006/main">
              <a:ext uri="{FF2B5EF4-FFF2-40B4-BE49-F238E27FC236}">
                <a16:creationId xmlns:a16="http://schemas.microsoft.com/office/drawing/2014/main" id="{4875D9B2-CE39-4D1D-AB0C-4B68E0675C9E}"/>
              </a:ext>
            </a:extLst>
          </p:cNvPr>
          <p:cNvSpPr>
            <a:spLocks xmlns:a="http://schemas.openxmlformats.org/drawingml/2006/main" noGrp="1"/>
          </p:cNvSpPr>
          <p:nvPr/>
        </p:nvSpPr>
        <p:spPr>
          <a:xfrm xmlns:a="http://schemas.openxmlformats.org/drawingml/2006/main">
            <a:off x="876300" y="48387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i="0">
                <a:solidFill>
                  <a:srgbClr val="A1493F"/>
                </a:solidFill>
              </a:defRPr>
            </a:pPr>
            <a:r>
              <a:rPr sz="1200" b="1" i="0">
                <a:solidFill>
                  <a:srgbClr val="A1493F"/>
                </a:solidFill>
              </a:rPr>
              <a:t>OPEN</a:t>
            </a:r>
          </a:p>
        </p:txBody>
      </p:sp>
      <p:sp>
        <p:nvSpPr>
          <p:cNvPr id="13" name="text-184">
            <a:extLst xmlns:a="http://schemas.openxmlformats.org/drawingml/2006/main">
              <a:ext uri="{FF2B5EF4-FFF2-40B4-BE49-F238E27FC236}">
                <a16:creationId xmlns:a16="http://schemas.microsoft.com/office/drawing/2014/main" id="{F622115C-053F-4888-A7CD-5EA1F1BA4CA6}"/>
              </a:ext>
            </a:extLst>
          </p:cNvPr>
          <p:cNvSpPr>
            <a:spLocks xmlns:a="http://schemas.openxmlformats.org/drawingml/2006/main" noGrp="1"/>
          </p:cNvSpPr>
          <p:nvPr/>
        </p:nvSpPr>
        <p:spPr>
          <a:xfrm xmlns:a="http://schemas.openxmlformats.org/drawingml/2006/main">
            <a:off x="876300" y="5181600"/>
            <a:ext cx="1028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2025" b="1" i="0">
                <a:solidFill>
                  <a:srgbClr val="171717"/>
                </a:solidFill>
              </a:defRPr>
            </a:pPr>
            <a:r>
              <a:rPr sz="2025" b="1" i="0">
                <a:solidFill>
                  <a:srgbClr val="171717"/>
                </a:solidFill>
              </a:rPr>
              <a:t>Can the model recover an early object state after hundreds of frames and interventions?</a:t>
            </a:r>
          </a:p>
        </p:txBody>
      </p:sp>
      <p:sp>
        <p:nvSpPr>
          <p:cNvPr id="14" name="text-185">
            <a:extLst xmlns:a="http://schemas.openxmlformats.org/drawingml/2006/main">
              <a:ext uri="{FF2B5EF4-FFF2-40B4-BE49-F238E27FC236}">
                <a16:creationId xmlns:a16="http://schemas.microsoft.com/office/drawing/2014/main" id="{E4F95116-9708-4E94-899B-358A83604CCA}"/>
              </a:ext>
            </a:extLst>
          </p:cNvPr>
          <p:cNvSpPr>
            <a:spLocks xmlns:a="http://schemas.openxmlformats.org/drawingml/2006/main" noGrp="1"/>
          </p:cNvSpPr>
          <p:nvPr/>
        </p:nvSpPr>
        <p:spPr>
          <a:xfrm xmlns:a="http://schemas.openxmlformats.org/drawingml/2006/main">
            <a:off x="876300" y="598170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350" b="0" i="0">
                <a:solidFill>
                  <a:srgbClr val="6F716E"/>
                </a:solidFill>
              </a:defRPr>
            </a:pPr>
            <a:r>
              <a:rPr sz="1350" b="0" i="0">
                <a:solidFill>
                  <a:srgbClr val="6F716E"/>
                </a:solidFill>
              </a:rPr>
              <a:t>Missing: absolute scores, uncertainty, compute-matched causal baselines, GPU-hours, and a long-term recall test.</a:t>
            </a:r>
          </a:p>
        </p:txBody>
      </p:sp>
    </p:spTree>
    <p:extLst>
      <p:ext uri="{BB962C8B-B14F-4D97-AF65-F5344CB8AC3E}">
        <p14:creationId xmlns:p14="http://schemas.microsoft.com/office/powerpoint/2010/main" val="2093625041"/>
      </p:ext>
    </p:extLst>
  </p:cSld>
</p:sld>
</file>

<file path=ppt/slides/slide1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9" name="text-186">
            <a:extLst xmlns:a="http://schemas.openxmlformats.org/drawingml/2006/main">
              <a:ext uri="{FF2B5EF4-FFF2-40B4-BE49-F238E27FC236}">
                <a16:creationId xmlns:a16="http://schemas.microsoft.com/office/drawing/2014/main" id="{13388CD5-30B6-4F89-ABF3-E753881621F9}"/>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i="0">
                <a:solidFill>
                  <a:srgbClr val="315EFB"/>
                </a:solidFill>
              </a:defRPr>
            </a:pPr>
            <a:r>
              <a:rPr sz="1200" b="1" i="0">
                <a:solidFill>
                  <a:srgbClr val="315EFB"/>
                </a:solidFill>
              </a:rPr>
              <a:t>TAKEAWAYS</a:t>
            </a:r>
          </a:p>
        </p:txBody>
      </p:sp>
      <p:sp>
        <p:nvSpPr>
          <p:cNvPr id="2" name="shape-187">
            <a:extLst xmlns:a="http://schemas.openxmlformats.org/drawingml/2006/main">
              <a:ext uri="{FF2B5EF4-FFF2-40B4-BE49-F238E27FC236}">
                <a16:creationId xmlns:a16="http://schemas.microsoft.com/office/drawing/2014/main" id="{F7A81C62-C52D-4FFA-98B2-DE08B87A5848}"/>
              </a:ext>
            </a:extLst>
          </p:cNvPr>
          <p:cNvSpPr>
            <a:spLocks xmlns:a="http://schemas.openxmlformats.org/drawingml/2006/main" noGrp="1"/>
          </p:cNvSpPr>
          <p:nvPr/>
        </p:nvSpPr>
        <p:spPr>
          <a:xfrm xmlns:a="http://schemas.openxmlformats.org/drawingml/2006/main">
            <a:off x="685800" y="590550"/>
            <a:ext cx="10820400" cy="19050"/>
          </a:xfrm>
          <a:prstGeom xmlns:a="http://schemas.openxmlformats.org/drawingml/2006/main" prst="rect">
            <a:avLst/>
          </a:prstGeom>
          <a:solidFill xmlns:a="http://schemas.openxmlformats.org/drawingml/2006/main">
            <a:srgbClr val="D8D4CB"/>
          </a:solidFill>
          <a:ln xmlns:a="http://schemas.openxmlformats.org/drawingml/2006/main" w="0">
            <a:noFill/>
            <a:prstDash val="solid"/>
          </a:ln>
        </p:spPr>
      </p:sp>
      <p:sp>
        <p:nvSpPr>
          <p:cNvPr id="3" name="text-188">
            <a:extLst xmlns:a="http://schemas.openxmlformats.org/drawingml/2006/main">
              <a:ext uri="{FF2B5EF4-FFF2-40B4-BE49-F238E27FC236}">
                <a16:creationId xmlns:a16="http://schemas.microsoft.com/office/drawing/2014/main" id="{CDFCCFA2-AEAD-4A30-A97A-827D784A7ABC}"/>
              </a:ext>
            </a:extLst>
          </p:cNvPr>
          <p:cNvSpPr>
            <a:spLocks xmlns:a="http://schemas.openxmlformats.org/drawingml/2006/main" noGrp="1"/>
          </p:cNvSpPr>
          <p:nvPr/>
        </p:nvSpPr>
        <p:spPr>
          <a:xfrm xmlns:a="http://schemas.openxmlformats.org/drawingml/2006/main">
            <a:off x="685800" y="6496050"/>
            <a:ext cx="876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0" i="0">
                <a:solidFill>
                  <a:srgbClr val="6F716E"/>
                </a:solidFill>
              </a:defRPr>
            </a:pPr>
            <a:r>
              <a:rPr sz="1200" b="0" i="0">
                <a:solidFill>
                  <a:srgbClr val="6F716E"/>
                </a:solidFill>
              </a:rPr>
              <a:t>MiniWorld · paper synthesis</a:t>
            </a:r>
          </a:p>
        </p:txBody>
      </p:sp>
      <p:sp>
        <p:nvSpPr>
          <p:cNvPr id="4" name="text-189">
            <a:extLst xmlns:a="http://schemas.openxmlformats.org/drawingml/2006/main">
              <a:ext uri="{FF2B5EF4-FFF2-40B4-BE49-F238E27FC236}">
                <a16:creationId xmlns:a16="http://schemas.microsoft.com/office/drawing/2014/main" id="{79BF9327-D489-412B-A4A6-3D38E8C99F93}"/>
              </a:ext>
            </a:extLst>
          </p:cNvPr>
          <p:cNvSpPr>
            <a:spLocks xmlns:a="http://schemas.openxmlformats.org/drawingml/2006/main" noGrp="1"/>
          </p:cNvSpPr>
          <p:nvPr/>
        </p:nvSpPr>
        <p:spPr>
          <a:xfrm xmlns:a="http://schemas.openxmlformats.org/drawingml/2006/main">
            <a:off x="10839450" y="64770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05000"/>
              </a:lnSpc>
              <a:buNone/>
              <a:defRPr sz="1200" b="1" i="0">
                <a:solidFill>
                  <a:srgbClr val="6F716E"/>
                </a:solidFill>
              </a:defRPr>
            </a:pPr>
            <a:r>
              <a:rPr sz="1200" b="1" i="0">
                <a:solidFill>
                  <a:srgbClr val="6F716E"/>
                </a:solidFill>
              </a:rPr>
              <a:t>12</a:t>
            </a:r>
          </a:p>
        </p:txBody>
      </p:sp>
      <p:sp>
        <p:nvSpPr>
          <p:cNvPr id="5" name="text-190">
            <a:extLst xmlns:a="http://schemas.openxmlformats.org/drawingml/2006/main">
              <a:ext uri="{FF2B5EF4-FFF2-40B4-BE49-F238E27FC236}">
                <a16:creationId xmlns:a16="http://schemas.microsoft.com/office/drawing/2014/main" id="{7B36399A-BDFC-4DFE-BECE-C425568960AB}"/>
              </a:ext>
            </a:extLst>
          </p:cNvPr>
          <p:cNvSpPr>
            <a:spLocks xmlns:a="http://schemas.openxmlformats.org/drawingml/2006/main" noGrp="1"/>
          </p:cNvSpPr>
          <p:nvPr/>
        </p:nvSpPr>
        <p:spPr>
          <a:xfrm xmlns:a="http://schemas.openxmlformats.org/drawingml/2006/main">
            <a:off x="685800" y="10668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95000"/>
              </a:lnSpc>
              <a:buNone/>
              <a:defRPr sz="3600" b="1" i="0">
                <a:solidFill>
                  <a:srgbClr val="171717"/>
                </a:solidFill>
              </a:defRPr>
            </a:pPr>
            <a:r>
              <a:rPr sz="3600" b="1" i="0">
                <a:solidFill>
                  <a:srgbClr val="171717"/>
                </a:solidFill>
              </a:rPr>
              <a:t>An open baseline - not a performance ceiling</a:t>
            </a:r>
          </a:p>
        </p:txBody>
      </p:sp>
      <p:sp>
        <p:nvSpPr>
          <p:cNvPr id="6" name="text-191">
            <a:extLst xmlns:a="http://schemas.openxmlformats.org/drawingml/2006/main">
              <a:ext uri="{FF2B5EF4-FFF2-40B4-BE49-F238E27FC236}">
                <a16:creationId xmlns:a16="http://schemas.microsoft.com/office/drawing/2014/main" id="{50D57E45-2CD6-4CAE-ADEF-88B01ECE086F}"/>
              </a:ext>
            </a:extLst>
          </p:cNvPr>
          <p:cNvSpPr>
            <a:spLocks xmlns:a="http://schemas.openxmlformats.org/drawingml/2006/main" noGrp="1"/>
          </p:cNvSpPr>
          <p:nvPr/>
        </p:nvSpPr>
        <p:spPr>
          <a:xfrm xmlns:a="http://schemas.openxmlformats.org/drawingml/2006/main">
            <a:off x="781050" y="2095500"/>
            <a:ext cx="685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2250" b="1" i="0">
                <a:solidFill>
                  <a:srgbClr val="315EFB"/>
                </a:solidFill>
              </a:defRPr>
            </a:pPr>
            <a:r>
              <a:rPr sz="2250" b="1" i="0">
                <a:solidFill>
                  <a:srgbClr val="315EFB"/>
                </a:solidFill>
              </a:rPr>
              <a:t>01</a:t>
            </a:r>
          </a:p>
        </p:txBody>
      </p:sp>
      <p:sp>
        <p:nvSpPr>
          <p:cNvPr id="7" name="text-192">
            <a:extLst xmlns:a="http://schemas.openxmlformats.org/drawingml/2006/main">
              <a:ext uri="{FF2B5EF4-FFF2-40B4-BE49-F238E27FC236}">
                <a16:creationId xmlns:a16="http://schemas.microsoft.com/office/drawing/2014/main" id="{6621E16B-C9E5-4ED9-B1CB-53E694FB5B12}"/>
              </a:ext>
            </a:extLst>
          </p:cNvPr>
          <p:cNvSpPr>
            <a:spLocks xmlns:a="http://schemas.openxmlformats.org/drawingml/2006/main" noGrp="1"/>
          </p:cNvSpPr>
          <p:nvPr/>
        </p:nvSpPr>
        <p:spPr>
          <a:xfrm xmlns:a="http://schemas.openxmlformats.org/drawingml/2006/main">
            <a:off x="1638300" y="2076450"/>
            <a:ext cx="942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2100" b="1" i="0">
                <a:solidFill>
                  <a:srgbClr val="171717"/>
                </a:solidFill>
              </a:defRPr>
            </a:pPr>
            <a:r>
              <a:rPr sz="2100" b="1" i="0">
                <a:solidFill>
                  <a:srgbClr val="171717"/>
                </a:solidFill>
              </a:rPr>
              <a:t>The contribution is the contract.</a:t>
            </a:r>
          </a:p>
        </p:txBody>
      </p:sp>
      <p:sp>
        <p:nvSpPr>
          <p:cNvPr id="8" name="text-193">
            <a:extLst xmlns:a="http://schemas.openxmlformats.org/drawingml/2006/main">
              <a:ext uri="{FF2B5EF4-FFF2-40B4-BE49-F238E27FC236}">
                <a16:creationId xmlns:a16="http://schemas.microsoft.com/office/drawing/2014/main" id="{E51BB8AF-86EF-4983-9781-596A441C32B3}"/>
              </a:ext>
            </a:extLst>
          </p:cNvPr>
          <p:cNvSpPr>
            <a:spLocks xmlns:a="http://schemas.openxmlformats.org/drawingml/2006/main" noGrp="1"/>
          </p:cNvSpPr>
          <p:nvPr/>
        </p:nvSpPr>
        <p:spPr>
          <a:xfrm xmlns:a="http://schemas.openxmlformats.org/drawingml/2006/main">
            <a:off x="1638300" y="2495550"/>
            <a:ext cx="942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1500" b="0" i="0">
                <a:solidFill>
                  <a:srgbClr val="6F716E"/>
                </a:solidFill>
              </a:defRPr>
            </a:pPr>
            <a:r>
              <a:rPr sz="1500" b="0" i="0">
                <a:solidFill>
                  <a:srgbClr val="6F716E"/>
                </a:solidFill>
              </a:rPr>
              <a:t>Block causality, CoPP, continuation, and rolling inference align what the model trains on with what it will deploy.</a:t>
            </a:r>
          </a:p>
        </p:txBody>
      </p:sp>
      <p:sp>
        <p:nvSpPr>
          <p:cNvPr id="9" name="shape-194">
            <a:extLst xmlns:a="http://schemas.openxmlformats.org/drawingml/2006/main">
              <a:ext uri="{FF2B5EF4-FFF2-40B4-BE49-F238E27FC236}">
                <a16:creationId xmlns:a16="http://schemas.microsoft.com/office/drawing/2014/main" id="{6B95625D-4C1F-41DD-853A-FEB765FB4BB0}"/>
              </a:ext>
            </a:extLst>
          </p:cNvPr>
          <p:cNvSpPr>
            <a:spLocks xmlns:a="http://schemas.openxmlformats.org/drawingml/2006/main" noGrp="1"/>
          </p:cNvSpPr>
          <p:nvPr/>
        </p:nvSpPr>
        <p:spPr>
          <a:xfrm xmlns:a="http://schemas.openxmlformats.org/drawingml/2006/main">
            <a:off x="1638300" y="2990850"/>
            <a:ext cx="9429750" cy="9525"/>
          </a:xfrm>
          <a:prstGeom xmlns:a="http://schemas.openxmlformats.org/drawingml/2006/main" prst="rect">
            <a:avLst/>
          </a:prstGeom>
          <a:solidFill xmlns:a="http://schemas.openxmlformats.org/drawingml/2006/main">
            <a:srgbClr val="D8D4CB"/>
          </a:solidFill>
          <a:ln xmlns:a="http://schemas.openxmlformats.org/drawingml/2006/main" w="0">
            <a:noFill/>
            <a:prstDash val="solid"/>
          </a:ln>
        </p:spPr>
      </p:sp>
      <p:sp>
        <p:nvSpPr>
          <p:cNvPr id="10" name="text-195">
            <a:extLst xmlns:a="http://schemas.openxmlformats.org/drawingml/2006/main">
              <a:ext uri="{FF2B5EF4-FFF2-40B4-BE49-F238E27FC236}">
                <a16:creationId xmlns:a16="http://schemas.microsoft.com/office/drawing/2014/main" id="{FE1AF712-DFF2-4EF2-B46F-5ADF4EB5B261}"/>
              </a:ext>
            </a:extLst>
          </p:cNvPr>
          <p:cNvSpPr>
            <a:spLocks xmlns:a="http://schemas.openxmlformats.org/drawingml/2006/main" noGrp="1"/>
          </p:cNvSpPr>
          <p:nvPr/>
        </p:nvSpPr>
        <p:spPr>
          <a:xfrm xmlns:a="http://schemas.openxmlformats.org/drawingml/2006/main">
            <a:off x="781050" y="3162300"/>
            <a:ext cx="685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2250" b="1" i="0">
                <a:solidFill>
                  <a:srgbClr val="315EFB"/>
                </a:solidFill>
              </a:defRPr>
            </a:pPr>
            <a:r>
              <a:rPr sz="2250" b="1" i="0">
                <a:solidFill>
                  <a:srgbClr val="315EFB"/>
                </a:solidFill>
              </a:rPr>
              <a:t>02</a:t>
            </a:r>
          </a:p>
        </p:txBody>
      </p:sp>
      <p:sp>
        <p:nvSpPr>
          <p:cNvPr id="11" name="text-196">
            <a:extLst xmlns:a="http://schemas.openxmlformats.org/drawingml/2006/main">
              <a:ext uri="{FF2B5EF4-FFF2-40B4-BE49-F238E27FC236}">
                <a16:creationId xmlns:a16="http://schemas.microsoft.com/office/drawing/2014/main" id="{3E40E4CC-35F4-4AFC-A90F-E988E2301C2B}"/>
              </a:ext>
            </a:extLst>
          </p:cNvPr>
          <p:cNvSpPr>
            <a:spLocks xmlns:a="http://schemas.openxmlformats.org/drawingml/2006/main" noGrp="1"/>
          </p:cNvSpPr>
          <p:nvPr/>
        </p:nvSpPr>
        <p:spPr>
          <a:xfrm xmlns:a="http://schemas.openxmlformats.org/drawingml/2006/main">
            <a:off x="1638300" y="3143250"/>
            <a:ext cx="942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2100" b="1" i="0">
                <a:solidFill>
                  <a:srgbClr val="171717"/>
                </a:solidFill>
              </a:defRPr>
            </a:pPr>
            <a:r>
              <a:rPr sz="2100" b="1" i="0">
                <a:solidFill>
                  <a:srgbClr val="171717"/>
                </a:solidFill>
              </a:rPr>
              <a:t>The strongest evidence is systems evidence.</a:t>
            </a:r>
          </a:p>
        </p:txBody>
      </p:sp>
      <p:sp>
        <p:nvSpPr>
          <p:cNvPr id="12" name="text-197">
            <a:extLst xmlns:a="http://schemas.openxmlformats.org/drawingml/2006/main">
              <a:ext uri="{FF2B5EF4-FFF2-40B4-BE49-F238E27FC236}">
                <a16:creationId xmlns:a16="http://schemas.microsoft.com/office/drawing/2014/main" id="{A05DC53A-E444-4B11-895C-59172B4FA4A2}"/>
              </a:ext>
            </a:extLst>
          </p:cNvPr>
          <p:cNvSpPr>
            <a:spLocks xmlns:a="http://schemas.openxmlformats.org/drawingml/2006/main" noGrp="1"/>
          </p:cNvSpPr>
          <p:nvPr/>
        </p:nvSpPr>
        <p:spPr>
          <a:xfrm xmlns:a="http://schemas.openxmlformats.org/drawingml/2006/main">
            <a:off x="1638300" y="3562350"/>
            <a:ext cx="942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1500" b="0" i="0">
                <a:solidFill>
                  <a:srgbClr val="6F716E"/>
                </a:solidFill>
              </a:defRPr>
            </a:pPr>
            <a:r>
              <a:rPr sz="1500" b="0" i="0">
                <a:solidFill>
                  <a:srgbClr val="6F716E"/>
                </a:solidFill>
              </a:rPr>
              <a:t>The rolling cache attacks the actual DiT bottleneck and improves both steady FPS and first response.</a:t>
            </a:r>
          </a:p>
        </p:txBody>
      </p:sp>
      <p:sp>
        <p:nvSpPr>
          <p:cNvPr id="13" name="shape-198">
            <a:extLst xmlns:a="http://schemas.openxmlformats.org/drawingml/2006/main">
              <a:ext uri="{FF2B5EF4-FFF2-40B4-BE49-F238E27FC236}">
                <a16:creationId xmlns:a16="http://schemas.microsoft.com/office/drawing/2014/main" id="{DA2E9991-456E-45DA-829D-B7551C1E39A7}"/>
              </a:ext>
            </a:extLst>
          </p:cNvPr>
          <p:cNvSpPr>
            <a:spLocks xmlns:a="http://schemas.openxmlformats.org/drawingml/2006/main" noGrp="1"/>
          </p:cNvSpPr>
          <p:nvPr/>
        </p:nvSpPr>
        <p:spPr>
          <a:xfrm xmlns:a="http://schemas.openxmlformats.org/drawingml/2006/main">
            <a:off x="1638300" y="4057650"/>
            <a:ext cx="9429750" cy="9525"/>
          </a:xfrm>
          <a:prstGeom xmlns:a="http://schemas.openxmlformats.org/drawingml/2006/main" prst="rect">
            <a:avLst/>
          </a:prstGeom>
          <a:solidFill xmlns:a="http://schemas.openxmlformats.org/drawingml/2006/main">
            <a:srgbClr val="D8D4CB"/>
          </a:solidFill>
          <a:ln xmlns:a="http://schemas.openxmlformats.org/drawingml/2006/main" w="0">
            <a:noFill/>
            <a:prstDash val="solid"/>
          </a:ln>
        </p:spPr>
      </p:sp>
      <p:sp>
        <p:nvSpPr>
          <p:cNvPr id="14" name="text-199">
            <a:extLst xmlns:a="http://schemas.openxmlformats.org/drawingml/2006/main">
              <a:ext uri="{FF2B5EF4-FFF2-40B4-BE49-F238E27FC236}">
                <a16:creationId xmlns:a16="http://schemas.microsoft.com/office/drawing/2014/main" id="{60134D4E-E412-43CC-A3E0-A8032C2F9B6F}"/>
              </a:ext>
            </a:extLst>
          </p:cNvPr>
          <p:cNvSpPr>
            <a:spLocks xmlns:a="http://schemas.openxmlformats.org/drawingml/2006/main" noGrp="1"/>
          </p:cNvSpPr>
          <p:nvPr/>
        </p:nvSpPr>
        <p:spPr>
          <a:xfrm xmlns:a="http://schemas.openxmlformats.org/drawingml/2006/main">
            <a:off x="781050" y="4229100"/>
            <a:ext cx="685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2250" b="1" i="0">
                <a:solidFill>
                  <a:srgbClr val="315EFB"/>
                </a:solidFill>
              </a:defRPr>
            </a:pPr>
            <a:r>
              <a:rPr sz="2250" b="1" i="0">
                <a:solidFill>
                  <a:srgbClr val="315EFB"/>
                </a:solidFill>
              </a:rPr>
              <a:t>03</a:t>
            </a:r>
          </a:p>
        </p:txBody>
      </p:sp>
      <p:sp>
        <p:nvSpPr>
          <p:cNvPr id="15" name="text-200">
            <a:extLst xmlns:a="http://schemas.openxmlformats.org/drawingml/2006/main">
              <a:ext uri="{FF2B5EF4-FFF2-40B4-BE49-F238E27FC236}">
                <a16:creationId xmlns:a16="http://schemas.microsoft.com/office/drawing/2014/main" id="{FC47333F-748B-468A-87E2-147AF4E635DF}"/>
              </a:ext>
            </a:extLst>
          </p:cNvPr>
          <p:cNvSpPr>
            <a:spLocks xmlns:a="http://schemas.openxmlformats.org/drawingml/2006/main" noGrp="1"/>
          </p:cNvSpPr>
          <p:nvPr/>
        </p:nvSpPr>
        <p:spPr>
          <a:xfrm xmlns:a="http://schemas.openxmlformats.org/drawingml/2006/main">
            <a:off x="1638300" y="4210050"/>
            <a:ext cx="942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2100" b="1" i="0">
                <a:solidFill>
                  <a:srgbClr val="171717"/>
                </a:solidFill>
              </a:defRPr>
            </a:pPr>
            <a:r>
              <a:rPr sz="2100" b="1" i="0">
                <a:solidFill>
                  <a:srgbClr val="171717"/>
                </a:solidFill>
              </a:rPr>
              <a:t>The right next test is state recall.</a:t>
            </a:r>
          </a:p>
        </p:txBody>
      </p:sp>
      <p:sp>
        <p:nvSpPr>
          <p:cNvPr id="16" name="text-201">
            <a:extLst xmlns:a="http://schemas.openxmlformats.org/drawingml/2006/main">
              <a:ext uri="{FF2B5EF4-FFF2-40B4-BE49-F238E27FC236}">
                <a16:creationId xmlns:a16="http://schemas.microsoft.com/office/drawing/2014/main" id="{903571D2-1204-450E-9532-937C56E3E0CE}"/>
              </a:ext>
            </a:extLst>
          </p:cNvPr>
          <p:cNvSpPr>
            <a:spLocks xmlns:a="http://schemas.openxmlformats.org/drawingml/2006/main" noGrp="1"/>
          </p:cNvSpPr>
          <p:nvPr/>
        </p:nvSpPr>
        <p:spPr>
          <a:xfrm xmlns:a="http://schemas.openxmlformats.org/drawingml/2006/main">
            <a:off x="1638300" y="4629150"/>
            <a:ext cx="942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1500" b="0" i="0">
                <a:solidFill>
                  <a:srgbClr val="6F716E"/>
                </a:solidFill>
              </a:defRPr>
            </a:pPr>
            <a:r>
              <a:rPr sz="1500" b="0" i="0">
                <a:solidFill>
                  <a:srgbClr val="6F716E"/>
                </a:solidFill>
              </a:rPr>
              <a:t>Vary cache length on tasks that require recovering an early object property after long interaction, not only visual continuity.</a:t>
            </a:r>
          </a:p>
        </p:txBody>
      </p:sp>
      <p:sp>
        <p:nvSpPr>
          <p:cNvPr id="17" name="text-202">
            <a:extLst xmlns:a="http://schemas.openxmlformats.org/drawingml/2006/main">
              <a:ext uri="{FF2B5EF4-FFF2-40B4-BE49-F238E27FC236}">
                <a16:creationId xmlns:a16="http://schemas.microsoft.com/office/drawing/2014/main" id="{3A98E44C-6CF6-48D3-810C-02E54484928F}"/>
              </a:ext>
            </a:extLst>
          </p:cNvPr>
          <p:cNvSpPr>
            <a:spLocks xmlns:a="http://schemas.openxmlformats.org/drawingml/2006/main" noGrp="1"/>
          </p:cNvSpPr>
          <p:nvPr/>
        </p:nvSpPr>
        <p:spPr>
          <a:xfrm xmlns:a="http://schemas.openxmlformats.org/drawingml/2006/main">
            <a:off x="1638300" y="54292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i="0">
                <a:solidFill>
                  <a:srgbClr val="315EFB"/>
                </a:solidFill>
              </a:defRPr>
            </a:pPr>
            <a:r>
              <a:rPr sz="1200" b="1" i="0">
                <a:solidFill>
                  <a:srgbClr val="315EFB"/>
                </a:solidFill>
              </a:rPr>
              <a:t>DISCUSSION</a:t>
            </a:r>
          </a:p>
        </p:txBody>
      </p:sp>
      <p:sp>
        <p:nvSpPr>
          <p:cNvPr id="18" name="text-203">
            <a:extLst xmlns:a="http://schemas.openxmlformats.org/drawingml/2006/main">
              <a:ext uri="{FF2B5EF4-FFF2-40B4-BE49-F238E27FC236}">
                <a16:creationId xmlns:a16="http://schemas.microsoft.com/office/drawing/2014/main" id="{6751F8CA-F1CF-47A8-9818-F933B2638A1C}"/>
              </a:ext>
            </a:extLst>
          </p:cNvPr>
          <p:cNvSpPr>
            <a:spLocks xmlns:a="http://schemas.openxmlformats.org/drawingml/2006/main" noGrp="1"/>
          </p:cNvSpPr>
          <p:nvPr/>
        </p:nvSpPr>
        <p:spPr>
          <a:xfrm xmlns:a="http://schemas.openxmlformats.org/drawingml/2006/main">
            <a:off x="1638300" y="5753100"/>
            <a:ext cx="904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725" b="1" i="0">
                <a:solidFill>
                  <a:srgbClr val="171717"/>
                </a:solidFill>
              </a:defRPr>
            </a:pPr>
            <a:r>
              <a:rPr sz="1725" b="1" i="0">
                <a:solidFill>
                  <a:srgbClr val="171717"/>
                </a:solidFill>
              </a:rPr>
              <a:t>What is the smallest memory mechanism that changes the long-horizon failure curve - without breaking the open training budget?</a:t>
            </a:r>
          </a:p>
        </p:txBody>
      </p:sp>
    </p:spTree>
    <p:extLst>
      <p:ext uri="{BB962C8B-B14F-4D97-AF65-F5344CB8AC3E}">
        <p14:creationId xmlns:p14="http://schemas.microsoft.com/office/powerpoint/2010/main" val="20739023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2026-08-20T06:48:10.9610000Z</dcterms:created>
  <dcterms:modified xsi:type="dcterms:W3CDTF">2026-08-20T06:48:10.9610000Z</dcterms:modified>
</coreProperties>
</file>