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20561aae2242be" /><Relationship Type="http://schemas.openxmlformats.org/officeDocument/2006/relationships/extended-properties" Target="/docProps/app.xml" Id="Re9fe14add56e445c" /><Relationship Type="http://schemas.openxmlformats.org/officeDocument/2006/relationships/officeDocument" Target="/ppt/presentation.xml" Id="R5f893d8c9d034f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ac4b6b5ac1448b"/>
  </p:sldMasterIdLst>
  <p:notesMasterIdLst>
    <p:notesMasterId xmlns:r="http://schemas.openxmlformats.org/officeDocument/2006/relationships" r:id="R046112143b7a4dbe"/>
  </p:notesMasterIdLst>
  <p:sldIdLst>
    <p:sldId xmlns:r="http://schemas.openxmlformats.org/officeDocument/2006/relationships" id="256" r:id="R0d76bfd1e1bd4ab7"/>
    <p:sldId xmlns:r="http://schemas.openxmlformats.org/officeDocument/2006/relationships" id="257" r:id="Rddd47eab78104e93"/>
    <p:sldId xmlns:r="http://schemas.openxmlformats.org/officeDocument/2006/relationships" id="258" r:id="Raeb3419ade8e4ff0"/>
    <p:sldId xmlns:r="http://schemas.openxmlformats.org/officeDocument/2006/relationships" id="259" r:id="R0a9504e230144846"/>
    <p:sldId xmlns:r="http://schemas.openxmlformats.org/officeDocument/2006/relationships" id="260" r:id="R1a16963a3ba04cb4"/>
    <p:sldId xmlns:r="http://schemas.openxmlformats.org/officeDocument/2006/relationships" id="261" r:id="Rfe7fb1eced7f47aa"/>
    <p:sldId xmlns:r="http://schemas.openxmlformats.org/officeDocument/2006/relationships" id="262" r:id="R038073bade184a01"/>
    <p:sldId xmlns:r="http://schemas.openxmlformats.org/officeDocument/2006/relationships" id="263" r:id="R8a3216ef7d7c4f60"/>
    <p:sldId xmlns:r="http://schemas.openxmlformats.org/officeDocument/2006/relationships" id="264" r:id="Rc452ab9e3d124b87"/>
    <p:sldId xmlns:r="http://schemas.openxmlformats.org/officeDocument/2006/relationships" id="265" r:id="R26abca7c982a46bf"/>
    <p:sldId xmlns:r="http://schemas.openxmlformats.org/officeDocument/2006/relationships" id="266" r:id="R10add80d2896477b"/>
    <p:sldId xmlns:r="http://schemas.openxmlformats.org/officeDocument/2006/relationships" id="267" r:id="R6e695db36d7d47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d5df73a8d6414f" /><Relationship Type="http://schemas.openxmlformats.org/officeDocument/2006/relationships/slideMaster" Target="/ppt/slideMasters/slideMaster1.xml" Id="Rc5ac4b6b5ac1448b" /><Relationship Type="http://schemas.openxmlformats.org/officeDocument/2006/relationships/notesMaster" Target="/ppt/notesMasters/notesMaster1.xml" Id="R046112143b7a4dbe" /><Relationship Type="http://schemas.openxmlformats.org/officeDocument/2006/relationships/presProps" Target="/ppt/presProps.xml" Id="R821bf2691e304b6b" /><Relationship Type="http://schemas.openxmlformats.org/officeDocument/2006/relationships/tableStyles" Target="/ppt/tableStyles.xml" Id="R9771fe34f07e438e" /><Relationship Type="http://schemas.openxmlformats.org/officeDocument/2006/relationships/slide" Target="/ppt/slides/slide1.xml" Id="R0d76bfd1e1bd4ab7" /><Relationship Type="http://schemas.openxmlformats.org/officeDocument/2006/relationships/slide" Target="/ppt/slides/slide2.xml" Id="Rddd47eab78104e93" /><Relationship Type="http://schemas.openxmlformats.org/officeDocument/2006/relationships/slide" Target="/ppt/slides/slide3.xml" Id="Raeb3419ade8e4ff0" /><Relationship Type="http://schemas.openxmlformats.org/officeDocument/2006/relationships/slide" Target="/ppt/slides/slide4.xml" Id="R0a9504e230144846" /><Relationship Type="http://schemas.openxmlformats.org/officeDocument/2006/relationships/slide" Target="/ppt/slides/slide5.xml" Id="R1a16963a3ba04cb4" /><Relationship Type="http://schemas.openxmlformats.org/officeDocument/2006/relationships/slide" Target="/ppt/slides/slide6.xml" Id="Rfe7fb1eced7f47aa" /><Relationship Type="http://schemas.openxmlformats.org/officeDocument/2006/relationships/slide" Target="/ppt/slides/slide7.xml" Id="R038073bade184a01" /><Relationship Type="http://schemas.openxmlformats.org/officeDocument/2006/relationships/slide" Target="/ppt/slides/slide8.xml" Id="R8a3216ef7d7c4f60" /><Relationship Type="http://schemas.openxmlformats.org/officeDocument/2006/relationships/slide" Target="/ppt/slides/slide9.xml" Id="Rc452ab9e3d124b87" /><Relationship Type="http://schemas.openxmlformats.org/officeDocument/2006/relationships/slide" Target="/ppt/slides/slide10.xml" Id="R26abca7c982a46bf" /><Relationship Type="http://schemas.openxmlformats.org/officeDocument/2006/relationships/slide" Target="/ppt/slides/slide11.xml" Id="R10add80d2896477b" /><Relationship Type="http://schemas.openxmlformats.org/officeDocument/2006/relationships/slide" Target="/ppt/slides/slide12.xml" Id="R6e695db36d7d47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692b5dd214d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1bd6855dd64a7b" /><Relationship Type="http://schemas.openxmlformats.org/officeDocument/2006/relationships/notesMaster" Target="/ppt/notesMasters/notesMaster1.xml" Id="R35452d93ccec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12fad43ec3459b" /><Relationship Type="http://schemas.openxmlformats.org/officeDocument/2006/relationships/notesMaster" Target="/ppt/notesMasters/notesMaster1.xml" Id="R9cf4407deb4349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1e487b7af64422" /><Relationship Type="http://schemas.openxmlformats.org/officeDocument/2006/relationships/notesMaster" Target="/ppt/notesMasters/notesMaster1.xml" Id="R110257c077e248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70d4c899864be9" /><Relationship Type="http://schemas.openxmlformats.org/officeDocument/2006/relationships/notesMaster" Target="/ppt/notesMasters/notesMaster1.xml" Id="R79407de9d63c45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31ec46e3d34c33" /><Relationship Type="http://schemas.openxmlformats.org/officeDocument/2006/relationships/notesMaster" Target="/ppt/notesMasters/notesMaster1.xml" Id="Rdd931e5f36e54f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2bcdbd34814af3" /><Relationship Type="http://schemas.openxmlformats.org/officeDocument/2006/relationships/notesMaster" Target="/ppt/notesMasters/notesMaster1.xml" Id="Rdf4ae3248ea043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1308f6a3a244d6" /><Relationship Type="http://schemas.openxmlformats.org/officeDocument/2006/relationships/notesMaster" Target="/ppt/notesMasters/notesMaster1.xml" Id="Rfc0c8bd8617e40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d47f42b81d42ee" /><Relationship Type="http://schemas.openxmlformats.org/officeDocument/2006/relationships/notesMaster" Target="/ppt/notesMasters/notesMaster1.xml" Id="Rb6fb3b6a945f45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57e8f517c6487e" /><Relationship Type="http://schemas.openxmlformats.org/officeDocument/2006/relationships/notesMaster" Target="/ppt/notesMasters/notesMaster1.xml" Id="R33a49d1f55c74f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4654c378ec44d7" /><Relationship Type="http://schemas.openxmlformats.org/officeDocument/2006/relationships/notesMaster" Target="/ppt/notesMasters/notesMaster1.xml" Id="R9a93c07fa5ef48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e41dd3130f4dbd" /><Relationship Type="http://schemas.openxmlformats.org/officeDocument/2006/relationships/notesMaster" Target="/ppt/notesMasters/notesMaster1.xml" Id="Rf7e07b69617442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5342e9d8e14c24" /><Relationship Type="http://schemas.openxmlformats.org/officeDocument/2006/relationships/notesMaster" Target="/ppt/notesMasters/notesMaster1.xml" Id="R882a8a522e5741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VQ-VAE as an interface between continuous neural features and discrete tokens.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p. 1, title and abstract,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motivation combines latent usage under powerful decoders with practical gradients for discrete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pp. 1-2, §1, accessed 2026-08-22</a:t>
            </a:r>
          </a:p>
          <a:p xmlns:a="http://schemas.openxmlformats.org/drawingml/2006/main">
            <a:r>
              <a:t>- /Users/xnnxax/projects/jerexjs-blog/local-papers/VQ-VAE-1711.pdf, pp. 2-3, §2,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forward pass is genuinely discrete. The decoder receives only the nearest codebook embedding.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pp. 3-4, Figure 1 and Eq. (1)-(2),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paper explicitly says no real gradient is defined for the lookup. The straight-through estimator copies the decoder gradient to the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pp. 3-4, §3.2,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Stop-gradient determines ownership: reconstruction trains decoder and encoder; dictionary loss trains embeddings; commitment trains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p. 4, Eq. (3) and §3.2,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quality is produced by both stages and should not be attributed to the quantizer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p. 5, §3.3,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VQ-VAE approaches but does not beat the continuous VAE. The result establishes competitive hard discrete latents under the shared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p. 5, §4.1,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nominal ratio compares raw 8-bit RGB pixels with 9-bit indices. It excludes model size and entropy coding. Evidence is qualitative.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pp. 5-6, Figure 2-3 and §4.2,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phoneme probe is unsupervised with respect to VQ-VAE training, but the mapping is simple. Speaker conversion also uses explicit speaker conditioning.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pp. 7-8, Figure 6 and §4.3,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rows condition on different actions. The qualitative result shows plausible local geometry for ten generated frames, not quantified long-horizon dynamics.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p. 8, Figure 7 and §4.4,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optimization interface is established; posterior-collapse and semantic-abstraction claims lack mechanism-isolating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pp. 3-8, §3-5, accessed 2026-08-22</a:t>
            </a:r>
          </a:p>
          <a:p xmlns:a="http://schemas.openxmlformats.org/drawingml/2006/main">
            <a:r>
              <a:t>- /Users/xnnxax/projects/jerexjs-blog/local-papers/VQ-VAE-1711.pdf, p. 11, Appendix A.1,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durable abstraction connects continuous networks to discrete sequence models. The open question is when the interface yields stable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/Users/xnnxax/projects/jerexjs-blog/local-papers/VQ-VAE-1711.pdf, p. 1, abstract, accessed 2026-08-22</a:t>
            </a:r>
          </a:p>
          <a:p xmlns:a="http://schemas.openxmlformats.org/drawingml/2006/main">
            <a:r>
              <a:t>- /Users/xnnxax/projects/jerexjs-blog/local-papers/VQ-VAE-1711.pdf, pp. 3-5, §3, accessed 2026-08-22</a:t>
            </a:r>
          </a:p>
          <a:p xmlns:a="http://schemas.openxmlformats.org/drawingml/2006/main">
            <a:r>
              <a:t>- /Users/xnnxax/projects/jerexjs-blog/local-papers/VQ-VAE-1711.pdf, p. 8, §5, accessed 2026-08-22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44dafb14a43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8ad037a134b15" /><Relationship Type="http://schemas.openxmlformats.org/officeDocument/2006/relationships/slideLayout" Target="/ppt/slideLayouts/slideLayout1.xml" Id="R95eb209ee70b40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eb209ee70b40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0652874c74d99" /><Relationship Type="http://schemas.openxmlformats.org/officeDocument/2006/relationships/notesSlide" Target="/ppt/notesSlides/notesSlide1.xml" Id="R09c1312c128443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3a64c4e73497a" /><Relationship Type="http://schemas.openxmlformats.org/officeDocument/2006/relationships/notesSlide" Target="/ppt/notesSlides/notesSlide2.xml" Id="R6e6884e7533348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013286e2c45ba" /><Relationship Type="http://schemas.openxmlformats.org/officeDocument/2006/relationships/image" Target="/ppt/media/image.png" Id="Reac37a526cc74614" /><Relationship Type="http://schemas.openxmlformats.org/officeDocument/2006/relationships/notesSlide" Target="/ppt/notesSlides/notesSlide3.xml" Id="R1f79ed6fd64a41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2b704eb5b43f0" /><Relationship Type="http://schemas.openxmlformats.org/officeDocument/2006/relationships/notesSlide" Target="/ppt/notesSlides/notesSlide4.xml" Id="Rff4edcf68ce146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9142c310245b7" /><Relationship Type="http://schemas.openxmlformats.org/officeDocument/2006/relationships/notesSlide" Target="/ppt/notesSlides/notesSlide5.xml" Id="Ra99af8e706b140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11f31f3f24345" /><Relationship Type="http://schemas.openxmlformats.org/officeDocument/2006/relationships/notesSlide" Target="/ppt/notesSlides/notesSlide6.xml" Id="Re5b8663dc7c241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60b9a27034b46" /><Relationship Type="http://schemas.openxmlformats.org/officeDocument/2006/relationships/notesSlide" Target="/ppt/notesSlides/notesSlide7.xml" Id="Rd25c60b6280a41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f3ff4634a427b" /><Relationship Type="http://schemas.openxmlformats.org/officeDocument/2006/relationships/image" Target="/ppt/media/image2.png" Id="R49a51585f953461f" /><Relationship Type="http://schemas.openxmlformats.org/officeDocument/2006/relationships/image" Target="/ppt/media/image3.png" Id="Re5faa32141d04596" /><Relationship Type="http://schemas.openxmlformats.org/officeDocument/2006/relationships/notesSlide" Target="/ppt/notesSlides/notesSlide8.xml" Id="R018472228f3643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2eae7d544435c" /><Relationship Type="http://schemas.openxmlformats.org/officeDocument/2006/relationships/image" Target="/ppt/media/image4.png" Id="R6b2407958f9147f1" /><Relationship Type="http://schemas.openxmlformats.org/officeDocument/2006/relationships/notesSlide" Target="/ppt/notesSlides/notesSlide9.xml" Id="R7ffa3e97274746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5bb2c6e63408f" /><Relationship Type="http://schemas.openxmlformats.org/officeDocument/2006/relationships/image" Target="/ppt/media/image5.png" Id="R37d91363841546a3" /><Relationship Type="http://schemas.openxmlformats.org/officeDocument/2006/relationships/notesSlide" Target="/ppt/notesSlides/notesSlide10.xml" Id="R07151e71ee8644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954d252334190" /><Relationship Type="http://schemas.openxmlformats.org/officeDocument/2006/relationships/notesSlide" Target="/ppt/notesSlides/notesSlide11.xml" Id="R1090374b9c8a47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861c88de54ba8" /><Relationship Type="http://schemas.openxmlformats.org/officeDocument/2006/relationships/notesSlide" Target="/ppt/notesSlides/notesSlide12.xml" Id="R53378990f13d45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85">
            <a:extLst xmlns:a="http://schemas.openxmlformats.org/drawingml/2006/main">
              <a:ext uri="{FF2B5EF4-FFF2-40B4-BE49-F238E27FC236}">
                <a16:creationId xmlns:a16="http://schemas.microsoft.com/office/drawing/2014/main" id="{74D48ABF-EC5D-4DFC-9F06-CFC173BD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PAPER TALK · DISCRETE REPRESENTATIONS · NIPS 2017</a:t>
            </a:r>
          </a:p>
        </p:txBody>
      </p:sp>
      <p:sp>
        <p:nvSpPr>
          <p:cNvPr id="2" name="text-186">
            <a:extLst xmlns:a="http://schemas.openxmlformats.org/drawingml/2006/main">
              <a:ext uri="{FF2B5EF4-FFF2-40B4-BE49-F238E27FC236}">
                <a16:creationId xmlns:a16="http://schemas.microsoft.com/office/drawing/2014/main" id="{8D0AACD4-1F52-452A-86B9-5774672B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171717"/>
                </a:solidFill>
              </a:defRPr>
            </a:pPr>
            <a:r>
              <a:rPr sz="5400" b="1" i="0">
                <a:solidFill>
                  <a:srgbClr val="171717"/>
                </a:solidFill>
              </a:rPr>
              <a:t>Neural Discrete</a:t>
            </a:r>
          </a:p>
        </p:txBody>
      </p:sp>
      <p:sp>
        <p:nvSpPr>
          <p:cNvPr id="3" name="text-187">
            <a:extLst xmlns:a="http://schemas.openxmlformats.org/drawingml/2006/main">
              <a:ext uri="{FF2B5EF4-FFF2-40B4-BE49-F238E27FC236}">
                <a16:creationId xmlns:a16="http://schemas.microsoft.com/office/drawing/2014/main" id="{80F51ADE-81C1-47CF-BE83-904F2435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 i="0">
                <a:solidFill>
                  <a:srgbClr val="315EFB"/>
                </a:solidFill>
              </a:defRPr>
            </a:pPr>
            <a:r>
              <a:rPr sz="5100" b="1" i="0">
                <a:solidFill>
                  <a:srgbClr val="315EFB"/>
                </a:solidFill>
              </a:rPr>
              <a:t>Representation Learning</a:t>
            </a:r>
          </a:p>
        </p:txBody>
      </p:sp>
      <p:sp>
        <p:nvSpPr>
          <p:cNvPr id="4" name="shape-188">
            <a:extLst xmlns:a="http://schemas.openxmlformats.org/drawingml/2006/main">
              <a:ext uri="{FF2B5EF4-FFF2-40B4-BE49-F238E27FC236}">
                <a16:creationId xmlns:a16="http://schemas.microsoft.com/office/drawing/2014/main" id="{9AC9A8CC-0ABF-4B3D-8515-FAFD3CD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89">
            <a:extLst xmlns:a="http://schemas.openxmlformats.org/drawingml/2006/main">
              <a:ext uri="{FF2B5EF4-FFF2-40B4-BE49-F238E27FC236}">
                <a16:creationId xmlns:a16="http://schemas.microsoft.com/office/drawing/2014/main" id="{06B48301-28F1-4941-ABFF-8DFBEF4B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VQ-VAE made neural representations discrete without high-variance estimators.</a:t>
            </a:r>
          </a:p>
        </p:txBody>
      </p:sp>
      <p:sp>
        <p:nvSpPr>
          <p:cNvPr id="6" name="text-190">
            <a:extLst xmlns:a="http://schemas.openxmlformats.org/drawingml/2006/main">
              <a:ext uri="{FF2B5EF4-FFF2-40B4-BE49-F238E27FC236}">
                <a16:creationId xmlns:a16="http://schemas.microsoft.com/office/drawing/2014/main" id="{ED22CA68-066F-4DD6-990F-07E9E696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6F716E"/>
                </a:solidFill>
              </a:defRPr>
            </a:pPr>
            <a:r>
              <a:rPr sz="1800" b="0" i="0">
                <a:solidFill>
                  <a:srgbClr val="6F716E"/>
                </a:solidFill>
              </a:rPr>
              <a:t>Nearest-neighbor codes, a straight-through path, and explicit codebook updates create a trainable token interface.</a:t>
            </a:r>
          </a:p>
        </p:txBody>
      </p:sp>
      <p:sp>
        <p:nvSpPr>
          <p:cNvPr id="7" name="text-191">
            <a:extLst xmlns:a="http://schemas.openxmlformats.org/drawingml/2006/main">
              <a:ext uri="{FF2B5EF4-FFF2-40B4-BE49-F238E27FC236}">
                <a16:creationId xmlns:a16="http://schemas.microsoft.com/office/drawing/2014/main" id="{43F5F051-87D1-458E-B8BC-D06EC314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F716E"/>
                </a:solidFill>
              </a:defRPr>
            </a:pPr>
            <a:r>
              <a:rPr sz="1350" b="0" i="0">
                <a:solidFill>
                  <a:srgbClr val="6F716E"/>
                </a:solidFill>
              </a:rPr>
              <a:t>Aaron van den Oord · Oriol Vinyals · Koray Kavukcuoglu</a:t>
            </a:r>
          </a:p>
        </p:txBody>
      </p:sp>
      <p:sp>
        <p:nvSpPr>
          <p:cNvPr id="8" name="text-192">
            <a:extLst xmlns:a="http://schemas.openxmlformats.org/drawingml/2006/main">
              <a:ext uri="{FF2B5EF4-FFF2-40B4-BE49-F238E27FC236}">
                <a16:creationId xmlns:a16="http://schemas.microsoft.com/office/drawing/2014/main" id="{602097D0-F056-4061-A546-03F695EA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F716E"/>
                </a:solidFill>
              </a:defRPr>
            </a:pPr>
            <a:r>
              <a:rPr sz="1200" b="0" i="0">
                <a:solidFill>
                  <a:srgbClr val="6F716E"/>
                </a:solidFill>
              </a:rPr>
              <a:t>NIPS 2017 · arXiv:1711.00937</a:t>
            </a:r>
          </a:p>
        </p:txBody>
      </p:sp>
      <p:sp>
        <p:nvSpPr>
          <p:cNvPr id="9" name="text-193">
            <a:extLst xmlns:a="http://schemas.openxmlformats.org/drawingml/2006/main">
              <a:ext uri="{FF2B5EF4-FFF2-40B4-BE49-F238E27FC236}">
                <a16:creationId xmlns:a16="http://schemas.microsoft.com/office/drawing/2014/main" id="{DAADD071-4795-415E-8D55-AAE9EC02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15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3907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94">
            <a:extLst xmlns:a="http://schemas.openxmlformats.org/drawingml/2006/main">
              <a:ext uri="{FF2B5EF4-FFF2-40B4-BE49-F238E27FC236}">
                <a16:creationId xmlns:a16="http://schemas.microsoft.com/office/drawing/2014/main" id="{9F1C58C1-5234-412B-9149-B8EDCD07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PROBLEM</a:t>
            </a:r>
          </a:p>
        </p:txBody>
      </p:sp>
      <p:sp>
        <p:nvSpPr>
          <p:cNvPr id="2" name="shape-195">
            <a:extLst xmlns:a="http://schemas.openxmlformats.org/drawingml/2006/main">
              <a:ext uri="{FF2B5EF4-FFF2-40B4-BE49-F238E27FC236}">
                <a16:creationId xmlns:a16="http://schemas.microsoft.com/office/drawing/2014/main" id="{048C7D9B-0BAB-4691-9143-162697A2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96">
            <a:extLst xmlns:a="http://schemas.openxmlformats.org/drawingml/2006/main">
              <a:ext uri="{FF2B5EF4-FFF2-40B4-BE49-F238E27FC236}">
                <a16:creationId xmlns:a16="http://schemas.microsoft.com/office/drawing/2014/main" id="{5A94F1DA-0CA9-47EF-99D8-8B9BAD09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§1-2 · pp. 1-3</a:t>
            </a:r>
          </a:p>
        </p:txBody>
      </p:sp>
      <p:sp>
        <p:nvSpPr>
          <p:cNvPr id="4" name="text-197">
            <a:extLst xmlns:a="http://schemas.openxmlformats.org/drawingml/2006/main">
              <a:ext uri="{FF2B5EF4-FFF2-40B4-BE49-F238E27FC236}">
                <a16:creationId xmlns:a16="http://schemas.microsoft.com/office/drawing/2014/main" id="{99329087-8604-4AA7-9784-8C33B29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02</a:t>
            </a:r>
          </a:p>
        </p:txBody>
      </p:sp>
      <p:sp>
        <p:nvSpPr>
          <p:cNvPr id="5" name="text-198">
            <a:extLst xmlns:a="http://schemas.openxmlformats.org/drawingml/2006/main">
              <a:ext uri="{FF2B5EF4-FFF2-40B4-BE49-F238E27FC236}">
                <a16:creationId xmlns:a16="http://schemas.microsoft.com/office/drawing/2014/main" id="{1F561EEC-CD15-415E-B269-528FFDD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Powerful decoders can ignore continuous latents</a:t>
            </a:r>
          </a:p>
        </p:txBody>
      </p:sp>
      <p:sp>
        <p:nvSpPr>
          <p:cNvPr id="6" name="text-199">
            <a:extLst xmlns:a="http://schemas.openxmlformats.org/drawingml/2006/main">
              <a:ext uri="{FF2B5EF4-FFF2-40B4-BE49-F238E27FC236}">
                <a16:creationId xmlns:a16="http://schemas.microsoft.com/office/drawing/2014/main" id="{EDF0EAA0-A921-4161-84C1-A6290301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A1493F"/>
                </a:solidFill>
              </a:defRPr>
            </a:pPr>
            <a:r>
              <a:rPr sz="1200" b="1" i="0">
                <a:solidFill>
                  <a:srgbClr val="A1493F"/>
                </a:solidFill>
              </a:rPr>
              <a:t>CONTINUOUS VAE + STRONG DECODER</a:t>
            </a:r>
          </a:p>
        </p:txBody>
      </p:sp>
      <p:sp>
        <p:nvSpPr>
          <p:cNvPr id="7" name="shape-200">
            <a:extLst xmlns:a="http://schemas.openxmlformats.org/drawingml/2006/main">
              <a:ext uri="{FF2B5EF4-FFF2-40B4-BE49-F238E27FC236}">
                <a16:creationId xmlns:a16="http://schemas.microsoft.com/office/drawing/2014/main" id="{EAA861ED-8BC9-4C40-9570-EACAE37D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625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1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01">
            <a:extLst xmlns:a="http://schemas.openxmlformats.org/drawingml/2006/main">
              <a:ext uri="{FF2B5EF4-FFF2-40B4-BE49-F238E27FC236}">
                <a16:creationId xmlns:a16="http://schemas.microsoft.com/office/drawing/2014/main" id="{509AD32A-3E98-4B52-9DF5-F30FBB02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A1493F"/>
                </a:solidFill>
              </a:defRPr>
            </a:pPr>
            <a:r>
              <a:rPr sz="2550" b="1" i="0">
                <a:solidFill>
                  <a:srgbClr val="A1493F"/>
                </a:solidFill>
              </a:rPr>
              <a:t>q(z|x) ≈ p(z)</a:t>
            </a:r>
          </a:p>
        </p:txBody>
      </p:sp>
      <p:sp>
        <p:nvSpPr>
          <p:cNvPr id="9" name="text-202">
            <a:extLst xmlns:a="http://schemas.openxmlformats.org/drawingml/2006/main">
              <a:ext uri="{FF2B5EF4-FFF2-40B4-BE49-F238E27FC236}">
                <a16:creationId xmlns:a16="http://schemas.microsoft.com/office/drawing/2014/main" id="{72D647B0-A74A-4B0B-9BAD-0B3CBD0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A1493F"/>
                </a:solidFill>
              </a:defRPr>
            </a:pPr>
            <a:r>
              <a:rPr sz="1500" b="0" i="0">
                <a:solidFill>
                  <a:srgbClr val="A1493F"/>
                </a:solidFill>
              </a:rPr>
              <a:t>the decoder models x without using z</a:t>
            </a:r>
          </a:p>
        </p:txBody>
      </p:sp>
      <p:sp>
        <p:nvSpPr>
          <p:cNvPr id="10" name="text-203">
            <a:extLst xmlns:a="http://schemas.openxmlformats.org/drawingml/2006/main">
              <a:ext uri="{FF2B5EF4-FFF2-40B4-BE49-F238E27FC236}">
                <a16:creationId xmlns:a16="http://schemas.microsoft.com/office/drawing/2014/main" id="{DB218C13-7A31-4ED5-BDF6-85F7EB09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DISCRETE REPRESENTATION</a:t>
            </a:r>
          </a:p>
        </p:txBody>
      </p:sp>
      <p:sp>
        <p:nvSpPr>
          <p:cNvPr id="11" name="shape-204">
            <a:extLst xmlns:a="http://schemas.openxmlformats.org/drawingml/2006/main">
              <a:ext uri="{FF2B5EF4-FFF2-40B4-BE49-F238E27FC236}">
                <a16:creationId xmlns:a16="http://schemas.microsoft.com/office/drawing/2014/main" id="{D9EF94CD-C497-4426-8E34-85A5E5E1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47625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05">
            <a:extLst xmlns:a="http://schemas.openxmlformats.org/drawingml/2006/main">
              <a:ext uri="{FF2B5EF4-FFF2-40B4-BE49-F238E27FC236}">
                <a16:creationId xmlns:a16="http://schemas.microsoft.com/office/drawing/2014/main" id="{DEF076EF-DA00-4A88-9636-5F7B0A9A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315EFB"/>
                </a:solidFill>
              </a:defRPr>
            </a:pPr>
            <a:r>
              <a:rPr sz="2550" b="1" i="0">
                <a:solidFill>
                  <a:srgbClr val="315EFB"/>
                </a:solidFill>
              </a:rPr>
              <a:t>z ∈ {1, …, K}</a:t>
            </a:r>
          </a:p>
        </p:txBody>
      </p:sp>
      <p:sp>
        <p:nvSpPr>
          <p:cNvPr id="13" name="text-206">
            <a:extLst xmlns:a="http://schemas.openxmlformats.org/drawingml/2006/main">
              <a:ext uri="{FF2B5EF4-FFF2-40B4-BE49-F238E27FC236}">
                <a16:creationId xmlns:a16="http://schemas.microsoft.com/office/drawing/2014/main" id="{5DA79390-FB66-4C83-AC38-ACFBFB8C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19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315EFB"/>
                </a:solidFill>
              </a:defRPr>
            </a:pPr>
            <a:r>
              <a:rPr sz="1500" b="0" i="0">
                <a:solidFill>
                  <a:srgbClr val="315EFB"/>
                </a:solidFill>
              </a:rPr>
              <a:t>a compressed symbol sequence for a learned prior</a:t>
            </a:r>
          </a:p>
        </p:txBody>
      </p:sp>
      <p:sp>
        <p:nvSpPr>
          <p:cNvPr id="14" name="shape-207">
            <a:extLst xmlns:a="http://schemas.openxmlformats.org/drawingml/2006/main">
              <a:ext uri="{FF2B5EF4-FFF2-40B4-BE49-F238E27FC236}">
                <a16:creationId xmlns:a16="http://schemas.microsoft.com/office/drawing/2014/main" id="{715D0B7B-674C-4D51-9DD9-B21E8D6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08">
            <a:extLst xmlns:a="http://schemas.openxmlformats.org/drawingml/2006/main">
              <a:ext uri="{FF2B5EF4-FFF2-40B4-BE49-F238E27FC236}">
                <a16:creationId xmlns:a16="http://schemas.microsoft.com/office/drawing/2014/main" id="{A0ED7F5F-85D0-417E-BDE8-360AD9A6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257B69"/>
                </a:solidFill>
              </a:defRPr>
            </a:pPr>
            <a:r>
              <a:rPr sz="3300" b="1" i="0">
                <a:solidFill>
                  <a:srgbClr val="257B69"/>
                </a:solidFill>
              </a:rPr>
              <a:t>low variance</a:t>
            </a:r>
          </a:p>
        </p:txBody>
      </p:sp>
      <p:sp>
        <p:nvSpPr>
          <p:cNvPr id="16" name="text-209">
            <a:extLst xmlns:a="http://schemas.openxmlformats.org/drawingml/2006/main">
              <a:ext uri="{FF2B5EF4-FFF2-40B4-BE49-F238E27FC236}">
                <a16:creationId xmlns:a16="http://schemas.microsoft.com/office/drawing/2014/main" id="{A86E1F9A-7D53-4E86-86DA-E79CA9E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without score-function estimators</a:t>
            </a:r>
          </a:p>
        </p:txBody>
      </p:sp>
      <p:sp>
        <p:nvSpPr>
          <p:cNvPr id="17" name="text-210">
            <a:extLst xmlns:a="http://schemas.openxmlformats.org/drawingml/2006/main">
              <a:ext uri="{FF2B5EF4-FFF2-40B4-BE49-F238E27FC236}">
                <a16:creationId xmlns:a16="http://schemas.microsoft.com/office/drawing/2014/main" id="{255291AD-4348-40D8-AAF3-695A34E6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958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315EFB"/>
                </a:solidFill>
              </a:defRPr>
            </a:pPr>
            <a:r>
              <a:rPr sz="3300" b="1" i="0">
                <a:solidFill>
                  <a:srgbClr val="315EFB"/>
                </a:solidFill>
              </a:rPr>
              <a:t>hard codes</a:t>
            </a:r>
          </a:p>
        </p:txBody>
      </p:sp>
      <p:sp>
        <p:nvSpPr>
          <p:cNvPr id="18" name="text-211">
            <a:extLst xmlns:a="http://schemas.openxmlformats.org/drawingml/2006/main">
              <a:ext uri="{FF2B5EF4-FFF2-40B4-BE49-F238E27FC236}">
                <a16:creationId xmlns:a16="http://schemas.microsoft.com/office/drawing/2014/main" id="{76D69C1D-CD61-4A1C-AC13-DAB04DCA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006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without annealing a soft relaxation</a:t>
            </a:r>
          </a:p>
        </p:txBody>
      </p:sp>
      <p:sp>
        <p:nvSpPr>
          <p:cNvPr id="19" name="text-212">
            <a:extLst xmlns:a="http://schemas.openxmlformats.org/drawingml/2006/main">
              <a:ext uri="{FF2B5EF4-FFF2-40B4-BE49-F238E27FC236}">
                <a16:creationId xmlns:a16="http://schemas.microsoft.com/office/drawing/2014/main" id="{6B4810C1-3885-444B-B9D5-1EE0E173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7656A3"/>
                </a:solidFill>
              </a:defRPr>
            </a:pPr>
            <a:r>
              <a:rPr sz="3300" b="1" i="0">
                <a:solidFill>
                  <a:srgbClr val="7656A3"/>
                </a:solidFill>
              </a:rPr>
              <a:t>strong prior</a:t>
            </a:r>
          </a:p>
        </p:txBody>
      </p:sp>
      <p:sp>
        <p:nvSpPr>
          <p:cNvPr id="20" name="text-213">
            <a:extLst xmlns:a="http://schemas.openxmlformats.org/drawingml/2006/main">
              <a:ext uri="{FF2B5EF4-FFF2-40B4-BE49-F238E27FC236}">
                <a16:creationId xmlns:a16="http://schemas.microsoft.com/office/drawing/2014/main" id="{8B1173BF-6829-4036-9332-4F9C7760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over compressed discrete sequences</a:t>
            </a:r>
          </a:p>
        </p:txBody>
      </p:sp>
    </p:spTree>
    <p:extLst>
      <p:ext uri="{BB962C8B-B14F-4D97-AF65-F5344CB8AC3E}">
        <p14:creationId xmlns:p14="http://schemas.microsoft.com/office/powerpoint/2010/main" val="1297773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14">
            <a:extLst xmlns:a="http://schemas.openxmlformats.org/drawingml/2006/main">
              <a:ext uri="{FF2B5EF4-FFF2-40B4-BE49-F238E27FC236}">
                <a16:creationId xmlns:a16="http://schemas.microsoft.com/office/drawing/2014/main" id="{77131FA2-DD5B-4E3E-8D1E-7A992973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DISCRETE BOTTLENECK</a:t>
            </a:r>
          </a:p>
        </p:txBody>
      </p:sp>
      <p:sp>
        <p:nvSpPr>
          <p:cNvPr id="2" name="shape-215">
            <a:extLst xmlns:a="http://schemas.openxmlformats.org/drawingml/2006/main">
              <a:ext uri="{FF2B5EF4-FFF2-40B4-BE49-F238E27FC236}">
                <a16:creationId xmlns:a16="http://schemas.microsoft.com/office/drawing/2014/main" id="{398A3F1A-D50A-4200-B27C-6D66FD9E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16">
            <a:extLst xmlns:a="http://schemas.openxmlformats.org/drawingml/2006/main">
              <a:ext uri="{FF2B5EF4-FFF2-40B4-BE49-F238E27FC236}">
                <a16:creationId xmlns:a16="http://schemas.microsoft.com/office/drawing/2014/main" id="{8937EC52-7C8D-420E-AA6A-E407A777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Fig. 1, Eq. (1)-(2) · pp. 3-4</a:t>
            </a:r>
          </a:p>
        </p:txBody>
      </p:sp>
      <p:sp>
        <p:nvSpPr>
          <p:cNvPr id="4" name="text-217">
            <a:extLst xmlns:a="http://schemas.openxmlformats.org/drawingml/2006/main">
              <a:ext uri="{FF2B5EF4-FFF2-40B4-BE49-F238E27FC236}">
                <a16:creationId xmlns:a16="http://schemas.microsoft.com/office/drawing/2014/main" id="{CA85BE58-3338-4278-BC03-4E9F6A9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03</a:t>
            </a:r>
          </a:p>
        </p:txBody>
      </p:sp>
      <p:sp>
        <p:nvSpPr>
          <p:cNvPr id="5" name="text-218">
            <a:extLst xmlns:a="http://schemas.openxmlformats.org/drawingml/2006/main">
              <a:ext uri="{FF2B5EF4-FFF2-40B4-BE49-F238E27FC236}">
                <a16:creationId xmlns:a16="http://schemas.microsoft.com/office/drawing/2014/main" id="{47BD502F-B1C3-4584-BF36-275B9E8C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Nearest-neighbor lookup turns features into tokens</a:t>
            </a:r>
          </a:p>
        </p:txBody>
      </p:sp>
      <p:sp>
        <p:nvSpPr>
          <p:cNvPr id="6" name="shape-219">
            <a:extLst xmlns:a="http://schemas.openxmlformats.org/drawingml/2006/main">
              <a:ext uri="{FF2B5EF4-FFF2-40B4-BE49-F238E27FC236}">
                <a16:creationId xmlns:a16="http://schemas.microsoft.com/office/drawing/2014/main" id="{D017C854-11D2-49E6-A6F3-56F22B7F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7a526cc74614"/>
          <a:stretch xmlns:a="http://schemas.openxmlformats.org/drawingml/2006/main"/>
        </p:blipFill>
        <p:spPr>
          <a:xfrm xmlns:a="http://schemas.openxmlformats.org/drawingml/2006/main">
            <a:off x="685800" y="1910661"/>
            <a:ext cx="10820400" cy="3436728"/>
          </a:xfrm>
          <a:prstGeom xmlns:a="http://schemas.openxmlformats.org/drawingml/2006/main" prst="rect">
            <a:avLst/>
          </a:prstGeom>
        </p:spPr>
      </p:pic>
      <p:sp>
        <p:nvSpPr>
          <p:cNvPr id="8" name="text-220">
            <a:extLst xmlns:a="http://schemas.openxmlformats.org/drawingml/2006/main">
              <a:ext uri="{FF2B5EF4-FFF2-40B4-BE49-F238E27FC236}">
                <a16:creationId xmlns:a16="http://schemas.microsoft.com/office/drawing/2014/main" id="{ACF0926B-6048-41BA-9392-881F44E5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1500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315EFB"/>
                </a:solidFill>
              </a:defRPr>
            </a:pPr>
            <a:r>
              <a:rPr sz="2025" b="1" i="0">
                <a:solidFill>
                  <a:srgbClr val="315EFB"/>
                </a:solidFill>
              </a:rPr>
              <a:t>zₑ(x) → k = argminⱼ ||zₑ(x) − eⱼ||² → zq(x) = eₖ</a:t>
            </a:r>
          </a:p>
        </p:txBody>
      </p:sp>
    </p:spTree>
    <p:extLst>
      <p:ext uri="{BB962C8B-B14F-4D97-AF65-F5344CB8AC3E}">
        <p14:creationId xmlns:p14="http://schemas.microsoft.com/office/powerpoint/2010/main" val="1643757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21">
            <a:extLst xmlns:a="http://schemas.openxmlformats.org/drawingml/2006/main">
              <a:ext uri="{FF2B5EF4-FFF2-40B4-BE49-F238E27FC236}">
                <a16:creationId xmlns:a16="http://schemas.microsoft.com/office/drawing/2014/main" id="{4DDBC926-64DD-430E-A1FE-9518379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GRADIENT INTERFACE</a:t>
            </a:r>
          </a:p>
        </p:txBody>
      </p:sp>
      <p:sp>
        <p:nvSpPr>
          <p:cNvPr id="2" name="shape-222">
            <a:extLst xmlns:a="http://schemas.openxmlformats.org/drawingml/2006/main">
              <a:ext uri="{FF2B5EF4-FFF2-40B4-BE49-F238E27FC236}">
                <a16:creationId xmlns:a16="http://schemas.microsoft.com/office/drawing/2014/main" id="{7E0FFD28-966D-4A02-855C-D66B355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23">
            <a:extLst xmlns:a="http://schemas.openxmlformats.org/drawingml/2006/main">
              <a:ext uri="{FF2B5EF4-FFF2-40B4-BE49-F238E27FC236}">
                <a16:creationId xmlns:a16="http://schemas.microsoft.com/office/drawing/2014/main" id="{19DCC379-A3D4-4C29-93A8-B7C036AB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§3.2 · pp. 3-4</a:t>
            </a:r>
          </a:p>
        </p:txBody>
      </p:sp>
      <p:sp>
        <p:nvSpPr>
          <p:cNvPr id="4" name="text-224">
            <a:extLst xmlns:a="http://schemas.openxmlformats.org/drawingml/2006/main">
              <a:ext uri="{FF2B5EF4-FFF2-40B4-BE49-F238E27FC236}">
                <a16:creationId xmlns:a16="http://schemas.microsoft.com/office/drawing/2014/main" id="{57B327D4-6124-4922-AD90-6EB05919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04</a:t>
            </a:r>
          </a:p>
        </p:txBody>
      </p:sp>
      <p:sp>
        <p:nvSpPr>
          <p:cNvPr id="5" name="text-225">
            <a:extLst xmlns:a="http://schemas.openxmlformats.org/drawingml/2006/main">
              <a:ext uri="{FF2B5EF4-FFF2-40B4-BE49-F238E27FC236}">
                <a16:creationId xmlns:a16="http://schemas.microsoft.com/office/drawing/2014/main" id="{C4E56D9E-E7CA-4CBF-9BFE-08C16C37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1717"/>
                </a:solidFill>
              </a:defRPr>
            </a:pPr>
            <a:r>
              <a:rPr sz="3300" b="1" i="0">
                <a:solidFill>
                  <a:srgbClr val="171717"/>
                </a:solidFill>
              </a:rPr>
              <a:t>Straight-through bypasses the discrete assignment</a:t>
            </a:r>
          </a:p>
        </p:txBody>
      </p:sp>
      <p:sp>
        <p:nvSpPr>
          <p:cNvPr id="6" name="text-226">
            <a:extLst xmlns:a="http://schemas.openxmlformats.org/drawingml/2006/main">
              <a:ext uri="{FF2B5EF4-FFF2-40B4-BE49-F238E27FC236}">
                <a16:creationId xmlns:a16="http://schemas.microsoft.com/office/drawing/2014/main" id="{BE97EE12-C3AD-47A8-AA22-2BB40C6E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FORWARD</a:t>
            </a:r>
          </a:p>
        </p:txBody>
      </p:sp>
      <p:sp>
        <p:nvSpPr>
          <p:cNvPr id="7" name="shape-227">
            <a:extLst xmlns:a="http://schemas.openxmlformats.org/drawingml/2006/main">
              <a:ext uri="{FF2B5EF4-FFF2-40B4-BE49-F238E27FC236}">
                <a16:creationId xmlns:a16="http://schemas.microsoft.com/office/drawing/2014/main" id="{874220DF-0713-4D60-8B17-3409B484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287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28">
            <a:extLst xmlns:a="http://schemas.openxmlformats.org/drawingml/2006/main">
              <a:ext uri="{FF2B5EF4-FFF2-40B4-BE49-F238E27FC236}">
                <a16:creationId xmlns:a16="http://schemas.microsoft.com/office/drawing/2014/main" id="{12022F41-3368-4D6E-B85C-CEF8A74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975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315EFB"/>
                </a:solidFill>
              </a:defRPr>
            </a:pPr>
            <a:r>
              <a:rPr sz="2175" b="1" i="0">
                <a:solidFill>
                  <a:srgbClr val="315EFB"/>
                </a:solidFill>
              </a:rPr>
              <a:t>zₑ(x)  →  nearest code eₖ  →  decoder  →  reconstruction</a:t>
            </a:r>
          </a:p>
        </p:txBody>
      </p:sp>
      <p:sp>
        <p:nvSpPr>
          <p:cNvPr id="9" name="text-229">
            <a:extLst xmlns:a="http://schemas.openxmlformats.org/drawingml/2006/main">
              <a:ext uri="{FF2B5EF4-FFF2-40B4-BE49-F238E27FC236}">
                <a16:creationId xmlns:a16="http://schemas.microsoft.com/office/drawing/2014/main" id="{9C57E717-C27E-40C1-B132-1CFAD0A3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A1493F"/>
                </a:solidFill>
              </a:defRPr>
            </a:pPr>
            <a:r>
              <a:rPr sz="1200" b="1" i="0">
                <a:solidFill>
                  <a:srgbClr val="A1493F"/>
                </a:solidFill>
              </a:rPr>
              <a:t>BACKWARD</a:t>
            </a:r>
          </a:p>
        </p:txBody>
      </p:sp>
      <p:sp>
        <p:nvSpPr>
          <p:cNvPr id="10" name="shape-230">
            <a:extLst xmlns:a="http://schemas.openxmlformats.org/drawingml/2006/main">
              <a:ext uri="{FF2B5EF4-FFF2-40B4-BE49-F238E27FC236}">
                <a16:creationId xmlns:a16="http://schemas.microsoft.com/office/drawing/2014/main" id="{956AB006-3D93-481D-BA56-59D9DABF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0287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31">
            <a:extLst xmlns:a="http://schemas.openxmlformats.org/drawingml/2006/main">
              <a:ext uri="{FF2B5EF4-FFF2-40B4-BE49-F238E27FC236}">
                <a16:creationId xmlns:a16="http://schemas.microsoft.com/office/drawing/2014/main" id="{7B4FFE28-289A-4D28-9E55-A5F7FEE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975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A1493F"/>
                </a:solidFill>
              </a:defRPr>
            </a:pPr>
            <a:r>
              <a:rPr sz="2175" b="1" i="0">
                <a:solidFill>
                  <a:srgbClr val="A1493F"/>
                </a:solidFill>
              </a:rPr>
              <a:t>∇z L is copied directly from zq(x) to zₑ(x)</a:t>
            </a:r>
          </a:p>
        </p:txBody>
      </p:sp>
      <p:sp>
        <p:nvSpPr>
          <p:cNvPr id="12" name="shape-232">
            <a:extLst xmlns:a="http://schemas.openxmlformats.org/drawingml/2006/main">
              <a:ext uri="{FF2B5EF4-FFF2-40B4-BE49-F238E27FC236}">
                <a16:creationId xmlns:a16="http://schemas.microsoft.com/office/drawing/2014/main" id="{DFA7EDCF-3779-41BD-82FC-4CCD277F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7690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33">
            <a:extLst xmlns:a="http://schemas.openxmlformats.org/drawingml/2006/main">
              <a:ext uri="{FF2B5EF4-FFF2-40B4-BE49-F238E27FC236}">
                <a16:creationId xmlns:a16="http://schemas.microsoft.com/office/drawing/2014/main" id="{7CA02821-DFAD-4ACF-9766-22D37283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853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The gradient is biased: it is not the derivative of nearest-neighbor lookup.</a:t>
            </a:r>
          </a:p>
        </p:txBody>
      </p:sp>
    </p:spTree>
    <p:extLst>
      <p:ext uri="{BB962C8B-B14F-4D97-AF65-F5344CB8AC3E}">
        <p14:creationId xmlns:p14="http://schemas.microsoft.com/office/powerpoint/2010/main" val="1972614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234">
            <a:extLst xmlns:a="http://schemas.openxmlformats.org/drawingml/2006/main">
              <a:ext uri="{FF2B5EF4-FFF2-40B4-BE49-F238E27FC236}">
                <a16:creationId xmlns:a16="http://schemas.microsoft.com/office/drawing/2014/main" id="{DF0073DD-6B7F-4855-A4E6-F1E48BFF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OBJECTIVE</a:t>
            </a:r>
          </a:p>
        </p:txBody>
      </p:sp>
      <p:sp>
        <p:nvSpPr>
          <p:cNvPr id="2" name="shape-235">
            <a:extLst xmlns:a="http://schemas.openxmlformats.org/drawingml/2006/main">
              <a:ext uri="{FF2B5EF4-FFF2-40B4-BE49-F238E27FC236}">
                <a16:creationId xmlns:a16="http://schemas.microsoft.com/office/drawing/2014/main" id="{70577C3F-DAEC-470B-9805-5E33696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36">
            <a:extLst xmlns:a="http://schemas.openxmlformats.org/drawingml/2006/main">
              <a:ext uri="{FF2B5EF4-FFF2-40B4-BE49-F238E27FC236}">
                <a16:creationId xmlns:a16="http://schemas.microsoft.com/office/drawing/2014/main" id="{25F9508C-4EE1-4CD7-B132-640CC06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Eq. (3) · p. 4</a:t>
            </a:r>
          </a:p>
        </p:txBody>
      </p:sp>
      <p:sp>
        <p:nvSpPr>
          <p:cNvPr id="4" name="text-237">
            <a:extLst xmlns:a="http://schemas.openxmlformats.org/drawingml/2006/main">
              <a:ext uri="{FF2B5EF4-FFF2-40B4-BE49-F238E27FC236}">
                <a16:creationId xmlns:a16="http://schemas.microsoft.com/office/drawing/2014/main" id="{02814FB0-1E64-4351-BE1C-88A69CF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05</a:t>
            </a:r>
          </a:p>
        </p:txBody>
      </p:sp>
      <p:sp>
        <p:nvSpPr>
          <p:cNvPr id="5" name="text-238">
            <a:extLst xmlns:a="http://schemas.openxmlformats.org/drawingml/2006/main">
              <a:ext uri="{FF2B5EF4-FFF2-40B4-BE49-F238E27FC236}">
                <a16:creationId xmlns:a16="http://schemas.microsoft.com/office/drawing/2014/main" id="{FD2C5C86-8172-4A4A-906E-201634A3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Three losses divide responsibility across the model</a:t>
            </a:r>
          </a:p>
        </p:txBody>
      </p:sp>
      <p:sp>
        <p:nvSpPr>
          <p:cNvPr id="6" name="shape-239">
            <a:extLst xmlns:a="http://schemas.openxmlformats.org/drawingml/2006/main">
              <a:ext uri="{FF2B5EF4-FFF2-40B4-BE49-F238E27FC236}">
                <a16:creationId xmlns:a16="http://schemas.microsoft.com/office/drawing/2014/main" id="{7773683B-378B-415A-8062-90FCECC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33375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40">
            <a:extLst xmlns:a="http://schemas.openxmlformats.org/drawingml/2006/main">
              <a:ext uri="{FF2B5EF4-FFF2-40B4-BE49-F238E27FC236}">
                <a16:creationId xmlns:a16="http://schemas.microsoft.com/office/drawing/2014/main" id="{179F8CF7-EDF6-4123-8B4A-E3AE57B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RECONSTRUCTION</a:t>
            </a:r>
          </a:p>
        </p:txBody>
      </p:sp>
      <p:sp>
        <p:nvSpPr>
          <p:cNvPr id="8" name="text-241">
            <a:extLst xmlns:a="http://schemas.openxmlformats.org/drawingml/2006/main">
              <a:ext uri="{FF2B5EF4-FFF2-40B4-BE49-F238E27FC236}">
                <a16:creationId xmlns:a16="http://schemas.microsoft.com/office/drawing/2014/main" id="{43555315-9ED5-4852-ACCB-1C7A4901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315EFB"/>
                </a:solidFill>
              </a:defRPr>
            </a:pPr>
            <a:r>
              <a:rPr sz="2100" b="1" i="0">
                <a:solidFill>
                  <a:srgbClr val="315EFB"/>
                </a:solidFill>
              </a:rPr>
              <a:t>− log p(x | zq)</a:t>
            </a:r>
          </a:p>
        </p:txBody>
      </p:sp>
      <p:sp>
        <p:nvSpPr>
          <p:cNvPr id="9" name="shape-242">
            <a:extLst xmlns:a="http://schemas.openxmlformats.org/drawingml/2006/main">
              <a:ext uri="{FF2B5EF4-FFF2-40B4-BE49-F238E27FC236}">
                <a16:creationId xmlns:a16="http://schemas.microsoft.com/office/drawing/2014/main" id="{F363E560-7939-4852-AB7B-49F2E4C6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43">
            <a:extLst xmlns:a="http://schemas.openxmlformats.org/drawingml/2006/main">
              <a:ext uri="{FF2B5EF4-FFF2-40B4-BE49-F238E27FC236}">
                <a16:creationId xmlns:a16="http://schemas.microsoft.com/office/drawing/2014/main" id="{AE3E7BED-0487-4E44-9FD9-05EB9A5D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updates</a:t>
            </a:r>
          </a:p>
        </p:txBody>
      </p:sp>
      <p:sp>
        <p:nvSpPr>
          <p:cNvPr id="11" name="text-244">
            <a:extLst xmlns:a="http://schemas.openxmlformats.org/drawingml/2006/main">
              <a:ext uri="{FF2B5EF4-FFF2-40B4-BE49-F238E27FC236}">
                <a16:creationId xmlns:a16="http://schemas.microsoft.com/office/drawing/2014/main" id="{E6E75F8E-0B9E-4615-8B4E-7765DA7A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decoder + encoder</a:t>
            </a:r>
          </a:p>
        </p:txBody>
      </p:sp>
      <p:sp>
        <p:nvSpPr>
          <p:cNvPr id="12" name="shape-245">
            <a:extLst xmlns:a="http://schemas.openxmlformats.org/drawingml/2006/main">
              <a:ext uri="{FF2B5EF4-FFF2-40B4-BE49-F238E27FC236}">
                <a16:creationId xmlns:a16="http://schemas.microsoft.com/office/drawing/2014/main" id="{FD2AD6ED-E359-4BC1-A21A-D6C16D6B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33375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8D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46">
            <a:extLst xmlns:a="http://schemas.openxmlformats.org/drawingml/2006/main">
              <a:ext uri="{FF2B5EF4-FFF2-40B4-BE49-F238E27FC236}">
                <a16:creationId xmlns:a16="http://schemas.microsoft.com/office/drawing/2014/main" id="{C5EECFF2-D1A9-457C-A971-C416DC0B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7656A3"/>
                </a:solidFill>
              </a:defRPr>
            </a:pPr>
            <a:r>
              <a:rPr sz="1200" b="1" i="0">
                <a:solidFill>
                  <a:srgbClr val="7656A3"/>
                </a:solidFill>
              </a:rPr>
              <a:t>CODEBOOK</a:t>
            </a:r>
          </a:p>
        </p:txBody>
      </p:sp>
      <p:sp>
        <p:nvSpPr>
          <p:cNvPr id="14" name="text-247">
            <a:extLst xmlns:a="http://schemas.openxmlformats.org/drawingml/2006/main">
              <a:ext uri="{FF2B5EF4-FFF2-40B4-BE49-F238E27FC236}">
                <a16:creationId xmlns:a16="http://schemas.microsoft.com/office/drawing/2014/main" id="{836EFF31-66B8-4B78-98A0-BF4C8C21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7656A3"/>
                </a:solidFill>
              </a:defRPr>
            </a:pPr>
            <a:r>
              <a:rPr sz="2100" b="1" i="0">
                <a:solidFill>
                  <a:srgbClr val="7656A3"/>
                </a:solidFill>
              </a:rPr>
              <a:t>|| sg[zₑ] − e ||²</a:t>
            </a:r>
          </a:p>
        </p:txBody>
      </p:sp>
      <p:sp>
        <p:nvSpPr>
          <p:cNvPr id="15" name="shape-248">
            <a:extLst xmlns:a="http://schemas.openxmlformats.org/drawingml/2006/main">
              <a:ext uri="{FF2B5EF4-FFF2-40B4-BE49-F238E27FC236}">
                <a16:creationId xmlns:a16="http://schemas.microsoft.com/office/drawing/2014/main" id="{487BF571-6825-46FF-BE46-C75DB8A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49">
            <a:extLst xmlns:a="http://schemas.openxmlformats.org/drawingml/2006/main">
              <a:ext uri="{FF2B5EF4-FFF2-40B4-BE49-F238E27FC236}">
                <a16:creationId xmlns:a16="http://schemas.microsoft.com/office/drawing/2014/main" id="{138E0BF9-3BC7-4AD3-A548-64551AC7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624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updates</a:t>
            </a:r>
          </a:p>
        </p:txBody>
      </p:sp>
      <p:sp>
        <p:nvSpPr>
          <p:cNvPr id="17" name="text-250">
            <a:extLst xmlns:a="http://schemas.openxmlformats.org/drawingml/2006/main">
              <a:ext uri="{FF2B5EF4-FFF2-40B4-BE49-F238E27FC236}">
                <a16:creationId xmlns:a16="http://schemas.microsoft.com/office/drawing/2014/main" id="{32D0AB24-EFB2-4704-8284-5CA86ECC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86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embeddings only</a:t>
            </a:r>
          </a:p>
        </p:txBody>
      </p:sp>
      <p:sp>
        <p:nvSpPr>
          <p:cNvPr id="18" name="shape-251">
            <a:extLst xmlns:a="http://schemas.openxmlformats.org/drawingml/2006/main">
              <a:ext uri="{FF2B5EF4-FFF2-40B4-BE49-F238E27FC236}">
                <a16:creationId xmlns:a16="http://schemas.microsoft.com/office/drawing/2014/main" id="{0F0EF8AA-BB24-441F-8679-BEB5B539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33375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DCE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52">
            <a:extLst xmlns:a="http://schemas.openxmlformats.org/drawingml/2006/main">
              <a:ext uri="{FF2B5EF4-FFF2-40B4-BE49-F238E27FC236}">
                <a16:creationId xmlns:a16="http://schemas.microsoft.com/office/drawing/2014/main" id="{200CC542-4DC3-4782-B927-1DD3A0BF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7B69"/>
                </a:solidFill>
              </a:defRPr>
            </a:pPr>
            <a:r>
              <a:rPr sz="1200" b="1" i="0">
                <a:solidFill>
                  <a:srgbClr val="257B69"/>
                </a:solidFill>
              </a:rPr>
              <a:t>COMMITMENT</a:t>
            </a:r>
          </a:p>
        </p:txBody>
      </p:sp>
      <p:sp>
        <p:nvSpPr>
          <p:cNvPr id="20" name="text-253">
            <a:extLst xmlns:a="http://schemas.openxmlformats.org/drawingml/2006/main">
              <a:ext uri="{FF2B5EF4-FFF2-40B4-BE49-F238E27FC236}">
                <a16:creationId xmlns:a16="http://schemas.microsoft.com/office/drawing/2014/main" id="{36453C91-EACF-494A-8377-F7FF7EE2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257B69"/>
                </a:solidFill>
              </a:defRPr>
            </a:pPr>
            <a:r>
              <a:rPr sz="2100" b="1" i="0">
                <a:solidFill>
                  <a:srgbClr val="257B69"/>
                </a:solidFill>
              </a:rPr>
              <a:t>β || zₑ − sg[e] ||²</a:t>
            </a:r>
          </a:p>
        </p:txBody>
      </p:sp>
      <p:sp>
        <p:nvSpPr>
          <p:cNvPr id="21" name="shape-254">
            <a:extLst xmlns:a="http://schemas.openxmlformats.org/drawingml/2006/main">
              <a:ext uri="{FF2B5EF4-FFF2-40B4-BE49-F238E27FC236}">
                <a16:creationId xmlns:a16="http://schemas.microsoft.com/office/drawing/2014/main" id="{979D92D5-9CCA-4202-9FA3-B5AEED9E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55">
            <a:extLst xmlns:a="http://schemas.openxmlformats.org/drawingml/2006/main">
              <a:ext uri="{FF2B5EF4-FFF2-40B4-BE49-F238E27FC236}">
                <a16:creationId xmlns:a16="http://schemas.microsoft.com/office/drawing/2014/main" id="{5B64002F-9E9C-430D-8061-0554047C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16E"/>
                </a:solidFill>
              </a:defRPr>
            </a:pPr>
            <a:r>
              <a:rPr sz="1275" b="0" i="0">
                <a:solidFill>
                  <a:srgbClr val="6F716E"/>
                </a:solidFill>
              </a:rPr>
              <a:t>updates</a:t>
            </a:r>
          </a:p>
        </p:txBody>
      </p:sp>
      <p:sp>
        <p:nvSpPr>
          <p:cNvPr id="23" name="text-256">
            <a:extLst xmlns:a="http://schemas.openxmlformats.org/drawingml/2006/main">
              <a:ext uri="{FF2B5EF4-FFF2-40B4-BE49-F238E27FC236}">
                <a16:creationId xmlns:a16="http://schemas.microsoft.com/office/drawing/2014/main" id="{13091822-E1F9-479A-9348-34FC720A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86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encoder only</a:t>
            </a:r>
          </a:p>
        </p:txBody>
      </p:sp>
      <p:sp>
        <p:nvSpPr>
          <p:cNvPr id="24" name="text-257">
            <a:extLst xmlns:a="http://schemas.openxmlformats.org/drawingml/2006/main">
              <a:ext uri="{FF2B5EF4-FFF2-40B4-BE49-F238E27FC236}">
                <a16:creationId xmlns:a16="http://schemas.microsoft.com/office/drawing/2014/main" id="{FB9E204A-3739-4B19-B5CB-7B037733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257B69"/>
                </a:solidFill>
              </a:defRPr>
            </a:pPr>
            <a:r>
              <a:rPr sz="3300" b="1" i="0">
                <a:solidFill>
                  <a:srgbClr val="257B69"/>
                </a:solidFill>
              </a:rPr>
              <a:t>β = 0.25</a:t>
            </a:r>
          </a:p>
        </p:txBody>
      </p:sp>
      <p:sp>
        <p:nvSpPr>
          <p:cNvPr id="25" name="text-258">
            <a:extLst xmlns:a="http://schemas.openxmlformats.org/drawingml/2006/main">
              <a:ext uri="{FF2B5EF4-FFF2-40B4-BE49-F238E27FC236}">
                <a16:creationId xmlns:a16="http://schemas.microsoft.com/office/drawing/2014/main" id="{F1BE8C0C-DF26-4E90-AB03-FD92A47E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245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used in every experiment</a:t>
            </a:r>
          </a:p>
        </p:txBody>
      </p:sp>
      <p:sp>
        <p:nvSpPr>
          <p:cNvPr id="26" name="text-259">
            <a:extLst xmlns:a="http://schemas.openxmlformats.org/drawingml/2006/main">
              <a:ext uri="{FF2B5EF4-FFF2-40B4-BE49-F238E27FC236}">
                <a16:creationId xmlns:a16="http://schemas.microsoft.com/office/drawing/2014/main" id="{24FC3E37-FE02-4AD7-B9E6-89929B20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97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315EFB"/>
                </a:solidFill>
              </a:defRPr>
            </a:pPr>
            <a:r>
              <a:rPr sz="3300" b="1" i="0">
                <a:solidFill>
                  <a:srgbClr val="315EFB"/>
                </a:solidFill>
              </a:rPr>
              <a:t>0.1–2.0</a:t>
            </a:r>
          </a:p>
        </p:txBody>
      </p:sp>
      <p:sp>
        <p:nvSpPr>
          <p:cNvPr id="27" name="text-260">
            <a:extLst xmlns:a="http://schemas.openxmlformats.org/drawingml/2006/main">
              <a:ext uri="{FF2B5EF4-FFF2-40B4-BE49-F238E27FC236}">
                <a16:creationId xmlns:a16="http://schemas.microsoft.com/office/drawing/2014/main" id="{3ACF82B7-9BE9-4BA8-A1B1-E574001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245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reported robust range</a:t>
            </a:r>
          </a:p>
        </p:txBody>
      </p:sp>
      <p:sp>
        <p:nvSpPr>
          <p:cNvPr id="28" name="text-261">
            <a:extLst xmlns:a="http://schemas.openxmlformats.org/drawingml/2006/main">
              <a:ext uri="{FF2B5EF4-FFF2-40B4-BE49-F238E27FC236}">
                <a16:creationId xmlns:a16="http://schemas.microsoft.com/office/drawing/2014/main" id="{DFB42D9A-99D7-4099-AD02-680E6441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7656A3"/>
                </a:solidFill>
              </a:defRPr>
            </a:pPr>
            <a:r>
              <a:rPr sz="3000" b="1" i="0">
                <a:solidFill>
                  <a:srgbClr val="7656A3"/>
                </a:solidFill>
              </a:rPr>
              <a:t>KL = log K</a:t>
            </a:r>
          </a:p>
        </p:txBody>
      </p:sp>
      <p:sp>
        <p:nvSpPr>
          <p:cNvPr id="29" name="text-262">
            <a:extLst xmlns:a="http://schemas.openxmlformats.org/drawingml/2006/main">
              <a:ext uri="{FF2B5EF4-FFF2-40B4-BE49-F238E27FC236}">
                <a16:creationId xmlns:a16="http://schemas.microsoft.com/office/drawing/2014/main" id="{8091678A-0505-43DF-82B0-FA4A5A66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245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constant under the uniform prior</a:t>
            </a:r>
          </a:p>
        </p:txBody>
      </p:sp>
    </p:spTree>
    <p:extLst>
      <p:ext uri="{BB962C8B-B14F-4D97-AF65-F5344CB8AC3E}">
        <p14:creationId xmlns:p14="http://schemas.microsoft.com/office/powerpoint/2010/main" val="15588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3">
            <a:extLst xmlns:a="http://schemas.openxmlformats.org/drawingml/2006/main">
              <a:ext uri="{FF2B5EF4-FFF2-40B4-BE49-F238E27FC236}">
                <a16:creationId xmlns:a16="http://schemas.microsoft.com/office/drawing/2014/main" id="{84E43E7C-F94A-4C1E-BF98-5E5C2EB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TWO-STAGE MODEL</a:t>
            </a:r>
          </a:p>
        </p:txBody>
      </p:sp>
      <p:sp>
        <p:nvSpPr>
          <p:cNvPr id="2" name="shape-264">
            <a:extLst xmlns:a="http://schemas.openxmlformats.org/drawingml/2006/main">
              <a:ext uri="{FF2B5EF4-FFF2-40B4-BE49-F238E27FC236}">
                <a16:creationId xmlns:a16="http://schemas.microsoft.com/office/drawing/2014/main" id="{52F8C38E-4D52-461A-A159-D84FB2BA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65">
            <a:extLst xmlns:a="http://schemas.openxmlformats.org/drawingml/2006/main">
              <a:ext uri="{FF2B5EF4-FFF2-40B4-BE49-F238E27FC236}">
                <a16:creationId xmlns:a16="http://schemas.microsoft.com/office/drawing/2014/main" id="{4FA8F846-379F-4D0E-9142-F040757F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§3.3 · p. 5</a:t>
            </a:r>
          </a:p>
        </p:txBody>
      </p:sp>
      <p:sp>
        <p:nvSpPr>
          <p:cNvPr id="4" name="text-266">
            <a:extLst xmlns:a="http://schemas.openxmlformats.org/drawingml/2006/main">
              <a:ext uri="{FF2B5EF4-FFF2-40B4-BE49-F238E27FC236}">
                <a16:creationId xmlns:a16="http://schemas.microsoft.com/office/drawing/2014/main" id="{DB05C723-38B2-44ED-B459-25667CE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06</a:t>
            </a:r>
          </a:p>
        </p:txBody>
      </p:sp>
      <p:sp>
        <p:nvSpPr>
          <p:cNvPr id="5" name="text-267">
            <a:extLst xmlns:a="http://schemas.openxmlformats.org/drawingml/2006/main">
              <a:ext uri="{FF2B5EF4-FFF2-40B4-BE49-F238E27FC236}">
                <a16:creationId xmlns:a16="http://schemas.microsoft.com/office/drawing/2014/main" id="{4DCECD17-700F-4080-AADC-570E6CBD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1717"/>
                </a:solidFill>
              </a:defRPr>
            </a:pPr>
            <a:r>
              <a:rPr sz="3300" b="1" i="0">
                <a:solidFill>
                  <a:srgbClr val="171717"/>
                </a:solidFill>
              </a:rPr>
              <a:t>Learn the representation, then learn its prior</a:t>
            </a:r>
          </a:p>
        </p:txBody>
      </p:sp>
      <p:sp>
        <p:nvSpPr>
          <p:cNvPr id="6" name="text-268">
            <a:extLst xmlns:a="http://schemas.openxmlformats.org/drawingml/2006/main">
              <a:ext uri="{FF2B5EF4-FFF2-40B4-BE49-F238E27FC236}">
                <a16:creationId xmlns:a16="http://schemas.microsoft.com/office/drawing/2014/main" id="{9BACC710-23F9-4F60-8922-72A60B17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STAGE 1 · LEARN THE TOKENIZER</a:t>
            </a:r>
          </a:p>
        </p:txBody>
      </p:sp>
      <p:sp>
        <p:nvSpPr>
          <p:cNvPr id="7" name="shape-269">
            <a:extLst xmlns:a="http://schemas.openxmlformats.org/drawingml/2006/main">
              <a:ext uri="{FF2B5EF4-FFF2-40B4-BE49-F238E27FC236}">
                <a16:creationId xmlns:a16="http://schemas.microsoft.com/office/drawing/2014/main" id="{C813263C-4C70-4EA2-9A99-EF7E238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762500" cy="18669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70">
            <a:extLst xmlns:a="http://schemas.openxmlformats.org/drawingml/2006/main">
              <a:ext uri="{FF2B5EF4-FFF2-40B4-BE49-F238E27FC236}">
                <a16:creationId xmlns:a16="http://schemas.microsoft.com/office/drawing/2014/main" id="{006A0E38-A438-43FA-94D8-30C2C84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765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315EFB"/>
                </a:solidFill>
              </a:defRPr>
            </a:pPr>
            <a:r>
              <a:rPr sz="2100" b="1" i="0">
                <a:solidFill>
                  <a:srgbClr val="315EFB"/>
                </a:solidFill>
              </a:rPr>
              <a:t>x → encoder → discrete z → decoder → x̂</a:t>
            </a:r>
          </a:p>
        </p:txBody>
      </p:sp>
      <p:sp>
        <p:nvSpPr>
          <p:cNvPr id="9" name="text-271">
            <a:extLst xmlns:a="http://schemas.openxmlformats.org/drawingml/2006/main">
              <a:ext uri="{FF2B5EF4-FFF2-40B4-BE49-F238E27FC236}">
                <a16:creationId xmlns:a16="http://schemas.microsoft.com/office/drawing/2014/main" id="{454B00B1-F37B-4187-A883-4056367F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uniform prior during VQ-VAE training</a:t>
            </a:r>
          </a:p>
        </p:txBody>
      </p:sp>
      <p:sp>
        <p:nvSpPr>
          <p:cNvPr id="10" name="text-272">
            <a:extLst xmlns:a="http://schemas.openxmlformats.org/drawingml/2006/main">
              <a:ext uri="{FF2B5EF4-FFF2-40B4-BE49-F238E27FC236}">
                <a16:creationId xmlns:a16="http://schemas.microsoft.com/office/drawing/2014/main" id="{0012B7A6-68D3-411B-A4F9-810D3C4C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60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6F716E"/>
                </a:solidFill>
              </a:defRPr>
            </a:pPr>
            <a:r>
              <a:rPr sz="3600" b="1" i="0">
                <a:solidFill>
                  <a:srgbClr val="6F716E"/>
                </a:solidFill>
              </a:rPr>
              <a:t>→</a:t>
            </a:r>
          </a:p>
        </p:txBody>
      </p:sp>
      <p:sp>
        <p:nvSpPr>
          <p:cNvPr id="11" name="text-273">
            <a:extLst xmlns:a="http://schemas.openxmlformats.org/drawingml/2006/main">
              <a:ext uri="{FF2B5EF4-FFF2-40B4-BE49-F238E27FC236}">
                <a16:creationId xmlns:a16="http://schemas.microsoft.com/office/drawing/2014/main" id="{70103073-DE54-4CE7-BE4A-5E6F94E8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7656A3"/>
                </a:solidFill>
              </a:defRPr>
            </a:pPr>
            <a:r>
              <a:rPr sz="1200" b="1" i="0">
                <a:solidFill>
                  <a:srgbClr val="7656A3"/>
                </a:solidFill>
              </a:rPr>
              <a:t>STAGE 2 · LEARN THE PRIOR</a:t>
            </a:r>
          </a:p>
        </p:txBody>
      </p:sp>
      <p:sp>
        <p:nvSpPr>
          <p:cNvPr id="12" name="shape-274">
            <a:extLst xmlns:a="http://schemas.openxmlformats.org/drawingml/2006/main">
              <a:ext uri="{FF2B5EF4-FFF2-40B4-BE49-F238E27FC236}">
                <a16:creationId xmlns:a16="http://schemas.microsoft.com/office/drawing/2014/main" id="{D39B5EBD-2659-4187-8331-0B32E295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4762500" cy="18669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E8D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75">
            <a:extLst xmlns:a="http://schemas.openxmlformats.org/drawingml/2006/main">
              <a:ext uri="{FF2B5EF4-FFF2-40B4-BE49-F238E27FC236}">
                <a16:creationId xmlns:a16="http://schemas.microsoft.com/office/drawing/2014/main" id="{C4C351D8-D753-4F46-A278-2ADABF9F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765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7656A3"/>
                </a:solidFill>
              </a:defRPr>
            </a:pPr>
            <a:r>
              <a:rPr sz="2100" b="1" i="0">
                <a:solidFill>
                  <a:srgbClr val="7656A3"/>
                </a:solidFill>
              </a:rPr>
              <a:t>p(z) = PixelCNN or WaveNet</a:t>
            </a:r>
          </a:p>
        </p:txBody>
      </p:sp>
      <p:sp>
        <p:nvSpPr>
          <p:cNvPr id="14" name="text-276">
            <a:extLst xmlns:a="http://schemas.openxmlformats.org/drawingml/2006/main">
              <a:ext uri="{FF2B5EF4-FFF2-40B4-BE49-F238E27FC236}">
                <a16:creationId xmlns:a16="http://schemas.microsoft.com/office/drawing/2014/main" id="{DDB09E4C-2049-41F0-A558-FAA6EF68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ancestral sample z, then decode once</a:t>
            </a:r>
          </a:p>
        </p:txBody>
      </p:sp>
      <p:sp>
        <p:nvSpPr>
          <p:cNvPr id="15" name="shape-277">
            <a:extLst xmlns:a="http://schemas.openxmlformats.org/drawingml/2006/main">
              <a:ext uri="{FF2B5EF4-FFF2-40B4-BE49-F238E27FC236}">
                <a16:creationId xmlns:a16="http://schemas.microsoft.com/office/drawing/2014/main" id="{8444CFC2-0801-4CF7-91F6-6AEFF2B5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78">
            <a:extLst xmlns:a="http://schemas.openxmlformats.org/drawingml/2006/main">
              <a:ext uri="{FF2B5EF4-FFF2-40B4-BE49-F238E27FC236}">
                <a16:creationId xmlns:a16="http://schemas.microsoft.com/office/drawing/2014/main" id="{0FF77E0F-7158-4522-9FDE-88A10711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10150"/>
            <a:ext cx="815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The prior models global structure; the decoder handles local detail.</a:t>
            </a:r>
          </a:p>
        </p:txBody>
      </p:sp>
      <p:sp>
        <p:nvSpPr>
          <p:cNvPr id="17" name="text-279">
            <a:extLst xmlns:a="http://schemas.openxmlformats.org/drawingml/2006/main">
              <a:ext uri="{FF2B5EF4-FFF2-40B4-BE49-F238E27FC236}">
                <a16:creationId xmlns:a16="http://schemas.microsoft.com/office/drawing/2014/main" id="{94061C64-14D8-431E-9FB1-01325E5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626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6F716E"/>
                </a:solidFill>
              </a:defRPr>
            </a:pPr>
            <a:r>
              <a:rPr sz="1350" b="0" i="0">
                <a:solidFill>
                  <a:srgbClr val="6F716E"/>
                </a:solidFill>
              </a:rPr>
              <a:t>Joint training is explicitly left as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518130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80">
            <a:extLst xmlns:a="http://schemas.openxmlformats.org/drawingml/2006/main">
              <a:ext uri="{FF2B5EF4-FFF2-40B4-BE49-F238E27FC236}">
                <a16:creationId xmlns:a16="http://schemas.microsoft.com/office/drawing/2014/main" id="{4FA75FC4-2B68-4B67-93E7-D21BEECF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QUANTITATIVE EVIDENCE</a:t>
            </a:r>
          </a:p>
        </p:txBody>
      </p:sp>
      <p:sp>
        <p:nvSpPr>
          <p:cNvPr id="2" name="shape-281">
            <a:extLst xmlns:a="http://schemas.openxmlformats.org/drawingml/2006/main">
              <a:ext uri="{FF2B5EF4-FFF2-40B4-BE49-F238E27FC236}">
                <a16:creationId xmlns:a16="http://schemas.microsoft.com/office/drawing/2014/main" id="{294C0FA0-B8BD-45D5-85DD-ADF10ADC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A3D83E0F-E41E-4643-957E-4EB0592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§4.1 · p. 5</a:t>
            </a:r>
          </a:p>
        </p:txBody>
      </p:sp>
      <p:sp>
        <p:nvSpPr>
          <p:cNvPr id="4" name="text-283">
            <a:extLst xmlns:a="http://schemas.openxmlformats.org/drawingml/2006/main">
              <a:ext uri="{FF2B5EF4-FFF2-40B4-BE49-F238E27FC236}">
                <a16:creationId xmlns:a16="http://schemas.microsoft.com/office/drawing/2014/main" id="{58C586FD-BDA3-4635-BA47-6C989EDB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07</a:t>
            </a:r>
          </a:p>
        </p:txBody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113EBD9C-26EC-4799-84B9-1419C5D4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1717"/>
                </a:solidFill>
              </a:defRPr>
            </a:pPr>
            <a:r>
              <a:rPr sz="3300" b="1" i="0">
                <a:solidFill>
                  <a:srgbClr val="171717"/>
                </a:solidFill>
              </a:rPr>
              <a:t>VQ-VAE approaches continuous-VAE likelihood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29B1F31B-9E7C-4221-A537-EFA33083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 i="0">
                <a:solidFill>
                  <a:srgbClr val="257B69"/>
                </a:solidFill>
              </a:defRPr>
            </a:pPr>
            <a:r>
              <a:rPr sz="4950" b="1" i="0">
                <a:solidFill>
                  <a:srgbClr val="257B69"/>
                </a:solidFill>
              </a:rPr>
              <a:t>4.51</a:t>
            </a:r>
          </a:p>
        </p:txBody>
      </p:sp>
      <p:sp>
        <p:nvSpPr>
          <p:cNvPr id="7" name="text-286">
            <a:extLst xmlns:a="http://schemas.openxmlformats.org/drawingml/2006/main">
              <a:ext uri="{FF2B5EF4-FFF2-40B4-BE49-F238E27FC236}">
                <a16:creationId xmlns:a16="http://schemas.microsoft.com/office/drawing/2014/main" id="{09BB7E65-319F-45F7-ABDD-B10DB01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continuous VAE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bits / dim</a:t>
            </a:r>
          </a:p>
        </p:txBody>
      </p:sp>
      <p:sp>
        <p:nvSpPr>
          <p:cNvPr id="8" name="text-287">
            <a:extLst xmlns:a="http://schemas.openxmlformats.org/drawingml/2006/main">
              <a:ext uri="{FF2B5EF4-FFF2-40B4-BE49-F238E27FC236}">
                <a16:creationId xmlns:a16="http://schemas.microsoft.com/office/drawing/2014/main" id="{0A7635B6-AE51-47DA-9A5F-97D6476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 i="0">
                <a:solidFill>
                  <a:srgbClr val="315EFB"/>
                </a:solidFill>
              </a:defRPr>
            </a:pPr>
            <a:r>
              <a:rPr sz="4950" b="1" i="0">
                <a:solidFill>
                  <a:srgbClr val="315EFB"/>
                </a:solidFill>
              </a:rPr>
              <a:t>4.67</a:t>
            </a:r>
          </a:p>
        </p:txBody>
      </p:sp>
      <p:sp>
        <p:nvSpPr>
          <p:cNvPr id="9" name="text-288">
            <a:extLst xmlns:a="http://schemas.openxmlformats.org/drawingml/2006/main">
              <a:ext uri="{FF2B5EF4-FFF2-40B4-BE49-F238E27FC236}">
                <a16:creationId xmlns:a16="http://schemas.microsoft.com/office/drawing/2014/main" id="{2B525A01-1EE8-4F78-B22A-87080F15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VQ-VAE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bits / dim</a:t>
            </a:r>
          </a:p>
        </p:txBody>
      </p:sp>
      <p:sp>
        <p:nvSpPr>
          <p:cNvPr id="10" name="text-289">
            <a:extLst xmlns:a="http://schemas.openxmlformats.org/drawingml/2006/main">
              <a:ext uri="{FF2B5EF4-FFF2-40B4-BE49-F238E27FC236}">
                <a16:creationId xmlns:a16="http://schemas.microsoft.com/office/drawing/2014/main" id="{24F8AB5A-8DC6-4E67-B410-649E837B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 i="0">
                <a:solidFill>
                  <a:srgbClr val="A1493F"/>
                </a:solidFill>
              </a:defRPr>
            </a:pPr>
            <a:r>
              <a:rPr sz="4950" b="1" i="0">
                <a:solidFill>
                  <a:srgbClr val="A1493F"/>
                </a:solidFill>
              </a:rPr>
              <a:t>5.14</a:t>
            </a:r>
          </a:p>
        </p:txBody>
      </p:sp>
      <p:sp>
        <p:nvSpPr>
          <p:cNvPr id="11" name="text-290">
            <a:extLst xmlns:a="http://schemas.openxmlformats.org/drawingml/2006/main">
              <a:ext uri="{FF2B5EF4-FFF2-40B4-BE49-F238E27FC236}">
                <a16:creationId xmlns:a16="http://schemas.microsoft.com/office/drawing/2014/main" id="{68456EAD-99F4-40D0-ADC1-DF9E0A1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VIMCO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bits / dim</a:t>
            </a:r>
          </a:p>
        </p:txBody>
      </p:sp>
      <p:sp>
        <p:nvSpPr>
          <p:cNvPr id="12" name="text-291">
            <a:extLst xmlns:a="http://schemas.openxmlformats.org/drawingml/2006/main">
              <a:ext uri="{FF2B5EF4-FFF2-40B4-BE49-F238E27FC236}">
                <a16:creationId xmlns:a16="http://schemas.microsoft.com/office/drawing/2014/main" id="{D88056DC-548E-4219-950D-5405795E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62400"/>
            <a:ext cx="758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6F716E"/>
                </a:solidFill>
              </a:defRPr>
            </a:pPr>
            <a:r>
              <a:rPr sz="1500" b="1" i="0">
                <a:solidFill>
                  <a:srgbClr val="6F716E"/>
                </a:solidFill>
              </a:rPr>
              <a:t>lower is better · all values are variational lower bounds</a:t>
            </a:r>
          </a:p>
        </p:txBody>
      </p:sp>
      <p:sp>
        <p:nvSpPr>
          <p:cNvPr id="13" name="shape-292">
            <a:extLst xmlns:a="http://schemas.openxmlformats.org/drawingml/2006/main">
              <a:ext uri="{FF2B5EF4-FFF2-40B4-BE49-F238E27FC236}">
                <a16:creationId xmlns:a16="http://schemas.microsoft.com/office/drawing/2014/main" id="{B2A7DB9D-3977-4BFA-8AF9-1F89671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293">
            <a:extLst xmlns:a="http://schemas.openxmlformats.org/drawingml/2006/main">
              <a:ext uri="{FF2B5EF4-FFF2-40B4-BE49-F238E27FC236}">
                <a16:creationId xmlns:a16="http://schemas.microsoft.com/office/drawing/2014/main" id="{A068CC69-FED4-4A94-AAF5-0C890F30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94">
            <a:extLst xmlns:a="http://schemas.openxmlformats.org/drawingml/2006/main">
              <a:ext uri="{FF2B5EF4-FFF2-40B4-BE49-F238E27FC236}">
                <a16:creationId xmlns:a16="http://schemas.microsoft.com/office/drawing/2014/main" id="{DA8850E2-BCD5-428D-AFEE-CAFF672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710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71717"/>
                </a:solidFill>
              </a:defRPr>
            </a:pPr>
            <a:r>
              <a:rPr sz="1950" b="1" i="0">
                <a:solidFill>
                  <a:srgbClr val="171717"/>
                </a:solidFill>
              </a:rPr>
              <a:t>VQ-VAE is 0.16 bits/dim behind the continuous VAE.</a:t>
            </a:r>
          </a:p>
        </p:txBody>
      </p:sp>
      <p:sp>
        <p:nvSpPr>
          <p:cNvPr id="16" name="shape-295">
            <a:extLst xmlns:a="http://schemas.openxmlformats.org/drawingml/2006/main">
              <a:ext uri="{FF2B5EF4-FFF2-40B4-BE49-F238E27FC236}">
                <a16:creationId xmlns:a16="http://schemas.microsoft.com/office/drawing/2014/main" id="{8A84B455-5205-46A9-9A84-CFEB191C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959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96">
            <a:extLst xmlns:a="http://schemas.openxmlformats.org/drawingml/2006/main">
              <a:ext uri="{FF2B5EF4-FFF2-40B4-BE49-F238E27FC236}">
                <a16:creationId xmlns:a16="http://schemas.microsoft.com/office/drawing/2014/main" id="{31DF24B2-0C62-4B9A-82AD-7DBC49B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57850"/>
            <a:ext cx="786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71717"/>
                </a:solidFill>
              </a:defRPr>
            </a:pPr>
            <a:r>
              <a:rPr sz="1950" b="1" i="0">
                <a:solidFill>
                  <a:srgbClr val="171717"/>
                </a:solidFill>
              </a:rPr>
              <a:t>It improves 0.47 bits/dim over this VIMCO baseline.</a:t>
            </a:r>
          </a:p>
        </p:txBody>
      </p:sp>
    </p:spTree>
    <p:extLst>
      <p:ext uri="{BB962C8B-B14F-4D97-AF65-F5344CB8AC3E}">
        <p14:creationId xmlns:p14="http://schemas.microsoft.com/office/powerpoint/2010/main" val="749266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97">
            <a:extLst xmlns:a="http://schemas.openxmlformats.org/drawingml/2006/main">
              <a:ext uri="{FF2B5EF4-FFF2-40B4-BE49-F238E27FC236}">
                <a16:creationId xmlns:a16="http://schemas.microsoft.com/office/drawing/2014/main" id="{40D10F99-D736-4DAA-86A1-FDA8D142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IMAGE EVIDENCE</a:t>
            </a:r>
          </a:p>
        </p:txBody>
      </p:sp>
      <p:sp>
        <p:nvSpPr>
          <p:cNvPr id="2" name="shape-298">
            <a:extLst xmlns:a="http://schemas.openxmlformats.org/drawingml/2006/main">
              <a:ext uri="{FF2B5EF4-FFF2-40B4-BE49-F238E27FC236}">
                <a16:creationId xmlns:a16="http://schemas.microsoft.com/office/drawing/2014/main" id="{959D16D4-A996-4522-8B6A-9328F5C7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99">
            <a:extLst xmlns:a="http://schemas.openxmlformats.org/drawingml/2006/main">
              <a:ext uri="{FF2B5EF4-FFF2-40B4-BE49-F238E27FC236}">
                <a16:creationId xmlns:a16="http://schemas.microsoft.com/office/drawing/2014/main" id="{1EC95CA9-1683-4807-A72F-236E460C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Fig. 2-3, §4.2 · pp. 5-6</a:t>
            </a:r>
          </a:p>
        </p:txBody>
      </p:sp>
      <p:sp>
        <p:nvSpPr>
          <p:cNvPr id="4" name="text-300">
            <a:extLst xmlns:a="http://schemas.openxmlformats.org/drawingml/2006/main">
              <a:ext uri="{FF2B5EF4-FFF2-40B4-BE49-F238E27FC236}">
                <a16:creationId xmlns:a16="http://schemas.microsoft.com/office/drawing/2014/main" id="{60B8F46A-6619-4EB9-9634-603637E4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08</a:t>
            </a:r>
          </a:p>
        </p:txBody>
      </p:sp>
      <p:sp>
        <p:nvSpPr>
          <p:cNvPr id="5" name="text-301">
            <a:extLst xmlns:a="http://schemas.openxmlformats.org/drawingml/2006/main">
              <a:ext uri="{FF2B5EF4-FFF2-40B4-BE49-F238E27FC236}">
                <a16:creationId xmlns:a16="http://schemas.microsoft.com/office/drawing/2014/main" id="{F0546BBD-E1E9-4658-8CF6-3D051531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1717"/>
                </a:solidFill>
              </a:defRPr>
            </a:pPr>
            <a:r>
              <a:rPr sz="3300" b="1" i="0">
                <a:solidFill>
                  <a:srgbClr val="171717"/>
                </a:solidFill>
              </a:rPr>
              <a:t>A compact code grid preserves image structure</a:t>
            </a:r>
          </a:p>
        </p:txBody>
      </p:sp>
      <p:sp>
        <p:nvSpPr>
          <p:cNvPr id="6" name="shape-302">
            <a:extLst xmlns:a="http://schemas.openxmlformats.org/drawingml/2006/main">
              <a:ext uri="{FF2B5EF4-FFF2-40B4-BE49-F238E27FC236}">
                <a16:creationId xmlns:a16="http://schemas.microsoft.com/office/drawing/2014/main" id="{021E9F8C-4B00-46DB-A593-AF345A90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3721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51585f953461f"/>
          <a:stretch xmlns:a="http://schemas.openxmlformats.org/drawingml/2006/main"/>
        </p:blipFill>
        <p:spPr>
          <a:xfrm xmlns:a="http://schemas.openxmlformats.org/drawingml/2006/main">
            <a:off x="685800" y="2198281"/>
            <a:ext cx="5219700" cy="1375589"/>
          </a:xfrm>
          <a:prstGeom xmlns:a="http://schemas.openxmlformats.org/drawingml/2006/main" prst="rect">
            <a:avLst/>
          </a:prstGeom>
        </p:spPr>
      </p:pic>
      <p:sp>
        <p:nvSpPr>
          <p:cNvPr id="8" name="shape-303">
            <a:extLst xmlns:a="http://schemas.openxmlformats.org/drawingml/2006/main">
              <a:ext uri="{FF2B5EF4-FFF2-40B4-BE49-F238E27FC236}">
                <a16:creationId xmlns:a16="http://schemas.microsoft.com/office/drawing/2014/main" id="{C6907339-2D74-459E-8359-580FBAEC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372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aa32141d04596"/>
          <a:stretch xmlns:a="http://schemas.openxmlformats.org/drawingml/2006/main"/>
        </p:blipFill>
        <p:spPr>
          <a:xfrm xmlns:a="http://schemas.openxmlformats.org/drawingml/2006/main">
            <a:off x="6286500" y="2209782"/>
            <a:ext cx="5219700" cy="1962185"/>
          </a:xfrm>
          <a:prstGeom xmlns:a="http://schemas.openxmlformats.org/drawingml/2006/main" prst="rect">
            <a:avLst/>
          </a:prstGeom>
        </p:spPr>
      </p:pic>
      <p:sp>
        <p:nvSpPr>
          <p:cNvPr id="10" name="text-304">
            <a:extLst xmlns:a="http://schemas.openxmlformats.org/drawingml/2006/main">
              <a:ext uri="{FF2B5EF4-FFF2-40B4-BE49-F238E27FC236}">
                <a16:creationId xmlns:a16="http://schemas.microsoft.com/office/drawing/2014/main" id="{664CAD6C-9D79-43C6-A90F-A6403A8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RECONSTRUCTION</a:t>
            </a:r>
          </a:p>
        </p:txBody>
      </p:sp>
      <p:sp>
        <p:nvSpPr>
          <p:cNvPr id="11" name="text-305">
            <a:extLst xmlns:a="http://schemas.openxmlformats.org/drawingml/2006/main">
              <a:ext uri="{FF2B5EF4-FFF2-40B4-BE49-F238E27FC236}">
                <a16:creationId xmlns:a16="http://schemas.microsoft.com/office/drawing/2014/main" id="{8C34D97D-367B-4C91-A18C-27536B4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128×128×3 image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→ 32×32 codes, K=512</a:t>
            </a:r>
          </a:p>
        </p:txBody>
      </p:sp>
      <p:sp>
        <p:nvSpPr>
          <p:cNvPr id="12" name="text-306">
            <a:extLst xmlns:a="http://schemas.openxmlformats.org/drawingml/2006/main">
              <a:ext uri="{FF2B5EF4-FFF2-40B4-BE49-F238E27FC236}">
                <a16:creationId xmlns:a16="http://schemas.microsoft.com/office/drawing/2014/main" id="{2CDBD587-398D-4A00-B8C1-157F665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315EFB"/>
                </a:solidFill>
              </a:defRPr>
            </a:pPr>
            <a:r>
              <a:rPr sz="3600" b="1" i="0">
                <a:solidFill>
                  <a:srgbClr val="315EFB"/>
                </a:solidFill>
              </a:rPr>
              <a:t>≈42.6×</a:t>
            </a:r>
          </a:p>
        </p:txBody>
      </p:sp>
      <p:sp>
        <p:nvSpPr>
          <p:cNvPr id="13" name="text-307">
            <a:extLst xmlns:a="http://schemas.openxmlformats.org/drawingml/2006/main">
              <a:ext uri="{FF2B5EF4-FFF2-40B4-BE49-F238E27FC236}">
                <a16:creationId xmlns:a16="http://schemas.microsoft.com/office/drawing/2014/main" id="{75D7EB1A-B7B3-4C71-A47F-CB603693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67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raw-bit compression ratio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before entropy coding</a:t>
            </a:r>
          </a:p>
        </p:txBody>
      </p:sp>
      <p:sp>
        <p:nvSpPr>
          <p:cNvPr id="14" name="text-308">
            <a:extLst xmlns:a="http://schemas.openxmlformats.org/drawingml/2006/main">
              <a:ext uri="{FF2B5EF4-FFF2-40B4-BE49-F238E27FC236}">
                <a16:creationId xmlns:a16="http://schemas.microsoft.com/office/drawing/2014/main" id="{5B32AC8C-D5EC-4C30-86A7-D1D63D38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Main objects survive; pixel-level detail becomes visibly blurrier.</a:t>
            </a:r>
          </a:p>
        </p:txBody>
      </p:sp>
    </p:spTree>
    <p:extLst>
      <p:ext uri="{BB962C8B-B14F-4D97-AF65-F5344CB8AC3E}">
        <p14:creationId xmlns:p14="http://schemas.microsoft.com/office/powerpoint/2010/main" val="2077525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09">
            <a:extLst xmlns:a="http://schemas.openxmlformats.org/drawingml/2006/main">
              <a:ext uri="{FF2B5EF4-FFF2-40B4-BE49-F238E27FC236}">
                <a16:creationId xmlns:a16="http://schemas.microsoft.com/office/drawing/2014/main" id="{5B5C1762-54D6-494D-B7FC-C249A289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SPEECH EVIDENCE</a:t>
            </a:r>
          </a:p>
        </p:txBody>
      </p:sp>
      <p:sp>
        <p:nvSpPr>
          <p:cNvPr id="2" name="shape-310">
            <a:extLst xmlns:a="http://schemas.openxmlformats.org/drawingml/2006/main">
              <a:ext uri="{FF2B5EF4-FFF2-40B4-BE49-F238E27FC236}">
                <a16:creationId xmlns:a16="http://schemas.microsoft.com/office/drawing/2014/main" id="{5753D57D-0A41-491C-A8AD-BCE3328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11">
            <a:extLst xmlns:a="http://schemas.openxmlformats.org/drawingml/2006/main">
              <a:ext uri="{FF2B5EF4-FFF2-40B4-BE49-F238E27FC236}">
                <a16:creationId xmlns:a16="http://schemas.microsoft.com/office/drawing/2014/main" id="{3862591C-AB6B-44AE-B698-D7BAF7CA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Fig. 6, §4.3 · pp. 7-8</a:t>
            </a:r>
          </a:p>
        </p:txBody>
      </p:sp>
      <p:sp>
        <p:nvSpPr>
          <p:cNvPr id="4" name="text-312">
            <a:extLst xmlns:a="http://schemas.openxmlformats.org/drawingml/2006/main">
              <a:ext uri="{FF2B5EF4-FFF2-40B4-BE49-F238E27FC236}">
                <a16:creationId xmlns:a16="http://schemas.microsoft.com/office/drawing/2014/main" id="{A275A406-8A46-4364-AD59-79BB314B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09</a:t>
            </a:r>
          </a:p>
        </p:txBody>
      </p:sp>
      <p:sp>
        <p:nvSpPr>
          <p:cNvPr id="5" name="text-313">
            <a:extLst xmlns:a="http://schemas.openxmlformats.org/drawingml/2006/main">
              <a:ext uri="{FF2B5EF4-FFF2-40B4-BE49-F238E27FC236}">
                <a16:creationId xmlns:a16="http://schemas.microsoft.com/office/drawing/2014/main" id="{55236D44-A8FC-4941-8208-4308CE04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171717"/>
                </a:solidFill>
              </a:defRPr>
            </a:pPr>
            <a:r>
              <a:rPr sz="3300" b="1" i="0">
                <a:solidFill>
                  <a:srgbClr val="171717"/>
                </a:solidFill>
              </a:rPr>
              <a:t>Speech codes retain content and enable conversion</a:t>
            </a:r>
          </a:p>
        </p:txBody>
      </p:sp>
      <p:sp>
        <p:nvSpPr>
          <p:cNvPr id="6" name="shape-314">
            <a:extLst xmlns:a="http://schemas.openxmlformats.org/drawingml/2006/main">
              <a:ext uri="{FF2B5EF4-FFF2-40B4-BE49-F238E27FC236}">
                <a16:creationId xmlns:a16="http://schemas.microsoft.com/office/drawing/2014/main" id="{A3EEE24C-0446-4080-A96C-A454AB2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391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407958f9147f1"/>
          <a:stretch xmlns:a="http://schemas.openxmlformats.org/drawingml/2006/main"/>
        </p:blipFill>
        <p:spPr>
          <a:xfrm xmlns:a="http://schemas.openxmlformats.org/drawingml/2006/main">
            <a:off x="685800" y="2332458"/>
            <a:ext cx="7239000" cy="1316783"/>
          </a:xfrm>
          <a:prstGeom xmlns:a="http://schemas.openxmlformats.org/drawingml/2006/main" prst="rect">
            <a:avLst/>
          </a:prstGeom>
        </p:spPr>
      </p:pic>
      <p:sp>
        <p:nvSpPr>
          <p:cNvPr id="8" name="text-315">
            <a:extLst xmlns:a="http://schemas.openxmlformats.org/drawingml/2006/main">
              <a:ext uri="{FF2B5EF4-FFF2-40B4-BE49-F238E27FC236}">
                <a16:creationId xmlns:a16="http://schemas.microsoft.com/office/drawing/2014/main" id="{1030E41A-30C9-447C-963B-72E7B893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 i="0">
                <a:solidFill>
                  <a:srgbClr val="315EFB"/>
                </a:solidFill>
              </a:defRPr>
            </a:pPr>
            <a:r>
              <a:rPr sz="3900" b="1" i="0">
                <a:solidFill>
                  <a:srgbClr val="315EFB"/>
                </a:solidFill>
              </a:rPr>
              <a:t>49.3%</a:t>
            </a:r>
          </a:p>
        </p:txBody>
      </p:sp>
      <p:sp>
        <p:nvSpPr>
          <p:cNvPr id="9" name="text-316">
            <a:extLst xmlns:a="http://schemas.openxmlformats.org/drawingml/2006/main">
              <a:ext uri="{FF2B5EF4-FFF2-40B4-BE49-F238E27FC236}">
                <a16:creationId xmlns:a16="http://schemas.microsoft.com/office/drawing/2014/main" id="{2A12067F-4EA0-402B-BF94-AB2448FE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code → phoneme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accuracy</a:t>
            </a:r>
          </a:p>
        </p:txBody>
      </p:sp>
      <p:sp>
        <p:nvSpPr>
          <p:cNvPr id="10" name="text-317">
            <a:extLst xmlns:a="http://schemas.openxmlformats.org/drawingml/2006/main">
              <a:ext uri="{FF2B5EF4-FFF2-40B4-BE49-F238E27FC236}">
                <a16:creationId xmlns:a16="http://schemas.microsoft.com/office/drawing/2014/main" id="{C6B1A814-460B-48AA-860C-080E561E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 i="0">
                <a:solidFill>
                  <a:srgbClr val="A1493F"/>
                </a:solidFill>
              </a:defRPr>
            </a:pPr>
            <a:r>
              <a:rPr sz="3900" b="1" i="0">
                <a:solidFill>
                  <a:srgbClr val="A1493F"/>
                </a:solidFill>
              </a:rPr>
              <a:t>7.2%</a:t>
            </a:r>
          </a:p>
        </p:txBody>
      </p:sp>
      <p:sp>
        <p:nvSpPr>
          <p:cNvPr id="11" name="text-318">
            <a:extLst xmlns:a="http://schemas.openxmlformats.org/drawingml/2006/main">
              <a:ext uri="{FF2B5EF4-FFF2-40B4-BE49-F238E27FC236}">
                <a16:creationId xmlns:a16="http://schemas.microsoft.com/office/drawing/2014/main" id="{A40AB066-F9D6-4CFF-843E-927B1ADC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majority-phoneme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baseline</a:t>
            </a:r>
          </a:p>
        </p:txBody>
      </p:sp>
      <p:sp>
        <p:nvSpPr>
          <p:cNvPr id="12" name="text-319">
            <a:extLst xmlns:a="http://schemas.openxmlformats.org/drawingml/2006/main">
              <a:ext uri="{FF2B5EF4-FFF2-40B4-BE49-F238E27FC236}">
                <a16:creationId xmlns:a16="http://schemas.microsoft.com/office/drawing/2014/main" id="{79EA5B65-A072-4580-8C76-94FF4181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57B69"/>
                </a:solidFill>
              </a:defRPr>
            </a:pPr>
            <a:r>
              <a:rPr sz="1200" b="1" i="0">
                <a:solidFill>
                  <a:srgbClr val="257B69"/>
                </a:solidFill>
              </a:rPr>
              <a:t>VCTK SETUP</a:t>
            </a:r>
          </a:p>
        </p:txBody>
      </p:sp>
      <p:sp>
        <p:nvSpPr>
          <p:cNvPr id="13" name="text-320">
            <a:extLst xmlns:a="http://schemas.openxmlformats.org/drawingml/2006/main">
              <a:ext uri="{FF2B5EF4-FFF2-40B4-BE49-F238E27FC236}">
                <a16:creationId xmlns:a16="http://schemas.microsoft.com/office/drawing/2014/main" id="{D27CC8E2-3709-4E90-BC64-9F2B06B9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672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109 speakers · 64× downsampling · K=512 · decoder receives speaker ID</a:t>
            </a:r>
          </a:p>
        </p:txBody>
      </p:sp>
      <p:sp>
        <p:nvSpPr>
          <p:cNvPr id="14" name="shape-321">
            <a:extLst xmlns:a="http://schemas.openxmlformats.org/drawingml/2006/main">
              <a:ext uri="{FF2B5EF4-FFF2-40B4-BE49-F238E27FC236}">
                <a16:creationId xmlns:a16="http://schemas.microsoft.com/office/drawing/2014/main" id="{86DB71C1-DD49-4F52-B3F9-5E136D9C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7215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22">
            <a:extLst xmlns:a="http://schemas.openxmlformats.org/drawingml/2006/main">
              <a:ext uri="{FF2B5EF4-FFF2-40B4-BE49-F238E27FC236}">
                <a16:creationId xmlns:a16="http://schemas.microsoft.com/office/drawing/2014/main" id="{3DA1EB00-E575-4016-991E-591D2145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34050"/>
            <a:ext cx="739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Content is retained while speaker identity can be swapped.</a:t>
            </a:r>
          </a:p>
        </p:txBody>
      </p:sp>
    </p:spTree>
    <p:extLst>
      <p:ext uri="{BB962C8B-B14F-4D97-AF65-F5344CB8AC3E}">
        <p14:creationId xmlns:p14="http://schemas.microsoft.com/office/powerpoint/2010/main" val="2043659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23">
            <a:extLst xmlns:a="http://schemas.openxmlformats.org/drawingml/2006/main">
              <a:ext uri="{FF2B5EF4-FFF2-40B4-BE49-F238E27FC236}">
                <a16:creationId xmlns:a16="http://schemas.microsoft.com/office/drawing/2014/main" id="{948F23E2-05A3-4655-9629-DC4DE3D0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VIDEO EVIDENCE</a:t>
            </a:r>
          </a:p>
        </p:txBody>
      </p:sp>
      <p:sp>
        <p:nvSpPr>
          <p:cNvPr id="2" name="shape-324">
            <a:extLst xmlns:a="http://schemas.openxmlformats.org/drawingml/2006/main">
              <a:ext uri="{FF2B5EF4-FFF2-40B4-BE49-F238E27FC236}">
                <a16:creationId xmlns:a16="http://schemas.microsoft.com/office/drawing/2014/main" id="{6FD3D58E-2054-4C43-B779-DE297C7E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25">
            <a:extLst xmlns:a="http://schemas.openxmlformats.org/drawingml/2006/main">
              <a:ext uri="{FF2B5EF4-FFF2-40B4-BE49-F238E27FC236}">
                <a16:creationId xmlns:a16="http://schemas.microsoft.com/office/drawing/2014/main" id="{CB2ACA6A-C711-42DE-A2A1-0EA03471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Fig. 7, §4.4 · p. 8</a:t>
            </a:r>
          </a:p>
        </p:txBody>
      </p:sp>
      <p:sp>
        <p:nvSpPr>
          <p:cNvPr id="4" name="text-326">
            <a:extLst xmlns:a="http://schemas.openxmlformats.org/drawingml/2006/main">
              <a:ext uri="{FF2B5EF4-FFF2-40B4-BE49-F238E27FC236}">
                <a16:creationId xmlns:a16="http://schemas.microsoft.com/office/drawing/2014/main" id="{6B0BB7A5-766A-49E6-880B-900D0FDE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10</a:t>
            </a:r>
          </a:p>
        </p:txBody>
      </p:sp>
      <p:sp>
        <p:nvSpPr>
          <p:cNvPr id="5" name="text-327">
            <a:extLst xmlns:a="http://schemas.openxmlformats.org/drawingml/2006/main">
              <a:ext uri="{FF2B5EF4-FFF2-40B4-BE49-F238E27FC236}">
                <a16:creationId xmlns:a16="http://schemas.microsoft.com/office/drawing/2014/main" id="{04C20420-8128-4E6D-ABD6-96BF7506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171717"/>
                </a:solidFill>
              </a:defRPr>
            </a:pPr>
            <a:r>
              <a:rPr sz="3225" b="1" i="0">
                <a:solidFill>
                  <a:srgbClr val="171717"/>
                </a:solidFill>
              </a:rPr>
              <a:t>Short latent rollouts retain local DMLab geometry</a:t>
            </a:r>
          </a:p>
        </p:txBody>
      </p:sp>
      <p:sp>
        <p:nvSpPr>
          <p:cNvPr id="6" name="shape-328">
            <a:extLst xmlns:a="http://schemas.openxmlformats.org/drawingml/2006/main">
              <a:ext uri="{FF2B5EF4-FFF2-40B4-BE49-F238E27FC236}">
                <a16:creationId xmlns:a16="http://schemas.microsoft.com/office/drawing/2014/main" id="{10794C22-50EF-40B6-9641-6C2FBECC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91363841546a3"/>
          <a:stretch xmlns:a="http://schemas.openxmlformats.org/drawingml/2006/main"/>
        </p:blipFill>
        <p:spPr>
          <a:xfrm xmlns:a="http://schemas.openxmlformats.org/drawingml/2006/main">
            <a:off x="685800" y="2383894"/>
            <a:ext cx="10820400" cy="2204512"/>
          </a:xfrm>
          <a:prstGeom xmlns:a="http://schemas.openxmlformats.org/drawingml/2006/main" prst="rect">
            <a:avLst/>
          </a:prstGeom>
        </p:spPr>
      </p:pic>
      <p:sp>
        <p:nvSpPr>
          <p:cNvPr id="8" name="text-329">
            <a:extLst xmlns:a="http://schemas.openxmlformats.org/drawingml/2006/main">
              <a:ext uri="{FF2B5EF4-FFF2-40B4-BE49-F238E27FC236}">
                <a16:creationId xmlns:a16="http://schemas.microsoft.com/office/drawing/2014/main" id="{5BB80722-2A74-441D-91AB-F8DD4A1E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257B69"/>
                </a:solidFill>
              </a:defRPr>
            </a:pPr>
            <a:r>
              <a:rPr sz="3600" b="1" i="0">
                <a:solidFill>
                  <a:srgbClr val="257B69"/>
                </a:solidFill>
              </a:rPr>
              <a:t>6</a:t>
            </a:r>
          </a:p>
        </p:txBody>
      </p:sp>
      <p:sp>
        <p:nvSpPr>
          <p:cNvPr id="9" name="text-330">
            <a:extLst xmlns:a="http://schemas.openxmlformats.org/drawingml/2006/main">
              <a:ext uri="{FF2B5EF4-FFF2-40B4-BE49-F238E27FC236}">
                <a16:creationId xmlns:a16="http://schemas.microsoft.com/office/drawing/2014/main" id="{FDCD947E-F16A-4E9A-A21A-497EA12B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provided frames</a:t>
            </a:r>
          </a:p>
        </p:txBody>
      </p:sp>
      <p:sp>
        <p:nvSpPr>
          <p:cNvPr id="10" name="text-331">
            <a:extLst xmlns:a="http://schemas.openxmlformats.org/drawingml/2006/main">
              <a:ext uri="{FF2B5EF4-FFF2-40B4-BE49-F238E27FC236}">
                <a16:creationId xmlns:a16="http://schemas.microsoft.com/office/drawing/2014/main" id="{15639341-3C90-4826-907D-C7303020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315EFB"/>
                </a:solidFill>
              </a:defRPr>
            </a:pPr>
            <a:r>
              <a:rPr sz="3600" b="1" i="0">
                <a:solidFill>
                  <a:srgbClr val="315EFB"/>
                </a:solidFill>
              </a:rPr>
              <a:t>10</a:t>
            </a:r>
          </a:p>
        </p:txBody>
      </p:sp>
      <p:sp>
        <p:nvSpPr>
          <p:cNvPr id="11" name="text-332">
            <a:extLst xmlns:a="http://schemas.openxmlformats.org/drawingml/2006/main">
              <a:ext uri="{FF2B5EF4-FFF2-40B4-BE49-F238E27FC236}">
                <a16:creationId xmlns:a16="http://schemas.microsoft.com/office/drawing/2014/main" id="{16FDFD42-5CD3-4C32-A462-A8C9905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generated frames</a:t>
            </a:r>
          </a:p>
        </p:txBody>
      </p:sp>
      <p:sp>
        <p:nvSpPr>
          <p:cNvPr id="12" name="text-333">
            <a:extLst xmlns:a="http://schemas.openxmlformats.org/drawingml/2006/main">
              <a:ext uri="{FF2B5EF4-FFF2-40B4-BE49-F238E27FC236}">
                <a16:creationId xmlns:a16="http://schemas.microsoft.com/office/drawing/2014/main" id="{7B0D1459-81C8-413C-860D-19B310BF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7656A3"/>
                </a:solidFill>
              </a:defRPr>
            </a:pPr>
            <a:r>
              <a:rPr sz="2625" b="1" i="0">
                <a:solidFill>
                  <a:srgbClr val="7656A3"/>
                </a:solidFill>
              </a:rPr>
              <a:t>latent first</a:t>
            </a:r>
          </a:p>
        </p:txBody>
      </p:sp>
      <p:sp>
        <p:nvSpPr>
          <p:cNvPr id="13" name="text-334">
            <a:extLst xmlns:a="http://schemas.openxmlformats.org/drawingml/2006/main">
              <a:ext uri="{FF2B5EF4-FFF2-40B4-BE49-F238E27FC236}">
                <a16:creationId xmlns:a16="http://schemas.microsoft.com/office/drawing/2014/main" id="{5C1D8E9B-4C81-4854-9DD3-CF9DC13E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531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generate all z before deterministic pixel decoding</a:t>
            </a:r>
          </a:p>
        </p:txBody>
      </p:sp>
    </p:spTree>
    <p:extLst>
      <p:ext uri="{BB962C8B-B14F-4D97-AF65-F5344CB8AC3E}">
        <p14:creationId xmlns:p14="http://schemas.microsoft.com/office/powerpoint/2010/main" val="1752711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35">
            <a:extLst xmlns:a="http://schemas.openxmlformats.org/drawingml/2006/main">
              <a:ext uri="{FF2B5EF4-FFF2-40B4-BE49-F238E27FC236}">
                <a16:creationId xmlns:a16="http://schemas.microsoft.com/office/drawing/2014/main" id="{9102F45F-D59A-4363-8F24-E3DB3562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EVIDENCE BOUNDARY</a:t>
            </a:r>
          </a:p>
        </p:txBody>
      </p:sp>
      <p:sp>
        <p:nvSpPr>
          <p:cNvPr id="2" name="shape-336">
            <a:extLst xmlns:a="http://schemas.openxmlformats.org/drawingml/2006/main">
              <a:ext uri="{FF2B5EF4-FFF2-40B4-BE49-F238E27FC236}">
                <a16:creationId xmlns:a16="http://schemas.microsoft.com/office/drawing/2014/main" id="{DC0474ED-3AAE-4D2A-ACC2-EF493E8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37">
            <a:extLst xmlns:a="http://schemas.openxmlformats.org/drawingml/2006/main">
              <a:ext uri="{FF2B5EF4-FFF2-40B4-BE49-F238E27FC236}">
                <a16:creationId xmlns:a16="http://schemas.microsoft.com/office/drawing/2014/main" id="{A9AD7E12-38D2-44C3-9666-A0C50C3D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Paper §3-5, Appendix A.1 · pp. 3-11</a:t>
            </a:r>
          </a:p>
        </p:txBody>
      </p:sp>
      <p:sp>
        <p:nvSpPr>
          <p:cNvPr id="4" name="text-338">
            <a:extLst xmlns:a="http://schemas.openxmlformats.org/drawingml/2006/main">
              <a:ext uri="{FF2B5EF4-FFF2-40B4-BE49-F238E27FC236}">
                <a16:creationId xmlns:a16="http://schemas.microsoft.com/office/drawing/2014/main" id="{4B4C7A6F-8CE5-4A87-8EAA-CB4070C4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11</a:t>
            </a:r>
          </a:p>
        </p:txBody>
      </p:sp>
      <p:sp>
        <p:nvSpPr>
          <p:cNvPr id="5" name="text-339">
            <a:extLst xmlns:a="http://schemas.openxmlformats.org/drawingml/2006/main">
              <a:ext uri="{FF2B5EF4-FFF2-40B4-BE49-F238E27FC236}">
                <a16:creationId xmlns:a16="http://schemas.microsoft.com/office/drawing/2014/main" id="{F828F624-5BCF-43DA-A73C-06A22213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171717"/>
                </a:solidFill>
              </a:defRPr>
            </a:pPr>
            <a:r>
              <a:rPr sz="3225" b="1" i="0">
                <a:solidFill>
                  <a:srgbClr val="171717"/>
                </a:solidFill>
              </a:rPr>
              <a:t>The method is strong; causal claims remain suggestive</a:t>
            </a:r>
          </a:p>
        </p:txBody>
      </p:sp>
      <p:sp>
        <p:nvSpPr>
          <p:cNvPr id="6" name="text-340">
            <a:extLst xmlns:a="http://schemas.openxmlformats.org/drawingml/2006/main">
              <a:ext uri="{FF2B5EF4-FFF2-40B4-BE49-F238E27FC236}">
                <a16:creationId xmlns:a16="http://schemas.microsoft.com/office/drawing/2014/main" id="{3C6752BC-49B2-4664-A989-1CDAC2E7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57B69"/>
                </a:solidFill>
              </a:defRPr>
            </a:pPr>
            <a:r>
              <a:rPr sz="1275" b="1" i="0">
                <a:solidFill>
                  <a:srgbClr val="257B69"/>
                </a:solidFill>
              </a:rPr>
              <a:t>DIRECT</a:t>
            </a:r>
          </a:p>
        </p:txBody>
      </p:sp>
      <p:sp>
        <p:nvSpPr>
          <p:cNvPr id="7" name="text-341">
            <a:extLst xmlns:a="http://schemas.openxmlformats.org/drawingml/2006/main">
              <a:ext uri="{FF2B5EF4-FFF2-40B4-BE49-F238E27FC236}">
                <a16:creationId xmlns:a16="http://schemas.microsoft.com/office/drawing/2014/main" id="{6D974CB2-6CAE-44EB-A39D-FF14F6D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Hard quantization is trainable with straight-through and codebook updates.</a:t>
            </a:r>
          </a:p>
        </p:txBody>
      </p:sp>
      <p:sp>
        <p:nvSpPr>
          <p:cNvPr id="8" name="shape-342">
            <a:extLst xmlns:a="http://schemas.openxmlformats.org/drawingml/2006/main">
              <a:ext uri="{FF2B5EF4-FFF2-40B4-BE49-F238E27FC236}">
                <a16:creationId xmlns:a16="http://schemas.microsoft.com/office/drawing/2014/main" id="{80BFDF04-07DB-4FCE-AE25-4E61522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43">
            <a:extLst xmlns:a="http://schemas.openxmlformats.org/drawingml/2006/main">
              <a:ext uri="{FF2B5EF4-FFF2-40B4-BE49-F238E27FC236}">
                <a16:creationId xmlns:a16="http://schemas.microsoft.com/office/drawing/2014/main" id="{2490982A-E266-4285-A201-9993B8A8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315EFB"/>
                </a:solidFill>
              </a:defRPr>
            </a:pPr>
            <a:r>
              <a:rPr sz="1275" b="1" i="0">
                <a:solidFill>
                  <a:srgbClr val="315EFB"/>
                </a:solidFill>
              </a:rPr>
              <a:t>DIRECT</a:t>
            </a:r>
          </a:p>
        </p:txBody>
      </p:sp>
      <p:sp>
        <p:nvSpPr>
          <p:cNvPr id="10" name="text-344">
            <a:extLst xmlns:a="http://schemas.openxmlformats.org/drawingml/2006/main">
              <a:ext uri="{FF2B5EF4-FFF2-40B4-BE49-F238E27FC236}">
                <a16:creationId xmlns:a16="http://schemas.microsoft.com/office/drawing/2014/main" id="{97A68174-17CA-45DA-9C5C-CAA676D5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37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Discrete likelihood is competitive in the reported CIFAR-10 setup.</a:t>
            </a:r>
          </a:p>
        </p:txBody>
      </p:sp>
      <p:sp>
        <p:nvSpPr>
          <p:cNvPr id="11" name="shape-345">
            <a:extLst xmlns:a="http://schemas.openxmlformats.org/drawingml/2006/main">
              <a:ext uri="{FF2B5EF4-FFF2-40B4-BE49-F238E27FC236}">
                <a16:creationId xmlns:a16="http://schemas.microsoft.com/office/drawing/2014/main" id="{E3E10E9C-919A-4BC9-95E4-92A075C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46">
            <a:extLst xmlns:a="http://schemas.openxmlformats.org/drawingml/2006/main">
              <a:ext uri="{FF2B5EF4-FFF2-40B4-BE49-F238E27FC236}">
                <a16:creationId xmlns:a16="http://schemas.microsoft.com/office/drawing/2014/main" id="{E16FECEB-F5EC-48BD-985F-F150DB50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7656A3"/>
                </a:solidFill>
              </a:defRPr>
            </a:pPr>
            <a:r>
              <a:rPr sz="1275" b="1" i="0">
                <a:solidFill>
                  <a:srgbClr val="7656A3"/>
                </a:solidFill>
              </a:rPr>
              <a:t>CONVERGENT</a:t>
            </a:r>
          </a:p>
        </p:txBody>
      </p:sp>
      <p:sp>
        <p:nvSpPr>
          <p:cNvPr id="13" name="text-347">
            <a:extLst xmlns:a="http://schemas.openxmlformats.org/drawingml/2006/main">
              <a:ext uri="{FF2B5EF4-FFF2-40B4-BE49-F238E27FC236}">
                <a16:creationId xmlns:a16="http://schemas.microsoft.com/office/drawing/2014/main" id="{6ACA405C-F823-41F1-BAE0-F39E01B9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Image, speech, and video examples show useful compressed structure.</a:t>
            </a:r>
          </a:p>
        </p:txBody>
      </p:sp>
      <p:sp>
        <p:nvSpPr>
          <p:cNvPr id="14" name="shape-348">
            <a:extLst xmlns:a="http://schemas.openxmlformats.org/drawingml/2006/main">
              <a:ext uri="{FF2B5EF4-FFF2-40B4-BE49-F238E27FC236}">
                <a16:creationId xmlns:a16="http://schemas.microsoft.com/office/drawing/2014/main" id="{1281E996-A4B0-437A-BAA5-0DB14F06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49">
            <a:extLst xmlns:a="http://schemas.openxmlformats.org/drawingml/2006/main">
              <a:ext uri="{FF2B5EF4-FFF2-40B4-BE49-F238E27FC236}">
                <a16:creationId xmlns:a16="http://schemas.microsoft.com/office/drawing/2014/main" id="{656C2860-C8EC-49EB-9D67-A106E75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A1493F"/>
                </a:solidFill>
              </a:defRPr>
            </a:pPr>
            <a:r>
              <a:rPr sz="1275" b="1" i="0">
                <a:solidFill>
                  <a:srgbClr val="A1493F"/>
                </a:solidFill>
              </a:rPr>
              <a:t>MISSING</a:t>
            </a:r>
          </a:p>
        </p:txBody>
      </p:sp>
      <p:sp>
        <p:nvSpPr>
          <p:cNvPr id="16" name="text-350">
            <a:extLst xmlns:a="http://schemas.openxmlformats.org/drawingml/2006/main">
              <a:ext uri="{FF2B5EF4-FFF2-40B4-BE49-F238E27FC236}">
                <a16:creationId xmlns:a16="http://schemas.microsoft.com/office/drawing/2014/main" id="{ED95BDFE-F2DE-4760-BF8B-4D74C627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1717"/>
                </a:solidFill>
              </a:defRPr>
            </a:pPr>
            <a:r>
              <a:rPr sz="1800" b="1" i="0">
                <a:solidFill>
                  <a:srgbClr val="171717"/>
                </a:solidFill>
              </a:rPr>
              <a:t>Code usage, dead-code statistics, matched-prior controls, and long-horizon metrics.</a:t>
            </a:r>
          </a:p>
        </p:txBody>
      </p:sp>
      <p:sp>
        <p:nvSpPr>
          <p:cNvPr id="17" name="shape-351">
            <a:extLst xmlns:a="http://schemas.openxmlformats.org/drawingml/2006/main">
              <a:ext uri="{FF2B5EF4-FFF2-40B4-BE49-F238E27FC236}">
                <a16:creationId xmlns:a16="http://schemas.microsoft.com/office/drawing/2014/main" id="{1261D86A-9CC2-4B64-B7AD-9870B119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864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52">
            <a:extLst xmlns:a="http://schemas.openxmlformats.org/drawingml/2006/main">
              <a:ext uri="{FF2B5EF4-FFF2-40B4-BE49-F238E27FC236}">
                <a16:creationId xmlns:a16="http://schemas.microsoft.com/office/drawing/2014/main" id="{8333687E-DF9D-4316-B07A-7A3A8711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48350"/>
            <a:ext cx="834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A powerful PixelCNN/WaveNet prior shares credit for final sample quality.</a:t>
            </a:r>
          </a:p>
        </p:txBody>
      </p:sp>
    </p:spTree>
    <p:extLst>
      <p:ext uri="{BB962C8B-B14F-4D97-AF65-F5344CB8AC3E}">
        <p14:creationId xmlns:p14="http://schemas.microsoft.com/office/powerpoint/2010/main" val="19076119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53">
            <a:extLst xmlns:a="http://schemas.openxmlformats.org/drawingml/2006/main">
              <a:ext uri="{FF2B5EF4-FFF2-40B4-BE49-F238E27FC236}">
                <a16:creationId xmlns:a16="http://schemas.microsoft.com/office/drawing/2014/main" id="{484B391F-994C-46FE-AC1C-72DE804E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TAKEAWAYS</a:t>
            </a:r>
          </a:p>
        </p:txBody>
      </p:sp>
      <p:sp>
        <p:nvSpPr>
          <p:cNvPr id="2" name="shape-354">
            <a:extLst xmlns:a="http://schemas.openxmlformats.org/drawingml/2006/main">
              <a:ext uri="{FF2B5EF4-FFF2-40B4-BE49-F238E27FC236}">
                <a16:creationId xmlns:a16="http://schemas.microsoft.com/office/drawing/2014/main" id="{24A827BE-A8EC-4F38-851C-3BD3C1F8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55">
            <a:extLst xmlns:a="http://schemas.openxmlformats.org/drawingml/2006/main">
              <a:ext uri="{FF2B5EF4-FFF2-40B4-BE49-F238E27FC236}">
                <a16:creationId xmlns:a16="http://schemas.microsoft.com/office/drawing/2014/main" id="{9713C359-5F13-425B-9E4B-7BC6F24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F716E"/>
                </a:solidFill>
              </a:defRPr>
            </a:pPr>
            <a:r>
              <a:rPr sz="1125" b="0" i="0">
                <a:solidFill>
                  <a:srgbClr val="6F716E"/>
                </a:solidFill>
              </a:rPr>
              <a:t>Neural Discrete Representation Learning · synthesis</a:t>
            </a:r>
          </a:p>
        </p:txBody>
      </p:sp>
      <p:sp>
        <p:nvSpPr>
          <p:cNvPr id="4" name="text-356">
            <a:extLst xmlns:a="http://schemas.openxmlformats.org/drawingml/2006/main">
              <a:ext uri="{FF2B5EF4-FFF2-40B4-BE49-F238E27FC236}">
                <a16:creationId xmlns:a16="http://schemas.microsoft.com/office/drawing/2014/main" id="{FAE080AD-EC27-419E-9A7D-37B5EFCB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770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6F716E"/>
                </a:solidFill>
              </a:defRPr>
            </a:pPr>
            <a:r>
              <a:rPr sz="1200" b="1" i="0">
                <a:solidFill>
                  <a:srgbClr val="6F716E"/>
                </a:solidFill>
              </a:rPr>
              <a:t>12</a:t>
            </a:r>
          </a:p>
        </p:txBody>
      </p:sp>
      <p:sp>
        <p:nvSpPr>
          <p:cNvPr id="5" name="text-357">
            <a:extLst xmlns:a="http://schemas.openxmlformats.org/drawingml/2006/main">
              <a:ext uri="{FF2B5EF4-FFF2-40B4-BE49-F238E27FC236}">
                <a16:creationId xmlns:a16="http://schemas.microsoft.com/office/drawing/2014/main" id="{B1E4BC84-1137-48A6-84EC-68D2052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 i="0">
                <a:solidFill>
                  <a:srgbClr val="171717"/>
                </a:solidFill>
              </a:defRPr>
            </a:pPr>
            <a:r>
              <a:rPr sz="3450" b="1" i="0">
                <a:solidFill>
                  <a:srgbClr val="171717"/>
                </a:solidFill>
              </a:rPr>
              <a:t>VQ-VAE is a tokenization interface</a:t>
            </a:r>
          </a:p>
        </p:txBody>
      </p:sp>
      <p:sp>
        <p:nvSpPr>
          <p:cNvPr id="6" name="text-358">
            <a:extLst xmlns:a="http://schemas.openxmlformats.org/drawingml/2006/main">
              <a:ext uri="{FF2B5EF4-FFF2-40B4-BE49-F238E27FC236}">
                <a16:creationId xmlns:a16="http://schemas.microsoft.com/office/drawing/2014/main" id="{2710B4A4-4602-4437-B765-1738A2A8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01</a:t>
            </a:r>
          </a:p>
        </p:txBody>
      </p:sp>
      <p:sp>
        <p:nvSpPr>
          <p:cNvPr id="7" name="text-359">
            <a:extLst xmlns:a="http://schemas.openxmlformats.org/drawingml/2006/main">
              <a:ext uri="{FF2B5EF4-FFF2-40B4-BE49-F238E27FC236}">
                <a16:creationId xmlns:a16="http://schemas.microsoft.com/office/drawing/2014/main" id="{C4A795B2-7BC4-40C5-B897-1CFBCA40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193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Forward semantics</a:t>
            </a:r>
          </a:p>
        </p:txBody>
      </p:sp>
      <p:sp>
        <p:nvSpPr>
          <p:cNvPr id="8" name="text-360">
            <a:extLst xmlns:a="http://schemas.openxmlformats.org/drawingml/2006/main">
              <a:ext uri="{FF2B5EF4-FFF2-40B4-BE49-F238E27FC236}">
                <a16:creationId xmlns:a16="http://schemas.microsoft.com/office/drawing/2014/main" id="{FF072A2C-D664-4329-8955-2B3B3DE6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384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Nearest-neighbor lookup commits every encoder feature to a finite learned vocabulary.</a:t>
            </a:r>
          </a:p>
        </p:txBody>
      </p:sp>
      <p:sp>
        <p:nvSpPr>
          <p:cNvPr id="9" name="shape-361">
            <a:extLst xmlns:a="http://schemas.openxmlformats.org/drawingml/2006/main">
              <a:ext uri="{FF2B5EF4-FFF2-40B4-BE49-F238E27FC236}">
                <a16:creationId xmlns:a16="http://schemas.microsoft.com/office/drawing/2014/main" id="{A972531E-422D-431A-956A-254A53F8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33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362">
            <a:extLst xmlns:a="http://schemas.openxmlformats.org/drawingml/2006/main">
              <a:ext uri="{FF2B5EF4-FFF2-40B4-BE49-F238E27FC236}">
                <a16:creationId xmlns:a16="http://schemas.microsoft.com/office/drawing/2014/main" id="{EED34F4E-9528-4032-9A80-6D97BB2E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02</a:t>
            </a:r>
          </a:p>
        </p:txBody>
      </p:sp>
      <p:sp>
        <p:nvSpPr>
          <p:cNvPr id="11" name="text-363">
            <a:extLst xmlns:a="http://schemas.openxmlformats.org/drawingml/2006/main">
              <a:ext uri="{FF2B5EF4-FFF2-40B4-BE49-F238E27FC236}">
                <a16:creationId xmlns:a16="http://schemas.microsoft.com/office/drawing/2014/main" id="{37167357-8C17-4F3D-A8AD-494FFA53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861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Backward semantics</a:t>
            </a:r>
          </a:p>
        </p:txBody>
      </p:sp>
      <p:sp>
        <p:nvSpPr>
          <p:cNvPr id="12" name="text-364">
            <a:extLst xmlns:a="http://schemas.openxmlformats.org/drawingml/2006/main">
              <a:ext uri="{FF2B5EF4-FFF2-40B4-BE49-F238E27FC236}">
                <a16:creationId xmlns:a16="http://schemas.microsoft.com/office/drawing/2014/main" id="{E0B34A17-18BF-4A05-A79E-F9630BFA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052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Straight-through, codebook, and commitment updates assign a gradient role to every component.</a:t>
            </a:r>
          </a:p>
        </p:txBody>
      </p:sp>
      <p:sp>
        <p:nvSpPr>
          <p:cNvPr id="13" name="shape-365">
            <a:extLst xmlns:a="http://schemas.openxmlformats.org/drawingml/2006/main">
              <a:ext uri="{FF2B5EF4-FFF2-40B4-BE49-F238E27FC236}">
                <a16:creationId xmlns:a16="http://schemas.microsoft.com/office/drawing/2014/main" id="{BB8A7D3A-BA26-4870-9743-6A43F882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66">
            <a:extLst xmlns:a="http://schemas.openxmlformats.org/drawingml/2006/main">
              <a:ext uri="{FF2B5EF4-FFF2-40B4-BE49-F238E27FC236}">
                <a16:creationId xmlns:a16="http://schemas.microsoft.com/office/drawing/2014/main" id="{1975BEDF-E861-4420-92A2-8206422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315EFB"/>
                </a:solidFill>
              </a:defRPr>
            </a:pPr>
            <a:r>
              <a:rPr sz="2250" b="1" i="0">
                <a:solidFill>
                  <a:srgbClr val="315EFB"/>
                </a:solidFill>
              </a:rPr>
              <a:t>03</a:t>
            </a:r>
          </a:p>
        </p:txBody>
      </p:sp>
      <p:sp>
        <p:nvSpPr>
          <p:cNvPr id="15" name="text-367">
            <a:extLst xmlns:a="http://schemas.openxmlformats.org/drawingml/2006/main">
              <a:ext uri="{FF2B5EF4-FFF2-40B4-BE49-F238E27FC236}">
                <a16:creationId xmlns:a16="http://schemas.microsoft.com/office/drawing/2014/main" id="{2DBC2B2F-46D3-46A2-AA23-78CD5B9E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529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Generative semantics</a:t>
            </a:r>
          </a:p>
        </p:txBody>
      </p:sp>
      <p:sp>
        <p:nvSpPr>
          <p:cNvPr id="16" name="text-368">
            <a:extLst xmlns:a="http://schemas.openxmlformats.org/drawingml/2006/main">
              <a:ext uri="{FF2B5EF4-FFF2-40B4-BE49-F238E27FC236}">
                <a16:creationId xmlns:a16="http://schemas.microsoft.com/office/drawing/2014/main" id="{75D53132-C04F-4AB1-A02A-85FFCC4E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F716E"/>
                </a:solidFill>
              </a:defRPr>
            </a:pPr>
            <a:r>
              <a:rPr sz="1500" b="0" i="0">
                <a:solidFill>
                  <a:srgbClr val="6F716E"/>
                </a:solidFill>
              </a:rPr>
              <a:t>A separate autoregressive prior models token sequences while the decoder reconstructs local detail.</a:t>
            </a:r>
          </a:p>
        </p:txBody>
      </p:sp>
      <p:sp>
        <p:nvSpPr>
          <p:cNvPr id="17" name="text-369">
            <a:extLst xmlns:a="http://schemas.openxmlformats.org/drawingml/2006/main">
              <a:ext uri="{FF2B5EF4-FFF2-40B4-BE49-F238E27FC236}">
                <a16:creationId xmlns:a16="http://schemas.microsoft.com/office/drawing/2014/main" id="{E6FA820D-5499-4564-871B-7ABD8749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10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EFB"/>
                </a:solidFill>
              </a:defRPr>
            </a:pPr>
            <a:r>
              <a:rPr sz="1200" b="1" i="0">
                <a:solidFill>
                  <a:srgbClr val="315EFB"/>
                </a:solidFill>
              </a:rPr>
              <a:t>DISCUSSION</a:t>
            </a:r>
          </a:p>
        </p:txBody>
      </p:sp>
      <p:sp>
        <p:nvSpPr>
          <p:cNvPr id="18" name="text-370">
            <a:extLst xmlns:a="http://schemas.openxmlformats.org/drawingml/2006/main">
              <a:ext uri="{FF2B5EF4-FFF2-40B4-BE49-F238E27FC236}">
                <a16:creationId xmlns:a16="http://schemas.microsoft.com/office/drawing/2014/main" id="{055BAB43-F655-48F6-BFCD-9F579100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531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When does a discrete bottleneck create semantics—and when does it only create compression?</a:t>
            </a:r>
          </a:p>
        </p:txBody>
      </p:sp>
    </p:spTree>
    <p:extLst>
      <p:ext uri="{BB962C8B-B14F-4D97-AF65-F5344CB8AC3E}">
        <p14:creationId xmlns:p14="http://schemas.microsoft.com/office/powerpoint/2010/main" val="2074545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2026-08-22T02:35:18.7100000Z</dcterms:created>
  <dcterms:modified xsi:type="dcterms:W3CDTF">2026-08-22T02:35:18.7100000Z</dcterms:modified>
</coreProperties>
</file>